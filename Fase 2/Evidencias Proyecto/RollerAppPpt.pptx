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imagen de dispositivos es una ilustración conceptual generada con ImageGen para representar la plataforma web y móvil.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Roller SpA comercializa e instala cortinas a medida. El cliente consulta por WhatsApp, envía las dimensiones y espera el cálculo del ejecutivo. La agenda y los pagos también requieren seguimiento manual. El problema central es que la información del mismo proceso queda distribuida entre conversaciones y registros. RollerApp busca reunir esos antecedentes en una plataforma común. Se describen las dificultades del diagnóstico, sin presentar cifras de mejora que aún no se han medido.</a:t>
            </a:r>
          </a:p>
          <a:p>
            <a:endParaRPr/>
          </a:p>
          <a:p>
            <a:r>
              <a:t>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objetivo mantiene lo definido para el proyecto: desarrollar e implementar una plataforma para cotizar, gestionar pedidos, reservar visitas y procesar pagos. El alcance reúne al cliente y al personal de la empresa mediante interfaces diferentes que utilizan los mismos datos. Como estudiantes, delimitamos el trabajo para completar el recorrido principal. Por eso la facturación electrónica del SII, la contabilidad integral y otras capacidades avanzadas quedan fuera del compromiso de esta entrega.</a:t>
            </a:r>
          </a:p>
          <a:p>
            <a:endParaRPr/>
          </a:p>
          <a:p>
            <a:r>
              <a:t>Fuente: 2.4_GuiaEstudiante_Fase 2_DesarrolloProyecto APT.docx. Corte del avance: cierre de semana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Utilizamos Scrum como marco para entregar incrementos funcionales. El Sprint 0 estableció el diseño. El Sprint 1 construyó la base técnica y el Sprint 2 integró las funciones comerciales con las interfaces. El Sprint 3 concentra la validación y el cierre. Mantuvimos el Product Backlog y los registros de tareas, además de reuniones de coordinación, revisiones y retrospectivas. Una actividad terminada debe vincularse con su criterio de aceptación y con una evidencia. El corte de esta exposición corresponde al final del Sprint 2.</a:t>
            </a:r>
          </a:p>
          <a:p>
            <a:endParaRPr/>
          </a:p>
          <a:p>
            <a:r>
              <a:t>Fuente: 2.4_GuiaEstudiante_Fase 2_DesarrolloProyecto APT.docx. Corte del avance: cierre de semana 16. 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cambios mantienen el propósito original. La propuesta de Node.js, Express y archivos JSON se actualizó a Java Spring Boot, MySQL y JPA. En móvil, Ionic con Angular reemplazó la propuesta nativa y permitió reutilizar la API e incorporar al técnico. Los prototipos compartidos facilitaron el diseño, mientras que las dependencias entre pedidos, agenda y administración exigieron coordinar su integración. Formalizamos las exclusiones y mantuvimos Webpay entre las semanas 15 y 17. No atribuimos estos cambios a una retroalimentación docente específica que no esté registrada.</a:t>
            </a:r>
          </a:p>
          <a:p>
            <a:endParaRPr/>
          </a:p>
          <a:p>
            <a:r>
              <a:t>Fuente: 2.4_GuiaEstudiante_Fase 2_DesarrolloProyecto APT.docx. Corte del avance: cierre de semana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API REST es la interfaz que permite a la web y al móvil solicitar operaciones al servidor. Las interfaces muestran datos y reciben entradas, pero el backend concentra los cálculos y las validaciones de negocio. MySQL almacena los resultados. Esta separación evita mantener cálculos diferentes en cada plataforma y facilita modificar un componente sin reescribir todo el sistema. La tabla resume las responsabilidades de cada capa para que el diseño pueda comprenderse sin leer código.</a:t>
            </a:r>
          </a:p>
          <a:p>
            <a:endParaRPr/>
          </a:p>
          <a:p>
            <a:r>
              <a:t>Fuente: Estructura Informe Final Capstone .docx, análisis del caso, diseño y evidencias de los sprints 0–2. 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una base de datos relacional, los datos se organizan en tablas que se conectan mediante identificadores. Una cotización utiliza productos, telas y servicios. Los pedidos se vinculan con cotizaciones, pagos y agenda. Las claves foráneas conservan estas relaciones y las restricciones ayudan a impedir registros inconsistentes. La tabla muestra los grupos principales y explica su función. Resume las entidades presentes en database/schema.sql y sustituye una captura demasiado densa del modelo para mejorar su lectura al proyectar.</a:t>
            </a:r>
          </a:p>
          <a:p>
            <a:endParaRPr/>
          </a:p>
          <a:p>
            <a:r>
              <a:t>Fuente: RollerApp.zip, revisión estática del código y del esquema SQL. La implementación se distingue de las pruebas integrales y de la aceptación final. 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backend es el componente que recibe solicitudes, ejecuta reglas y consulta la base de datos. Los controladores reciben las operaciones de la API, los servicios contienen la lógica y los repositorios permiten acceder a los datos. La autenticación utiliza JWT, un token que identifica la sesión, y Spring Security aplica permisos según el rol. También se validan las entradas y se manejan errores. El detalle de la captura del informe muestra la organización de los paquetes del proyecto. La existencia de estos controles no sustituye las pruebas de seguridad pendientes.</a:t>
            </a:r>
          </a:p>
          <a:p>
            <a:endParaRPr/>
          </a:p>
          <a:p>
            <a:r>
              <a:t>Fuente: RollerApp.zip, revisión estática del código y del esquema SQL. La implementación se distingue de las pruebas integrales y de la aceptación final. 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recorrido comienza con la selección de un producto del catálogo. El usuario indica el ancho y el alto, elige la tela y el mecanismo, y agrega servicios si corresponde. La API calcula la superficie y los importes aplicables. La imagen presenta un ejemplo de la interfaz con el desglose y el total estimado. Centralizar ese cálculo en el backend ayuda a que las interfaces utilicen las mismas reglas. Los valores de la captura corresponden al ejemplo mostrado, no a resultados de impacto del proyecto.</a:t>
            </a:r>
          </a:p>
          <a:p>
            <a:endParaRPr/>
          </a:p>
          <a:p>
            <a:r>
              <a:t>Fuente: 2.4_GuiaEstudiante_Fase 2_DesarrolloProyecto APT.docx. Corte del avance: cierre de semana 16. Fuente: Estructura Informe Final Capstone .docx, análisis del caso, diseño y evidencias de los sprints 0–2. 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agenda responde a una necesidad operativa: reservar una visita en un horario disponible y conservar esa decisión junto al pedido. La captura muestra el calendario y el bloque seleccionado dentro del proceso de compra. El backend administra los estados y las reglas de reserva. Para cerrar este módulo debemos comprobar que dos usuarios no ocupen el mismo bloque, que una reserva vencida libere su disponibilidad y que las fechas coincidan en web y móvil. Estas verificaciones pertenecen a las pruebas integrales de Fase 3.</a:t>
            </a:r>
          </a:p>
          <a:p>
            <a:endParaRPr/>
          </a:p>
          <a:p>
            <a:r>
              <a:t>Fuente: 2.4_GuiaEstudiante_Fase 2_DesarrolloProyecto APT.docx. Corte del avance: cierre de semana 16. Fuente: Estructura Informe Final Capstone .docx, análisis del caso, diseño y evidencias de los sprints 0–2. 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panel es la vista de trabajo del personal administrativo. Permite gestionar pedidos, tarifas, usuarios y visitas, además de consultar indicadores. La imagen muestra su pantalla principal y las áreas de gestión. Estos indicadores corresponden a datos visibles en la interfaz, sin atribuirles resultados de mejora en la empresa. El panel consume la misma API que las otras interfaces. Su construcción inicial se ubicó en las semanas 9 a 12 y la integración en las semanas 13 a 15, por sus dependencias con pedidos y agenda.</a:t>
            </a:r>
          </a:p>
          <a:p>
            <a:endParaRPr/>
          </a:p>
          <a:p>
            <a:r>
              <a:t>Fuente: 2.4_GuiaEstudiante_Fase 2_DesarrolloProyecto APT.docx. Corte del avance: cierre de semana 16. 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Desarrollamos la aplicación con Ionic y Angular, y utilizamos Capacitor para su empaquetado. El cliente puede consultar productos, cotizar y revisar sus solicitudes. El técnico accede a visitas y funciones operativas de atención. Las capturas muestran un producto y la lista de visitas. Como ambos recorridos consumen la misma API, se conserva la información compartida con la web. Al cierre de Fase 2 contamos con el incremento funcional. La validación en dispositivos y la generación del APK siguen dentro de las entregas previstas de Fase 3.</a:t>
            </a:r>
          </a:p>
          <a:p>
            <a:endParaRPr/>
          </a:p>
          <a:p>
            <a:r>
              <a:t>Fuente: 2.4_GuiaEstudiante_Fase 2_DesarrolloProyecto APT.docx. Corte del avance: cierre de semana 16. Fuente: Estructura Informe Final Capstone .docx, análisis del caso, diseño y evidencias de los sprints 0–2. 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código entregado incluye comisiones, postventa, reseñas, auditoría y notificaciones. El vendedor tiene un porcentaje sobre los productos cuando está asignado a la venta. Para el técnico, se suman los montos definidos para servicios y se comprueba el estado de la visita. No presentamos estos módulos como una ampliación ilimitada del alcance, sino como funciones de seguimiento presentes en la versión fuente. Su comportamiento completo debe verificarse junto con los casos del ciclo comercial.</a:t>
            </a:r>
          </a:p>
          <a:p>
            <a:endParaRPr/>
          </a:p>
          <a:p>
            <a:r>
              <a:t>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Webpay es un servicio externo, por lo que el proceso requiere coordinar la solicitud enviada, el retorno del usuario y la confirmación de la transacción. El backend debe conservar un estado de pago coherente con el pedido. En el ambiente de integración comprobaremos pagos autorizados, rechazados, anulados y expirados. Cada caso debe mostrar su solicitud, respuesta y efecto en la base de datos. Esta exposición informa el avance de la integración. La habilitación y validación bancaria productiva se acreditan por separado.</a:t>
            </a:r>
          </a:p>
          <a:p>
            <a:endParaRPr/>
          </a:p>
          <a:p>
            <a:r>
              <a:t>Fuente: 2.4_GuiaEstudiante_Fase 2_DesarrolloProyecto APT.docx. Corte del avance: cierre de semana 16. Fuente: RollerApp.zip, revisión estática del código y del esquema SQL. La implementación se distingue de las pruebas integrales y de la aceptación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competencia de validación incluye diseñar pruebas, aplicarlas y mejorar el producto a partir de sus resultados. En producto revisaremos cotización, autenticación, roles, reservas y pagos. También se planifican aspectos de seguridad, rendimiento y compatibilidad. En proceso, cada requisito debe vincularse con un caso de prueba y cada defecto con una corrección y una reprueba. El ZIP no incluye una suite automatizada de pruebas del backend. Por ello no afirmamos una cobertura medida ni la aprobación de todas las pruebas al corte de semana 16.</a:t>
            </a:r>
          </a:p>
          <a:p>
            <a:endParaRPr/>
          </a:p>
          <a:p>
            <a:r>
              <a:t>Fuente: 2.4_GuiaEstudiante_Fase 2_DesarrolloProyecto APT.docx. Corte del avance: cierre de semana 16. Fuente: RollerApp.zip, revisión estática del código y del esquema SQL. La implementación se distingue de las pruebas integrales y de la aceptación final. Fuente: Estructura Informe Final Capstone .docx, análisis del caso, diseño y evidencias de los sprints 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plan de cierre conserva las actividades y periodos de la guía. En la semana 17 se completa la comprobación de Webpay. Entre las semanas 17 y 18 se ejecutan las pruebas y se corrigen defectos. En las semanas 18 y 19 se verifican la comunicación del ambiente, el instalable y la documentación. La disponibilidad de una página de demostración no sustituye este cierre documentado. Cada entrega debe corresponder a la versión validada y mantener evidencia verificable de su resultado.</a:t>
            </a:r>
          </a:p>
          <a:p>
            <a:endParaRPr/>
          </a:p>
          <a:p>
            <a:r>
              <a:t>Fuente: 2.4_GuiaEstudiante_Fase 2_DesarrolloProyecto APT.docx. Corte del avance: cierre de semana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imagen de dispositivos es una ilustración conceptual generada con ImageGen. Las capturas de las diapositivas de funcionalidades corresponden al archivo original.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25F2531-E48A-4F95-96D2-3BC599A4A739}"/>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46C69CA-AEEB-4B4C-B61D-83E90CD3C3A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7A7E7F12-D519-45C6-B3B2-70E16C1BBF3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C098E7A5-90EB-44C1-9017-B42A3165377C}"/>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1131FA23-B419-4EAC-8F0E-9684AE706EF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945E21F9-FBD2-4BDC-B789-6196A748648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5BB1DD7-1DB1-4CFD-8F69-4C29BE3EDB3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D82CB473-1E81-42A6-869A-1E53F9EA9EB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242A2F21-86C1-478E-9AD5-3C726DE02D4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C027E20A-CE53-4861-B566-B53B2F0DDD2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4029AC02-1CC3-447A-AFE0-12B15A786B4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343F82F9-9B3D-40C2-A8E3-B6AD06BF749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34FE69D-3CC0-44E2-85F8-3AE3072C4DCE}"/>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8F1ACCD-EC68-4B70-97B5-BAFCB5FC116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A1C4DBF5-FB84-4230-937A-77F2AB87600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roller-app-gamma.vercel.app/catalogo"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3B35"/>
        </a:solidFill>
        <a:effectLst/>
      </p:bgPr>
    </p:bg>
    <p:spTree>
      <p:nvGrpSpPr>
        <p:cNvPr id="1" name=""/>
        <p:cNvGrpSpPr/>
        <p:nvPr/>
      </p:nvGrpSpPr>
      <p:grpSpPr>
        <a:xfrm>
          <a:off x="0" y="0"/>
          <a:ext cx="0" cy="0"/>
          <a:chOff x="0" y="0"/>
          <a:chExt cx="0" cy="0"/>
        </a:xfrm>
      </p:grpSpPr>
      <p:sp>
        <p:nvSpPr>
          <p:cNvPr id="18" name="Marco de portada">
            <a:extLst>
              <a:ext uri="{FF2B5EF4-FFF2-40B4-BE49-F238E27FC236}">
                <a16:creationId xmlns:a16="http://schemas.microsoft.com/office/drawing/2014/main" id="{223FBE8A-5FBD-4913-968D-1BCF7D5425FC}"/>
              </a:ext>
            </a:extLst>
          </p:cNvPr>
          <p:cNvSpPr>
            <a:spLocks noGrp="1"/>
          </p:cNvSpPr>
          <p:nvPr/>
        </p:nvSpPr>
        <p:spPr>
          <a:xfrm>
            <a:off x="381000" y="381000"/>
            <a:ext cx="11430000" cy="6096000"/>
          </a:xfrm>
          <a:prstGeom prst="rect">
            <a:avLst/>
          </a:prstGeom>
          <a:noFill/>
          <a:ln w="11430">
            <a:solidFill>
              <a:srgbClr val="BBA582"/>
            </a:solidFill>
          </a:ln>
        </p:spPr>
        <p:txBody>
          <a:bodyPr/>
          <a:lstStyle/>
          <a:p>
            <a:endParaRPr lang="es-419"/>
          </a:p>
        </p:txBody>
      </p:sp>
      <p:sp>
        <p:nvSpPr>
          <p:cNvPr id="3" name="Título principal">
            <a:extLst>
              <a:ext uri="{FF2B5EF4-FFF2-40B4-BE49-F238E27FC236}">
                <a16:creationId xmlns:a16="http://schemas.microsoft.com/office/drawing/2014/main" id="{B2A5C02A-3171-4C15-B172-50A81576275E}"/>
              </a:ext>
            </a:extLst>
          </p:cNvPr>
          <p:cNvSpPr>
            <a:spLocks noGrp="1"/>
          </p:cNvSpPr>
          <p:nvPr/>
        </p:nvSpPr>
        <p:spPr>
          <a:xfrm>
            <a:off x="723900" y="633412"/>
            <a:ext cx="5676900" cy="1057275"/>
          </a:xfrm>
          <a:prstGeom prst="rect">
            <a:avLst/>
          </a:prstGeom>
          <a:noFill/>
          <a:ln w="0">
            <a:noFill/>
          </a:ln>
        </p:spPr>
        <p:txBody>
          <a:bodyPr wrap="square" lIns="0" tIns="0" rIns="0" bIns="0" anchor="t">
            <a:noAutofit/>
          </a:bodyPr>
          <a:lstStyle/>
          <a:p>
            <a:pPr algn="l">
              <a:defRPr sz="6000" b="1">
                <a:solidFill>
                  <a:srgbClr val="F7F6F2"/>
                </a:solidFill>
                <a:latin typeface="Arial"/>
                <a:ea typeface="Arial"/>
                <a:cs typeface="Arial"/>
              </a:defRPr>
            </a:pPr>
            <a:r>
              <a:rPr sz="6000" b="1" dirty="0">
                <a:solidFill>
                  <a:srgbClr val="F7F6F2"/>
                </a:solidFill>
                <a:latin typeface="Arial"/>
                <a:ea typeface="Arial"/>
                <a:cs typeface="Arial"/>
              </a:rPr>
              <a:t>Roller</a:t>
            </a:r>
            <a:r>
              <a:rPr lang="es-CL" sz="6000" b="1" dirty="0">
                <a:solidFill>
                  <a:srgbClr val="F7F6F2"/>
                </a:solidFill>
                <a:latin typeface="Arial"/>
                <a:ea typeface="Arial"/>
                <a:cs typeface="Arial"/>
              </a:rPr>
              <a:t> </a:t>
            </a:r>
            <a:r>
              <a:rPr sz="6000" b="1" dirty="0">
                <a:solidFill>
                  <a:srgbClr val="F7F6F2"/>
                </a:solidFill>
                <a:latin typeface="Arial"/>
                <a:ea typeface="Arial"/>
                <a:cs typeface="Arial"/>
              </a:rPr>
              <a:t>App</a:t>
            </a:r>
          </a:p>
        </p:txBody>
      </p:sp>
      <p:sp>
        <p:nvSpPr>
          <p:cNvPr id="4" name="Etapa del proyecto">
            <a:extLst>
              <a:ext uri="{FF2B5EF4-FFF2-40B4-BE49-F238E27FC236}">
                <a16:creationId xmlns:a16="http://schemas.microsoft.com/office/drawing/2014/main" id="{9C4FA079-9FF9-4C5C-A36F-CD0EFD6AC453}"/>
              </a:ext>
            </a:extLst>
          </p:cNvPr>
          <p:cNvSpPr>
            <a:spLocks noGrp="1"/>
          </p:cNvSpPr>
          <p:nvPr/>
        </p:nvSpPr>
        <p:spPr>
          <a:xfrm>
            <a:off x="723900" y="1749170"/>
            <a:ext cx="5181600" cy="774574"/>
          </a:xfrm>
          <a:prstGeom prst="roundRect">
            <a:avLst>
              <a:gd name="adj" fmla="val 18519"/>
            </a:avLst>
          </a:prstGeom>
          <a:solidFill>
            <a:srgbClr val="35473F"/>
          </a:solidFill>
          <a:ln w="9525">
            <a:solidFill>
              <a:srgbClr val="647368"/>
            </a:solidFill>
          </a:ln>
        </p:spPr>
        <p:txBody>
          <a:bodyPr wrap="square" lIns="171450" tIns="85725" rIns="133350" bIns="85725" anchor="ctr">
            <a:noAutofit/>
          </a:bodyPr>
          <a:lstStyle/>
          <a:p>
            <a:pPr algn="l">
              <a:defRPr sz="1800">
                <a:solidFill>
                  <a:srgbClr val="D1B58A"/>
                </a:solidFill>
                <a:latin typeface="Arial"/>
                <a:ea typeface="Arial"/>
                <a:cs typeface="Arial"/>
              </a:defRPr>
            </a:pPr>
            <a:r>
              <a:rPr sz="1800" dirty="0">
                <a:solidFill>
                  <a:srgbClr val="D1B58A"/>
                </a:solidFill>
                <a:latin typeface="Arial"/>
                <a:ea typeface="Arial"/>
                <a:cs typeface="Arial"/>
              </a:rPr>
              <a:t>Fase 2: Cierre de Semana 16</a:t>
            </a:r>
            <a:endParaRPr lang="es-CL" sz="1800" dirty="0">
              <a:solidFill>
                <a:srgbClr val="D1B58A"/>
              </a:solidFill>
              <a:latin typeface="Arial"/>
              <a:ea typeface="Arial"/>
              <a:cs typeface="Arial"/>
            </a:endParaRPr>
          </a:p>
          <a:p>
            <a:pPr>
              <a:defRPr sz="1800">
                <a:solidFill>
                  <a:srgbClr val="D1B58A"/>
                </a:solidFill>
                <a:latin typeface="Arial"/>
                <a:ea typeface="Arial"/>
                <a:cs typeface="Arial"/>
              </a:defRPr>
            </a:pPr>
            <a:r>
              <a:rPr lang="es-419" sz="800" b="1" dirty="0">
                <a:solidFill>
                  <a:srgbClr val="D1B58A"/>
                </a:solidFill>
                <a:latin typeface="Arial"/>
                <a:ea typeface="Arial"/>
                <a:cs typeface="Arial"/>
              </a:rPr>
              <a:t>AVANCE DEL PROYECTO APT</a:t>
            </a:r>
          </a:p>
        </p:txBody>
      </p:sp>
      <p:sp>
        <p:nvSpPr>
          <p:cNvPr id="5" name="Descripción del proyecto">
            <a:extLst>
              <a:ext uri="{FF2B5EF4-FFF2-40B4-BE49-F238E27FC236}">
                <a16:creationId xmlns:a16="http://schemas.microsoft.com/office/drawing/2014/main" id="{C3C09F93-3D0B-42F3-8909-A4119C5D5462}"/>
              </a:ext>
            </a:extLst>
          </p:cNvPr>
          <p:cNvSpPr>
            <a:spLocks noGrp="1"/>
          </p:cNvSpPr>
          <p:nvPr/>
        </p:nvSpPr>
        <p:spPr>
          <a:xfrm>
            <a:off x="723900" y="2983706"/>
            <a:ext cx="6326124" cy="1114425"/>
          </a:xfrm>
          <a:prstGeom prst="rect">
            <a:avLst/>
          </a:prstGeom>
          <a:noFill/>
          <a:ln w="0">
            <a:noFill/>
          </a:ln>
        </p:spPr>
        <p:txBody>
          <a:bodyPr wrap="square" lIns="0" tIns="0" rIns="0" bIns="0" anchor="t">
            <a:noAutofit/>
          </a:bodyPr>
          <a:lstStyle/>
          <a:p>
            <a:pPr algn="l">
              <a:defRPr sz="2175" b="0">
                <a:solidFill>
                  <a:srgbClr val="E7E9E2"/>
                </a:solidFill>
                <a:latin typeface="Arial"/>
                <a:ea typeface="Arial"/>
                <a:cs typeface="Arial"/>
              </a:defRPr>
            </a:pPr>
            <a:r>
              <a:rPr sz="1900" b="0" dirty="0">
                <a:solidFill>
                  <a:srgbClr val="E7E9E2"/>
                </a:solidFill>
                <a:latin typeface="Arial"/>
                <a:ea typeface="Arial"/>
                <a:cs typeface="Arial"/>
              </a:rPr>
              <a:t>Plataforma web y </a:t>
            </a:r>
            <a:r>
              <a:rPr sz="1900" b="0" dirty="0" err="1">
                <a:solidFill>
                  <a:srgbClr val="E7E9E2"/>
                </a:solidFill>
                <a:latin typeface="Arial"/>
                <a:ea typeface="Arial"/>
                <a:cs typeface="Arial"/>
              </a:rPr>
              <a:t>móvil</a:t>
            </a:r>
            <a:r>
              <a:rPr sz="1900" b="0" dirty="0">
                <a:solidFill>
                  <a:srgbClr val="E7E9E2"/>
                </a:solidFill>
                <a:latin typeface="Arial"/>
                <a:ea typeface="Arial"/>
                <a:cs typeface="Arial"/>
              </a:rPr>
              <a:t> para la </a:t>
            </a:r>
            <a:r>
              <a:rPr sz="1900" b="0" dirty="0" err="1">
                <a:solidFill>
                  <a:srgbClr val="E7E9E2"/>
                </a:solidFill>
                <a:latin typeface="Arial"/>
                <a:ea typeface="Arial"/>
                <a:cs typeface="Arial"/>
              </a:rPr>
              <a:t>venta</a:t>
            </a:r>
            <a:r>
              <a:rPr sz="1900" b="0" dirty="0">
                <a:solidFill>
                  <a:srgbClr val="E7E9E2"/>
                </a:solidFill>
                <a:latin typeface="Arial"/>
                <a:ea typeface="Arial"/>
                <a:cs typeface="Arial"/>
              </a:rPr>
              <a:t> y </a:t>
            </a:r>
            <a:r>
              <a:rPr sz="1900" b="0" dirty="0" err="1">
                <a:solidFill>
                  <a:srgbClr val="E7E9E2"/>
                </a:solidFill>
                <a:latin typeface="Arial"/>
                <a:ea typeface="Arial"/>
                <a:cs typeface="Arial"/>
              </a:rPr>
              <a:t>gestión</a:t>
            </a:r>
            <a:r>
              <a:rPr sz="1900" b="0" dirty="0">
                <a:solidFill>
                  <a:srgbClr val="E7E9E2"/>
                </a:solidFill>
                <a:latin typeface="Arial"/>
                <a:ea typeface="Arial"/>
                <a:cs typeface="Arial"/>
              </a:rPr>
              <a:t> de </a:t>
            </a:r>
            <a:r>
              <a:rPr sz="1900" b="0" dirty="0" err="1">
                <a:solidFill>
                  <a:srgbClr val="E7E9E2"/>
                </a:solidFill>
                <a:latin typeface="Arial"/>
                <a:ea typeface="Arial"/>
                <a:cs typeface="Arial"/>
              </a:rPr>
              <a:t>cortinas</a:t>
            </a:r>
            <a:r>
              <a:rPr sz="1900" b="0" dirty="0">
                <a:solidFill>
                  <a:srgbClr val="E7E9E2"/>
                </a:solidFill>
                <a:latin typeface="Arial"/>
                <a:ea typeface="Arial"/>
                <a:cs typeface="Arial"/>
              </a:rPr>
              <a:t> a </a:t>
            </a:r>
            <a:r>
              <a:rPr sz="1900" b="0" dirty="0" err="1">
                <a:solidFill>
                  <a:srgbClr val="E7E9E2"/>
                </a:solidFill>
                <a:latin typeface="Arial"/>
                <a:ea typeface="Arial"/>
                <a:cs typeface="Arial"/>
              </a:rPr>
              <a:t>medida</a:t>
            </a:r>
            <a:endParaRPr sz="1900" b="0" dirty="0">
              <a:solidFill>
                <a:srgbClr val="E7E9E2"/>
              </a:solidFill>
              <a:latin typeface="Arial"/>
              <a:ea typeface="Arial"/>
              <a:cs typeface="Arial"/>
            </a:endParaRPr>
          </a:p>
        </p:txBody>
      </p:sp>
      <p:sp>
        <p:nvSpPr>
          <p:cNvPr id="7" name="Título de vista">
            <a:extLst>
              <a:ext uri="{FF2B5EF4-FFF2-40B4-BE49-F238E27FC236}">
                <a16:creationId xmlns:a16="http://schemas.microsoft.com/office/drawing/2014/main" id="{AC697475-C88A-4863-9154-21AF8E1EF27F}"/>
              </a:ext>
            </a:extLst>
          </p:cNvPr>
          <p:cNvSpPr>
            <a:spLocks noGrp="1"/>
          </p:cNvSpPr>
          <p:nvPr/>
        </p:nvSpPr>
        <p:spPr>
          <a:xfrm>
            <a:off x="6953250" y="1457325"/>
            <a:ext cx="4248150" cy="419100"/>
          </a:xfrm>
          <a:prstGeom prst="rect">
            <a:avLst/>
          </a:prstGeom>
          <a:noFill/>
          <a:ln w="0">
            <a:noFill/>
          </a:ln>
        </p:spPr>
        <p:txBody>
          <a:bodyPr wrap="square" lIns="0" tIns="0" rIns="0" bIns="0" anchor="t">
            <a:noAutofit/>
          </a:bodyPr>
          <a:lstStyle/>
          <a:p>
            <a:pPr algn="l">
              <a:defRPr sz="1950" b="1">
                <a:solidFill>
                  <a:srgbClr val="293B35"/>
                </a:solidFill>
                <a:latin typeface="Arial"/>
                <a:ea typeface="Arial"/>
                <a:cs typeface="Arial"/>
              </a:defRPr>
            </a:pPr>
            <a:r>
              <a:rPr sz="1950" b="1">
                <a:solidFill>
                  <a:srgbClr val="293B35"/>
                </a:solidFill>
                <a:latin typeface="Arial"/>
                <a:ea typeface="Arial"/>
                <a:cs typeface="Arial"/>
              </a:rPr>
              <a:t>Vista de la plataforma</a:t>
            </a:r>
          </a:p>
        </p:txBody>
      </p:sp>
      <p:sp>
        <p:nvSpPr>
          <p:cNvPr id="10" name="Enfoque del producto">
            <a:extLst>
              <a:ext uri="{FF2B5EF4-FFF2-40B4-BE49-F238E27FC236}">
                <a16:creationId xmlns:a16="http://schemas.microsoft.com/office/drawing/2014/main" id="{C50713E2-C7CB-4146-86BF-21CE603FAC3E}"/>
              </a:ext>
            </a:extLst>
          </p:cNvPr>
          <p:cNvSpPr>
            <a:spLocks noGrp="1"/>
          </p:cNvSpPr>
          <p:nvPr/>
        </p:nvSpPr>
        <p:spPr>
          <a:xfrm>
            <a:off x="6953250" y="4362450"/>
            <a:ext cx="4248150" cy="371475"/>
          </a:xfrm>
          <a:prstGeom prst="rect">
            <a:avLst/>
          </a:prstGeom>
          <a:noFill/>
          <a:ln w="0">
            <a:noFill/>
          </a:ln>
        </p:spPr>
        <p:txBody>
          <a:bodyPr wrap="square" lIns="0" tIns="0" rIns="0" bIns="0" anchor="t">
            <a:noAutofit/>
          </a:bodyPr>
          <a:lstStyle/>
          <a:p>
            <a:pPr algn="l">
              <a:defRPr sz="1800" b="1">
                <a:solidFill>
                  <a:srgbClr val="293B35"/>
                </a:solidFill>
                <a:latin typeface="Arial"/>
                <a:ea typeface="Arial"/>
                <a:cs typeface="Arial"/>
              </a:defRPr>
            </a:pPr>
            <a:r>
              <a:rPr sz="1800" b="1">
                <a:solidFill>
                  <a:srgbClr val="293B35"/>
                </a:solidFill>
                <a:latin typeface="Arial"/>
                <a:ea typeface="Arial"/>
                <a:cs typeface="Arial"/>
              </a:rPr>
              <a:t>Catálogo y cotización a medida</a:t>
            </a:r>
          </a:p>
        </p:txBody>
      </p:sp>
      <p:sp>
        <p:nvSpPr>
          <p:cNvPr id="11" name="Separador de equipo">
            <a:extLst>
              <a:ext uri="{FF2B5EF4-FFF2-40B4-BE49-F238E27FC236}">
                <a16:creationId xmlns:a16="http://schemas.microsoft.com/office/drawing/2014/main" id="{173C338A-7E63-4A5B-8FB2-6B4A403BFE22}"/>
              </a:ext>
            </a:extLst>
          </p:cNvPr>
          <p:cNvSpPr>
            <a:spLocks noGrp="1"/>
          </p:cNvSpPr>
          <p:nvPr/>
        </p:nvSpPr>
        <p:spPr>
          <a:xfrm>
            <a:off x="723900" y="5391150"/>
            <a:ext cx="10725150" cy="9525"/>
          </a:xfrm>
          <a:prstGeom prst="rect">
            <a:avLst/>
          </a:prstGeom>
          <a:solidFill>
            <a:srgbClr val="738477"/>
          </a:solidFill>
          <a:ln w="0">
            <a:noFill/>
          </a:ln>
        </p:spPr>
        <p:txBody>
          <a:bodyPr/>
          <a:lstStyle/>
          <a:p>
            <a:endParaRPr lang="es-419"/>
          </a:p>
        </p:txBody>
      </p:sp>
      <p:sp>
        <p:nvSpPr>
          <p:cNvPr id="12" name="Etiqueta de equipo">
            <a:extLst>
              <a:ext uri="{FF2B5EF4-FFF2-40B4-BE49-F238E27FC236}">
                <a16:creationId xmlns:a16="http://schemas.microsoft.com/office/drawing/2014/main" id="{217A31D1-8B44-416A-88B3-EA868B2862CC}"/>
              </a:ext>
            </a:extLst>
          </p:cNvPr>
          <p:cNvSpPr>
            <a:spLocks noGrp="1"/>
          </p:cNvSpPr>
          <p:nvPr/>
        </p:nvSpPr>
        <p:spPr>
          <a:xfrm>
            <a:off x="723900" y="5600700"/>
            <a:ext cx="2857500" cy="276225"/>
          </a:xfrm>
          <a:prstGeom prst="rect">
            <a:avLst/>
          </a:prstGeom>
          <a:noFill/>
          <a:ln w="0">
            <a:noFill/>
          </a:ln>
        </p:spPr>
        <p:txBody>
          <a:bodyPr wrap="square" lIns="0" tIns="0" rIns="0" bIns="0" anchor="t">
            <a:noAutofit/>
          </a:bodyPr>
          <a:lstStyle/>
          <a:p>
            <a:pPr algn="l">
              <a:defRPr sz="1200" b="1">
                <a:solidFill>
                  <a:srgbClr val="D1B58A"/>
                </a:solidFill>
                <a:latin typeface="Arial"/>
                <a:ea typeface="Arial"/>
                <a:cs typeface="Arial"/>
              </a:defRPr>
            </a:pPr>
            <a:r>
              <a:rPr sz="1200" b="1">
                <a:solidFill>
                  <a:srgbClr val="D1B58A"/>
                </a:solidFill>
                <a:latin typeface="Arial"/>
                <a:ea typeface="Arial"/>
                <a:cs typeface="Arial"/>
              </a:rPr>
              <a:t>EQUIPO</a:t>
            </a:r>
          </a:p>
        </p:txBody>
      </p:sp>
      <p:sp>
        <p:nvSpPr>
          <p:cNvPr id="13" name="Integrante 1">
            <a:extLst>
              <a:ext uri="{FF2B5EF4-FFF2-40B4-BE49-F238E27FC236}">
                <a16:creationId xmlns:a16="http://schemas.microsoft.com/office/drawing/2014/main" id="{5F09E449-F715-4143-B053-0E296DB71821}"/>
              </a:ext>
            </a:extLst>
          </p:cNvPr>
          <p:cNvSpPr>
            <a:spLocks noGrp="1"/>
          </p:cNvSpPr>
          <p:nvPr/>
        </p:nvSpPr>
        <p:spPr>
          <a:xfrm>
            <a:off x="723900" y="5972175"/>
            <a:ext cx="2381250" cy="352425"/>
          </a:xfrm>
          <a:prstGeom prst="rect">
            <a:avLst/>
          </a:prstGeom>
          <a:noFill/>
          <a:ln w="0">
            <a:noFill/>
          </a:ln>
        </p:spPr>
        <p:txBody>
          <a:bodyPr wrap="square" lIns="0" tIns="0" rIns="0" bIns="0" anchor="t">
            <a:noAutofit/>
          </a:bodyPr>
          <a:lstStyle/>
          <a:p>
            <a:pPr algn="l">
              <a:defRPr sz="1725" b="0">
                <a:solidFill>
                  <a:srgbClr val="F7F6F2"/>
                </a:solidFill>
                <a:latin typeface="Arial"/>
                <a:ea typeface="Arial"/>
                <a:cs typeface="Arial"/>
              </a:defRPr>
            </a:pPr>
            <a:r>
              <a:rPr sz="1725" b="0">
                <a:solidFill>
                  <a:srgbClr val="F7F6F2"/>
                </a:solidFill>
                <a:latin typeface="Arial"/>
                <a:ea typeface="Arial"/>
                <a:cs typeface="Arial"/>
              </a:rPr>
              <a:t>Lucas Olea</a:t>
            </a:r>
          </a:p>
        </p:txBody>
      </p:sp>
      <p:sp>
        <p:nvSpPr>
          <p:cNvPr id="14" name="Integrante 2">
            <a:extLst>
              <a:ext uri="{FF2B5EF4-FFF2-40B4-BE49-F238E27FC236}">
                <a16:creationId xmlns:a16="http://schemas.microsoft.com/office/drawing/2014/main" id="{AE523C57-B7C1-440E-806F-AB116C705528}"/>
              </a:ext>
            </a:extLst>
          </p:cNvPr>
          <p:cNvSpPr>
            <a:spLocks noGrp="1"/>
          </p:cNvSpPr>
          <p:nvPr/>
        </p:nvSpPr>
        <p:spPr>
          <a:xfrm>
            <a:off x="3333750" y="5972175"/>
            <a:ext cx="2381250" cy="352425"/>
          </a:xfrm>
          <a:prstGeom prst="rect">
            <a:avLst/>
          </a:prstGeom>
          <a:noFill/>
          <a:ln w="0">
            <a:noFill/>
          </a:ln>
        </p:spPr>
        <p:txBody>
          <a:bodyPr wrap="square" lIns="0" tIns="0" rIns="0" bIns="0" anchor="t">
            <a:noAutofit/>
          </a:bodyPr>
          <a:lstStyle/>
          <a:p>
            <a:pPr algn="l">
              <a:defRPr sz="1725" b="0">
                <a:solidFill>
                  <a:srgbClr val="F7F6F2"/>
                </a:solidFill>
                <a:latin typeface="Arial"/>
                <a:ea typeface="Arial"/>
                <a:cs typeface="Arial"/>
              </a:defRPr>
            </a:pPr>
            <a:r>
              <a:rPr sz="1725" b="0">
                <a:solidFill>
                  <a:srgbClr val="F7F6F2"/>
                </a:solidFill>
                <a:latin typeface="Arial"/>
                <a:ea typeface="Arial"/>
                <a:cs typeface="Arial"/>
              </a:rPr>
              <a:t>Marco Robles</a:t>
            </a:r>
          </a:p>
        </p:txBody>
      </p:sp>
      <p:sp>
        <p:nvSpPr>
          <p:cNvPr id="15" name="Integrante 3">
            <a:extLst>
              <a:ext uri="{FF2B5EF4-FFF2-40B4-BE49-F238E27FC236}">
                <a16:creationId xmlns:a16="http://schemas.microsoft.com/office/drawing/2014/main" id="{7325B5AB-A4A2-4A0F-9C17-B4D145E06816}"/>
              </a:ext>
            </a:extLst>
          </p:cNvPr>
          <p:cNvSpPr>
            <a:spLocks noGrp="1"/>
          </p:cNvSpPr>
          <p:nvPr/>
        </p:nvSpPr>
        <p:spPr>
          <a:xfrm>
            <a:off x="6057900" y="5972175"/>
            <a:ext cx="2381250" cy="352425"/>
          </a:xfrm>
          <a:prstGeom prst="rect">
            <a:avLst/>
          </a:prstGeom>
          <a:noFill/>
          <a:ln w="0">
            <a:noFill/>
          </a:ln>
        </p:spPr>
        <p:txBody>
          <a:bodyPr wrap="square" lIns="0" tIns="0" rIns="0" bIns="0" anchor="t">
            <a:noAutofit/>
          </a:bodyPr>
          <a:lstStyle/>
          <a:p>
            <a:pPr algn="l">
              <a:defRPr sz="1725" b="0">
                <a:solidFill>
                  <a:srgbClr val="F7F6F2"/>
                </a:solidFill>
                <a:latin typeface="Arial"/>
                <a:ea typeface="Arial"/>
                <a:cs typeface="Arial"/>
              </a:defRPr>
            </a:pPr>
            <a:r>
              <a:rPr sz="1725" b="0">
                <a:solidFill>
                  <a:srgbClr val="F7F6F2"/>
                </a:solidFill>
                <a:latin typeface="Arial"/>
                <a:ea typeface="Arial"/>
                <a:cs typeface="Arial"/>
              </a:rPr>
              <a:t>Rodrigo Riquelme</a:t>
            </a:r>
          </a:p>
        </p:txBody>
      </p:sp>
      <p:sp>
        <p:nvSpPr>
          <p:cNvPr id="16" name="Integrante 4">
            <a:extLst>
              <a:ext uri="{FF2B5EF4-FFF2-40B4-BE49-F238E27FC236}">
                <a16:creationId xmlns:a16="http://schemas.microsoft.com/office/drawing/2014/main" id="{BCF5F4EA-E472-4A27-80B9-EFF378ECC9B7}"/>
              </a:ext>
            </a:extLst>
          </p:cNvPr>
          <p:cNvSpPr>
            <a:spLocks noGrp="1"/>
          </p:cNvSpPr>
          <p:nvPr/>
        </p:nvSpPr>
        <p:spPr>
          <a:xfrm>
            <a:off x="9048750" y="5972175"/>
            <a:ext cx="2381250" cy="352425"/>
          </a:xfrm>
          <a:prstGeom prst="rect">
            <a:avLst/>
          </a:prstGeom>
          <a:noFill/>
          <a:ln w="0">
            <a:noFill/>
          </a:ln>
        </p:spPr>
        <p:txBody>
          <a:bodyPr wrap="square" lIns="0" tIns="0" rIns="0" bIns="0" anchor="t">
            <a:noAutofit/>
          </a:bodyPr>
          <a:lstStyle/>
          <a:p>
            <a:pPr algn="l">
              <a:defRPr sz="1725" b="0">
                <a:solidFill>
                  <a:srgbClr val="F7F6F2"/>
                </a:solidFill>
                <a:latin typeface="Arial"/>
                <a:ea typeface="Arial"/>
                <a:cs typeface="Arial"/>
              </a:defRPr>
            </a:pPr>
            <a:r>
              <a:rPr sz="1725" b="0">
                <a:solidFill>
                  <a:srgbClr val="F7F6F2"/>
                </a:solidFill>
                <a:latin typeface="Arial"/>
                <a:ea typeface="Arial"/>
                <a:cs typeface="Arial"/>
              </a:rPr>
              <a:t>Rodrigo Soto</a:t>
            </a:r>
          </a:p>
        </p:txBody>
      </p:sp>
      <p:sp>
        <p:nvSpPr>
          <p:cNvPr id="17" name="Número de diapositiva">
            <a:extLst>
              <a:ext uri="{FF2B5EF4-FFF2-40B4-BE49-F238E27FC236}">
                <a16:creationId xmlns:a16="http://schemas.microsoft.com/office/drawing/2014/main" id="{145AA402-6739-4A31-A925-885341930E1A}"/>
              </a:ext>
            </a:extLst>
          </p:cNvPr>
          <p:cNvSpPr>
            <a:spLocks noGrp="1"/>
          </p:cNvSpPr>
          <p:nvPr/>
        </p:nvSpPr>
        <p:spPr>
          <a:xfrm>
            <a:off x="11210925" y="6191250"/>
            <a:ext cx="381000" cy="238125"/>
          </a:xfrm>
          <a:prstGeom prst="rect">
            <a:avLst/>
          </a:prstGeom>
          <a:noFill/>
          <a:ln w="0">
            <a:noFill/>
          </a:ln>
        </p:spPr>
        <p:txBody>
          <a:bodyPr wrap="square" lIns="0" tIns="0" rIns="0" bIns="0" anchor="t">
            <a:noAutofit/>
          </a:bodyPr>
          <a:lstStyle/>
          <a:p>
            <a:pPr algn="l">
              <a:defRPr sz="1275" b="0">
                <a:solidFill>
                  <a:srgbClr val="B6C1BA"/>
                </a:solidFill>
                <a:latin typeface="Arial"/>
                <a:ea typeface="Arial"/>
                <a:cs typeface="Arial"/>
              </a:defRPr>
            </a:pPr>
            <a:r>
              <a:rPr sz="1275" b="0">
                <a:solidFill>
                  <a:srgbClr val="B6C1BA"/>
                </a:solidFill>
                <a:latin typeface="Arial"/>
                <a:ea typeface="Arial"/>
                <a:cs typeface="Arial"/>
              </a:rPr>
              <a:t>01</a:t>
            </a:r>
          </a:p>
        </p:txBody>
      </p:sp>
    </p:spTree>
    <p:extLst>
      <p:ext uri="{BB962C8B-B14F-4D97-AF65-F5344CB8AC3E}">
        <p14:creationId xmlns:p14="http://schemas.microsoft.com/office/powerpoint/2010/main" val="93263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9BB1B4F2-D487-480B-B1EB-21400B4897EB}"/>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El problema de Roller SpA</a:t>
            </a:r>
            <a:endParaRPr sz="3300" b="1">
              <a:solidFill>
                <a:srgbClr val="F6FAFF"/>
              </a:solidFill>
              <a:latin typeface="Aptos"/>
              <a:ea typeface="Aptos"/>
              <a:cs typeface="Aptos"/>
            </a:endParaRPr>
          </a:p>
        </p:txBody>
      </p:sp>
      <p:sp>
        <p:nvSpPr>
          <p:cNvPr id="3" name="Rectángulo 2">
            <a:extLst>
              <a:ext uri="{FF2B5EF4-FFF2-40B4-BE49-F238E27FC236}">
                <a16:creationId xmlns:a16="http://schemas.microsoft.com/office/drawing/2014/main" id="{BBFD6D0A-F20F-4FEF-B795-C2D3A891047E}"/>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02</a:t>
            </a:r>
          </a:p>
        </p:txBody>
      </p:sp>
      <p:sp>
        <p:nvSpPr>
          <p:cNvPr id="4" name="Rectángulo 3">
            <a:extLst>
              <a:ext uri="{FF2B5EF4-FFF2-40B4-BE49-F238E27FC236}">
                <a16:creationId xmlns:a16="http://schemas.microsoft.com/office/drawing/2014/main" id="{B3A8B889-5EB7-4FB2-B5E8-DF36EF9061E0}"/>
              </a:ext>
            </a:extLst>
          </p:cNvPr>
          <p:cNvSpPr>
            <a:spLocks noGrp="1"/>
          </p:cNvSpPr>
          <p:nvPr/>
        </p:nvSpPr>
        <p:spPr>
          <a:xfrm>
            <a:off x="64770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dirty="0">
              <a:solidFill>
                <a:srgbClr val="52D4E8"/>
              </a:solidFill>
              <a:latin typeface="Aptos"/>
              <a:ea typeface="Aptos"/>
              <a:cs typeface="Aptos"/>
            </a:endParaRPr>
          </a:p>
        </p:txBody>
      </p:sp>
      <p:sp>
        <p:nvSpPr>
          <p:cNvPr id="5" name="Rectángulo 4">
            <a:extLst>
              <a:ext uri="{FF2B5EF4-FFF2-40B4-BE49-F238E27FC236}">
                <a16:creationId xmlns:a16="http://schemas.microsoft.com/office/drawing/2014/main" id="{F60FF50B-3729-4424-B5DC-6B5156FFD78B}"/>
              </a:ext>
            </a:extLst>
          </p:cNvPr>
          <p:cNvSpPr>
            <a:spLocks noGrp="1"/>
          </p:cNvSpPr>
          <p:nvPr/>
        </p:nvSpPr>
        <p:spPr>
          <a:xfrm>
            <a:off x="89535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a:latin typeface="Arial"/>
                <a:ea typeface="Arial"/>
                <a:cs typeface="Arial"/>
              </a:rPr>
              <a:t>El </a:t>
            </a:r>
            <a:r>
              <a:rPr sz="1725" b="0" dirty="0" err="1">
                <a:latin typeface="Arial"/>
                <a:ea typeface="Arial"/>
                <a:cs typeface="Arial"/>
              </a:rPr>
              <a:t>ejecutivo</a:t>
            </a:r>
            <a:r>
              <a:rPr sz="1725" b="0" dirty="0">
                <a:latin typeface="Arial"/>
                <a:ea typeface="Arial"/>
                <a:cs typeface="Arial"/>
              </a:rPr>
              <a:t> </a:t>
            </a:r>
            <a:r>
              <a:rPr sz="1725" b="0" dirty="0" err="1">
                <a:latin typeface="Arial"/>
                <a:ea typeface="Arial"/>
                <a:cs typeface="Arial"/>
              </a:rPr>
              <a:t>calcula</a:t>
            </a:r>
            <a:r>
              <a:rPr sz="1725" b="0" dirty="0">
                <a:latin typeface="Arial"/>
                <a:ea typeface="Arial"/>
                <a:cs typeface="Arial"/>
              </a:rPr>
              <a:t> el </a:t>
            </a:r>
            <a:r>
              <a:rPr sz="1725" b="0" dirty="0" err="1">
                <a:latin typeface="Arial"/>
                <a:ea typeface="Arial"/>
                <a:cs typeface="Arial"/>
              </a:rPr>
              <a:t>presupuesto</a:t>
            </a:r>
            <a:r>
              <a:rPr sz="1725" b="0" dirty="0">
                <a:latin typeface="Arial"/>
                <a:ea typeface="Arial"/>
                <a:cs typeface="Arial"/>
              </a:rPr>
              <a:t> a </a:t>
            </a:r>
            <a:r>
              <a:rPr sz="1725" b="0" dirty="0" err="1">
                <a:latin typeface="Arial"/>
                <a:ea typeface="Arial"/>
                <a:cs typeface="Arial"/>
              </a:rPr>
              <a:t>partir</a:t>
            </a:r>
            <a:r>
              <a:rPr sz="1725" b="0" dirty="0">
                <a:latin typeface="Arial"/>
                <a:ea typeface="Arial"/>
                <a:cs typeface="Arial"/>
              </a:rPr>
              <a:t> de </a:t>
            </a:r>
            <a:r>
              <a:rPr sz="1725" b="0" dirty="0" err="1">
                <a:latin typeface="Arial"/>
                <a:ea typeface="Arial"/>
                <a:cs typeface="Arial"/>
              </a:rPr>
              <a:t>medidas</a:t>
            </a:r>
            <a:r>
              <a:rPr sz="1725" b="0" dirty="0">
                <a:latin typeface="Arial"/>
                <a:ea typeface="Arial"/>
                <a:cs typeface="Arial"/>
              </a:rPr>
              <a:t>, </a:t>
            </a:r>
            <a:r>
              <a:rPr sz="1725" b="0" dirty="0" err="1">
                <a:latin typeface="Arial"/>
                <a:ea typeface="Arial"/>
                <a:cs typeface="Arial"/>
              </a:rPr>
              <a:t>materiales</a:t>
            </a:r>
            <a:r>
              <a:rPr sz="1725" b="0" dirty="0">
                <a:latin typeface="Arial"/>
                <a:ea typeface="Arial"/>
                <a:cs typeface="Arial"/>
              </a:rPr>
              <a:t> y </a:t>
            </a:r>
            <a:r>
              <a:rPr sz="1725" b="0" dirty="0" err="1">
                <a:latin typeface="Arial"/>
                <a:ea typeface="Arial"/>
                <a:cs typeface="Arial"/>
              </a:rPr>
              <a:t>servicios</a:t>
            </a:r>
            <a:r>
              <a:rPr sz="1725" b="0" dirty="0">
                <a:latin typeface="Arial"/>
                <a:ea typeface="Arial"/>
                <a:cs typeface="Arial"/>
              </a:rPr>
              <a:t> </a:t>
            </a:r>
            <a:r>
              <a:rPr sz="1725" b="0" dirty="0" err="1">
                <a:latin typeface="Arial"/>
                <a:ea typeface="Arial"/>
                <a:cs typeface="Arial"/>
              </a:rPr>
              <a:t>solicitados</a:t>
            </a:r>
            <a:endParaRPr sz="1950" b="0" dirty="0">
              <a:latin typeface="Aptos"/>
              <a:ea typeface="Aptos"/>
              <a:cs typeface="Aptos"/>
            </a:endParaRPr>
          </a:p>
        </p:txBody>
      </p:sp>
      <p:sp>
        <p:nvSpPr>
          <p:cNvPr id="6" name="Rectángulo 5">
            <a:extLst>
              <a:ext uri="{FF2B5EF4-FFF2-40B4-BE49-F238E27FC236}">
                <a16:creationId xmlns:a16="http://schemas.microsoft.com/office/drawing/2014/main" id="{8F455078-37B5-42DB-ADF7-A26F13EE19C9}"/>
              </a:ext>
            </a:extLst>
          </p:cNvPr>
          <p:cNvSpPr>
            <a:spLocks noGrp="1"/>
          </p:cNvSpPr>
          <p:nvPr/>
        </p:nvSpPr>
        <p:spPr>
          <a:xfrm>
            <a:off x="434340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CF86729F-1C2F-4FA1-AFC3-F17CF6D543A6}"/>
              </a:ext>
            </a:extLst>
          </p:cNvPr>
          <p:cNvSpPr>
            <a:spLocks noGrp="1"/>
          </p:cNvSpPr>
          <p:nvPr/>
        </p:nvSpPr>
        <p:spPr>
          <a:xfrm>
            <a:off x="461010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dirty="0">
                <a:solidFill>
                  <a:srgbClr val="4C5750"/>
                </a:solidFill>
                <a:latin typeface="Arial"/>
                <a:cs typeface="Arial"/>
              </a:rPr>
              <a:t>Los </a:t>
            </a:r>
            <a:r>
              <a:rPr sz="1725" dirty="0" err="1">
                <a:solidFill>
                  <a:srgbClr val="4C5750"/>
                </a:solidFill>
                <a:latin typeface="Arial"/>
                <a:cs typeface="Arial"/>
              </a:rPr>
              <a:t>horarios</a:t>
            </a:r>
            <a:r>
              <a:rPr sz="1725" dirty="0">
                <a:solidFill>
                  <a:srgbClr val="4C5750"/>
                </a:solidFill>
                <a:latin typeface="Arial"/>
                <a:cs typeface="Arial"/>
              </a:rPr>
              <a:t> se </a:t>
            </a:r>
            <a:r>
              <a:rPr sz="1725" dirty="0" err="1">
                <a:solidFill>
                  <a:srgbClr val="4C5750"/>
                </a:solidFill>
                <a:latin typeface="Arial"/>
                <a:cs typeface="Arial"/>
              </a:rPr>
              <a:t>acuerdan</a:t>
            </a:r>
            <a:r>
              <a:rPr sz="1725" dirty="0">
                <a:solidFill>
                  <a:srgbClr val="4C5750"/>
                </a:solidFill>
                <a:latin typeface="Arial"/>
                <a:cs typeface="Arial"/>
              </a:rPr>
              <a:t> </a:t>
            </a:r>
            <a:r>
              <a:rPr sz="1725" dirty="0" err="1">
                <a:solidFill>
                  <a:srgbClr val="4C5750"/>
                </a:solidFill>
                <a:latin typeface="Arial"/>
                <a:cs typeface="Arial"/>
              </a:rPr>
              <a:t>mediante</a:t>
            </a:r>
            <a:r>
              <a:rPr sz="1725" dirty="0">
                <a:solidFill>
                  <a:srgbClr val="4C5750"/>
                </a:solidFill>
                <a:latin typeface="Arial"/>
                <a:cs typeface="Arial"/>
              </a:rPr>
              <a:t> </a:t>
            </a:r>
            <a:r>
              <a:rPr sz="1725" dirty="0" err="1">
                <a:solidFill>
                  <a:srgbClr val="4C5750"/>
                </a:solidFill>
                <a:latin typeface="Arial"/>
                <a:cs typeface="Arial"/>
              </a:rPr>
              <a:t>mensajes</a:t>
            </a:r>
            <a:r>
              <a:rPr sz="1725" dirty="0">
                <a:solidFill>
                  <a:srgbClr val="4C5750"/>
                </a:solidFill>
                <a:latin typeface="Arial"/>
                <a:cs typeface="Arial"/>
              </a:rPr>
              <a:t>, lo </a:t>
            </a:r>
            <a:r>
              <a:rPr sz="1725" dirty="0" err="1">
                <a:solidFill>
                  <a:srgbClr val="4C5750"/>
                </a:solidFill>
                <a:latin typeface="Arial"/>
                <a:cs typeface="Arial"/>
              </a:rPr>
              <a:t>que</a:t>
            </a:r>
            <a:r>
              <a:rPr sz="1725" dirty="0">
                <a:solidFill>
                  <a:srgbClr val="4C5750"/>
                </a:solidFill>
                <a:latin typeface="Arial"/>
                <a:cs typeface="Arial"/>
              </a:rPr>
              <a:t> </a:t>
            </a:r>
            <a:r>
              <a:rPr sz="1725" dirty="0" err="1">
                <a:solidFill>
                  <a:srgbClr val="4C5750"/>
                </a:solidFill>
                <a:latin typeface="Arial"/>
                <a:cs typeface="Arial"/>
              </a:rPr>
              <a:t>dificulta</a:t>
            </a:r>
            <a:r>
              <a:rPr sz="1725" dirty="0">
                <a:solidFill>
                  <a:srgbClr val="4C5750"/>
                </a:solidFill>
                <a:latin typeface="Arial"/>
                <a:cs typeface="Arial"/>
              </a:rPr>
              <a:t> </a:t>
            </a:r>
            <a:r>
              <a:rPr sz="1725" dirty="0" err="1">
                <a:solidFill>
                  <a:srgbClr val="4C5750"/>
                </a:solidFill>
                <a:latin typeface="Arial"/>
                <a:cs typeface="Arial"/>
              </a:rPr>
              <a:t>consultar</a:t>
            </a:r>
            <a:r>
              <a:rPr sz="1725" dirty="0">
                <a:solidFill>
                  <a:srgbClr val="4C5750"/>
                </a:solidFill>
                <a:latin typeface="Arial"/>
                <a:cs typeface="Arial"/>
              </a:rPr>
              <a:t> </a:t>
            </a:r>
            <a:r>
              <a:rPr sz="1725" dirty="0" err="1">
                <a:solidFill>
                  <a:srgbClr val="4C5750"/>
                </a:solidFill>
                <a:latin typeface="Arial"/>
                <a:cs typeface="Arial"/>
              </a:rPr>
              <a:t>una</a:t>
            </a:r>
            <a:r>
              <a:rPr sz="1725" dirty="0">
                <a:solidFill>
                  <a:srgbClr val="4C5750"/>
                </a:solidFill>
                <a:latin typeface="Arial"/>
                <a:cs typeface="Arial"/>
              </a:rPr>
              <a:t> </a:t>
            </a:r>
            <a:r>
              <a:rPr sz="1725" dirty="0" err="1">
                <a:solidFill>
                  <a:srgbClr val="4C5750"/>
                </a:solidFill>
                <a:latin typeface="Arial"/>
                <a:cs typeface="Arial"/>
              </a:rPr>
              <a:t>disponibilidad</a:t>
            </a:r>
            <a:r>
              <a:rPr sz="1725" dirty="0">
                <a:solidFill>
                  <a:srgbClr val="4C5750"/>
                </a:solidFill>
                <a:latin typeface="Arial"/>
                <a:cs typeface="Arial"/>
              </a:rPr>
              <a:t> </a:t>
            </a:r>
            <a:r>
              <a:rPr sz="1725" dirty="0" err="1">
                <a:solidFill>
                  <a:srgbClr val="4C5750"/>
                </a:solidFill>
                <a:latin typeface="Arial"/>
                <a:cs typeface="Arial"/>
              </a:rPr>
              <a:t>común</a:t>
            </a:r>
            <a:endParaRPr sz="1725" dirty="0">
              <a:solidFill>
                <a:srgbClr val="4C5750"/>
              </a:solidFill>
              <a:latin typeface="Arial"/>
              <a:cs typeface="Arial"/>
            </a:endParaRPr>
          </a:p>
        </p:txBody>
      </p:sp>
      <p:sp>
        <p:nvSpPr>
          <p:cNvPr id="8" name="Rectángulo 7">
            <a:extLst>
              <a:ext uri="{FF2B5EF4-FFF2-40B4-BE49-F238E27FC236}">
                <a16:creationId xmlns:a16="http://schemas.microsoft.com/office/drawing/2014/main" id="{D708C57A-9EB6-4C2B-AC44-3E4A616DE178}"/>
              </a:ext>
            </a:extLst>
          </p:cNvPr>
          <p:cNvSpPr>
            <a:spLocks noGrp="1"/>
          </p:cNvSpPr>
          <p:nvPr/>
        </p:nvSpPr>
        <p:spPr>
          <a:xfrm>
            <a:off x="805815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9" name="Rectángulo 8">
            <a:extLst>
              <a:ext uri="{FF2B5EF4-FFF2-40B4-BE49-F238E27FC236}">
                <a16:creationId xmlns:a16="http://schemas.microsoft.com/office/drawing/2014/main" id="{1E722316-0CD1-48AA-9277-E855D9613DF0}"/>
              </a:ext>
            </a:extLst>
          </p:cNvPr>
          <p:cNvSpPr>
            <a:spLocks noGrp="1"/>
          </p:cNvSpPr>
          <p:nvPr/>
        </p:nvSpPr>
        <p:spPr>
          <a:xfrm>
            <a:off x="832485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a:solidFill>
                  <a:srgbClr val="4C5750"/>
                </a:solidFill>
                <a:latin typeface="Arial"/>
                <a:ea typeface="Arial"/>
                <a:cs typeface="Arial"/>
              </a:rPr>
              <a:t>La </a:t>
            </a:r>
            <a:r>
              <a:rPr sz="1725" b="0" dirty="0" err="1">
                <a:solidFill>
                  <a:srgbClr val="4C5750"/>
                </a:solidFill>
                <a:latin typeface="Arial"/>
                <a:ea typeface="Arial"/>
                <a:cs typeface="Arial"/>
              </a:rPr>
              <a:t>revisión</a:t>
            </a:r>
            <a:r>
              <a:rPr sz="1725" b="0" dirty="0">
                <a:solidFill>
                  <a:srgbClr val="4C5750"/>
                </a:solidFill>
                <a:latin typeface="Arial"/>
                <a:ea typeface="Arial"/>
                <a:cs typeface="Arial"/>
              </a:rPr>
              <a:t> manual de </a:t>
            </a:r>
            <a:r>
              <a:rPr sz="1725" b="0" dirty="0" err="1">
                <a:solidFill>
                  <a:srgbClr val="4C5750"/>
                </a:solidFill>
                <a:latin typeface="Arial"/>
                <a:ea typeface="Arial"/>
                <a:cs typeface="Arial"/>
              </a:rPr>
              <a:t>pagos</a:t>
            </a:r>
            <a:r>
              <a:rPr sz="1725" b="0" dirty="0">
                <a:solidFill>
                  <a:srgbClr val="4C5750"/>
                </a:solidFill>
                <a:latin typeface="Arial"/>
                <a:ea typeface="Arial"/>
                <a:cs typeface="Arial"/>
              </a:rPr>
              <a:t> y </a:t>
            </a:r>
            <a:r>
              <a:rPr sz="1725" b="0" dirty="0" err="1">
                <a:solidFill>
                  <a:srgbClr val="4C5750"/>
                </a:solidFill>
                <a:latin typeface="Arial"/>
                <a:ea typeface="Arial"/>
                <a:cs typeface="Arial"/>
              </a:rPr>
              <a:t>estados</a:t>
            </a:r>
            <a:r>
              <a:rPr sz="1725" b="0" dirty="0">
                <a:solidFill>
                  <a:srgbClr val="4C5750"/>
                </a:solidFill>
                <a:latin typeface="Arial"/>
                <a:ea typeface="Arial"/>
                <a:cs typeface="Arial"/>
              </a:rPr>
              <a:t> </a:t>
            </a:r>
            <a:r>
              <a:rPr sz="1725" b="0" dirty="0" err="1">
                <a:solidFill>
                  <a:srgbClr val="4C5750"/>
                </a:solidFill>
                <a:latin typeface="Arial"/>
                <a:ea typeface="Arial"/>
                <a:cs typeface="Arial"/>
              </a:rPr>
              <a:t>limita</a:t>
            </a:r>
            <a:r>
              <a:rPr sz="1725" b="0" dirty="0">
                <a:solidFill>
                  <a:srgbClr val="4C5750"/>
                </a:solidFill>
                <a:latin typeface="Arial"/>
                <a:ea typeface="Arial"/>
                <a:cs typeface="Arial"/>
              </a:rPr>
              <a:t> la </a:t>
            </a:r>
            <a:r>
              <a:rPr sz="1725" b="0" dirty="0" err="1">
                <a:solidFill>
                  <a:srgbClr val="4C5750"/>
                </a:solidFill>
                <a:latin typeface="Arial"/>
                <a:ea typeface="Arial"/>
                <a:cs typeface="Arial"/>
              </a:rPr>
              <a:t>trazabilidad</a:t>
            </a:r>
            <a:r>
              <a:rPr sz="1725" b="0" dirty="0">
                <a:solidFill>
                  <a:srgbClr val="4C5750"/>
                </a:solidFill>
                <a:latin typeface="Arial"/>
                <a:ea typeface="Arial"/>
                <a:cs typeface="Arial"/>
              </a:rPr>
              <a:t> de </a:t>
            </a:r>
            <a:r>
              <a:rPr sz="1725" b="0" dirty="0" err="1">
                <a:solidFill>
                  <a:srgbClr val="4C5750"/>
                </a:solidFill>
                <a:latin typeface="Arial"/>
                <a:ea typeface="Arial"/>
                <a:cs typeface="Arial"/>
              </a:rPr>
              <a:t>cada</a:t>
            </a:r>
            <a:r>
              <a:rPr sz="1725" b="0" dirty="0">
                <a:solidFill>
                  <a:srgbClr val="4C5750"/>
                </a:solidFill>
                <a:latin typeface="Arial"/>
                <a:ea typeface="Arial"/>
                <a:cs typeface="Arial"/>
              </a:rPr>
              <a:t> </a:t>
            </a:r>
            <a:r>
              <a:rPr sz="1725" b="0" dirty="0" err="1">
                <a:solidFill>
                  <a:srgbClr val="4C5750"/>
                </a:solidFill>
                <a:latin typeface="Arial"/>
                <a:ea typeface="Arial"/>
                <a:cs typeface="Arial"/>
              </a:rPr>
              <a:t>solicitud</a:t>
            </a:r>
            <a:endParaRPr sz="1950" b="0" dirty="0">
              <a:solidFill>
                <a:srgbClr val="D6E1EE"/>
              </a:solidFill>
              <a:latin typeface="Aptos"/>
              <a:ea typeface="Aptos"/>
              <a:cs typeface="Aptos"/>
            </a:endParaRPr>
          </a:p>
        </p:txBody>
      </p:sp>
      <p:sp>
        <p:nvSpPr>
          <p:cNvPr id="12" name="Elemento 01">
            <a:extLst>
              <a:ext uri="{FF2B5EF4-FFF2-40B4-BE49-F238E27FC236}">
                <a16:creationId xmlns:a16="http://schemas.microsoft.com/office/drawing/2014/main" id="{48DF807F-993A-4BCC-A060-9C1D135CCAA8}"/>
              </a:ext>
            </a:extLst>
          </p:cNvPr>
          <p:cNvSpPr>
            <a:spLocks noGrp="1"/>
          </p:cNvSpPr>
          <p:nvPr/>
        </p:nvSpPr>
        <p:spPr>
          <a:xfrm>
            <a:off x="89535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3" name="Detalle del ítem">
            <a:extLst>
              <a:ext uri="{FF2B5EF4-FFF2-40B4-BE49-F238E27FC236}">
                <a16:creationId xmlns:a16="http://schemas.microsoft.com/office/drawing/2014/main" id="{2A1596FF-DF06-4C74-9789-C6823FC8B446}"/>
              </a:ext>
            </a:extLst>
          </p:cNvPr>
          <p:cNvSpPr>
            <a:spLocks noGrp="1"/>
          </p:cNvSpPr>
          <p:nvPr/>
        </p:nvSpPr>
        <p:spPr>
          <a:xfrm>
            <a:off x="895350" y="2809875"/>
            <a:ext cx="2952750" cy="9525"/>
          </a:xfrm>
          <a:prstGeom prst="rect">
            <a:avLst/>
          </a:prstGeom>
          <a:solidFill>
            <a:srgbClr val="D8DDD2"/>
          </a:solidFill>
          <a:ln w="0">
            <a:noFill/>
          </a:ln>
        </p:spPr>
        <p:txBody>
          <a:bodyPr/>
          <a:lstStyle/>
          <a:p>
            <a:endParaRPr lang="es-419"/>
          </a:p>
        </p:txBody>
      </p:sp>
      <p:sp>
        <p:nvSpPr>
          <p:cNvPr id="14" name="Elemento Cotización">
            <a:extLst>
              <a:ext uri="{FF2B5EF4-FFF2-40B4-BE49-F238E27FC236}">
                <a16:creationId xmlns:a16="http://schemas.microsoft.com/office/drawing/2014/main" id="{43FA389F-468A-4D94-B85A-ECA98442C507}"/>
              </a:ext>
            </a:extLst>
          </p:cNvPr>
          <p:cNvSpPr>
            <a:spLocks noGrp="1"/>
          </p:cNvSpPr>
          <p:nvPr/>
        </p:nvSpPr>
        <p:spPr>
          <a:xfrm>
            <a:off x="89535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dirty="0" err="1">
                <a:solidFill>
                  <a:srgbClr val="293B35"/>
                </a:solidFill>
                <a:latin typeface="Arial"/>
                <a:ea typeface="Arial"/>
                <a:cs typeface="Arial"/>
              </a:rPr>
              <a:t>Cotización</a:t>
            </a:r>
            <a:endParaRPr sz="1950" b="1" dirty="0">
              <a:solidFill>
                <a:srgbClr val="293B35"/>
              </a:solidFill>
              <a:latin typeface="Arial"/>
              <a:ea typeface="Arial"/>
              <a:cs typeface="Arial"/>
            </a:endParaRPr>
          </a:p>
        </p:txBody>
      </p:sp>
      <p:sp>
        <p:nvSpPr>
          <p:cNvPr id="15" name="Elemento 02">
            <a:extLst>
              <a:ext uri="{FF2B5EF4-FFF2-40B4-BE49-F238E27FC236}">
                <a16:creationId xmlns:a16="http://schemas.microsoft.com/office/drawing/2014/main" id="{3F064F7A-160B-49CD-92C0-32D4F60A7C58}"/>
              </a:ext>
            </a:extLst>
          </p:cNvPr>
          <p:cNvSpPr>
            <a:spLocks noGrp="1"/>
          </p:cNvSpPr>
          <p:nvPr/>
        </p:nvSpPr>
        <p:spPr>
          <a:xfrm>
            <a:off x="461010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6" name="Detalle del ítem">
            <a:extLst>
              <a:ext uri="{FF2B5EF4-FFF2-40B4-BE49-F238E27FC236}">
                <a16:creationId xmlns:a16="http://schemas.microsoft.com/office/drawing/2014/main" id="{BD3A8FBA-74F3-4BE1-AFE2-CE72C585509B}"/>
              </a:ext>
            </a:extLst>
          </p:cNvPr>
          <p:cNvSpPr>
            <a:spLocks noGrp="1"/>
          </p:cNvSpPr>
          <p:nvPr/>
        </p:nvSpPr>
        <p:spPr>
          <a:xfrm>
            <a:off x="4610100" y="2809875"/>
            <a:ext cx="2952750" cy="9525"/>
          </a:xfrm>
          <a:prstGeom prst="rect">
            <a:avLst/>
          </a:prstGeom>
          <a:solidFill>
            <a:srgbClr val="D8DDD2"/>
          </a:solidFill>
          <a:ln w="0">
            <a:noFill/>
          </a:ln>
        </p:spPr>
        <p:txBody>
          <a:bodyPr/>
          <a:lstStyle/>
          <a:p>
            <a:endParaRPr lang="es-419"/>
          </a:p>
        </p:txBody>
      </p:sp>
      <p:sp>
        <p:nvSpPr>
          <p:cNvPr id="17" name="Elemento Coordinación de visitas">
            <a:extLst>
              <a:ext uri="{FF2B5EF4-FFF2-40B4-BE49-F238E27FC236}">
                <a16:creationId xmlns:a16="http://schemas.microsoft.com/office/drawing/2014/main" id="{F016B9FC-9933-4BF6-B0A0-909C9BAC765E}"/>
              </a:ext>
            </a:extLst>
          </p:cNvPr>
          <p:cNvSpPr>
            <a:spLocks noGrp="1"/>
          </p:cNvSpPr>
          <p:nvPr/>
        </p:nvSpPr>
        <p:spPr>
          <a:xfrm>
            <a:off x="461010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Coordinación de visitas</a:t>
            </a:r>
          </a:p>
        </p:txBody>
      </p:sp>
      <p:sp>
        <p:nvSpPr>
          <p:cNvPr id="18" name="Elemento 03">
            <a:extLst>
              <a:ext uri="{FF2B5EF4-FFF2-40B4-BE49-F238E27FC236}">
                <a16:creationId xmlns:a16="http://schemas.microsoft.com/office/drawing/2014/main" id="{ECC005D2-82E1-4BF4-B196-7E9BE43CB48B}"/>
              </a:ext>
            </a:extLst>
          </p:cNvPr>
          <p:cNvSpPr>
            <a:spLocks noGrp="1"/>
          </p:cNvSpPr>
          <p:nvPr/>
        </p:nvSpPr>
        <p:spPr>
          <a:xfrm>
            <a:off x="832485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19" name="Detalle del ítem">
            <a:extLst>
              <a:ext uri="{FF2B5EF4-FFF2-40B4-BE49-F238E27FC236}">
                <a16:creationId xmlns:a16="http://schemas.microsoft.com/office/drawing/2014/main" id="{67A46293-3101-4A3C-AD5C-3CC5481D7808}"/>
              </a:ext>
            </a:extLst>
          </p:cNvPr>
          <p:cNvSpPr>
            <a:spLocks noGrp="1"/>
          </p:cNvSpPr>
          <p:nvPr/>
        </p:nvSpPr>
        <p:spPr>
          <a:xfrm>
            <a:off x="8324850" y="2809875"/>
            <a:ext cx="2952750" cy="9525"/>
          </a:xfrm>
          <a:prstGeom prst="rect">
            <a:avLst/>
          </a:prstGeom>
          <a:solidFill>
            <a:srgbClr val="D8DDD2"/>
          </a:solidFill>
          <a:ln w="0">
            <a:noFill/>
          </a:ln>
        </p:spPr>
        <p:txBody>
          <a:bodyPr/>
          <a:lstStyle/>
          <a:p>
            <a:endParaRPr lang="es-419"/>
          </a:p>
        </p:txBody>
      </p:sp>
      <p:sp>
        <p:nvSpPr>
          <p:cNvPr id="20" name="Elemento Seguimiento del pedido">
            <a:extLst>
              <a:ext uri="{FF2B5EF4-FFF2-40B4-BE49-F238E27FC236}">
                <a16:creationId xmlns:a16="http://schemas.microsoft.com/office/drawing/2014/main" id="{B6B7B443-E517-46A7-8A06-4EA7A97F115F}"/>
              </a:ext>
            </a:extLst>
          </p:cNvPr>
          <p:cNvSpPr>
            <a:spLocks noGrp="1"/>
          </p:cNvSpPr>
          <p:nvPr/>
        </p:nvSpPr>
        <p:spPr>
          <a:xfrm>
            <a:off x="832485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Seguimiento del pedido</a:t>
            </a:r>
          </a:p>
        </p:txBody>
      </p:sp>
      <p:sp>
        <p:nvSpPr>
          <p:cNvPr id="21" name="Detalle del ítem">
            <a:extLst>
              <a:ext uri="{FF2B5EF4-FFF2-40B4-BE49-F238E27FC236}">
                <a16:creationId xmlns:a16="http://schemas.microsoft.com/office/drawing/2014/main" id="{AE70AAD4-8F36-4093-B747-2F0F53C462FE}"/>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1570166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6121B50D-2112-4773-8737-700F56EF4C1E}"/>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Objetivo y alcance comprometido</a:t>
            </a:r>
          </a:p>
        </p:txBody>
      </p:sp>
      <p:sp>
        <p:nvSpPr>
          <p:cNvPr id="3" name="Rectángulo 2">
            <a:extLst>
              <a:ext uri="{FF2B5EF4-FFF2-40B4-BE49-F238E27FC236}">
                <a16:creationId xmlns:a16="http://schemas.microsoft.com/office/drawing/2014/main" id="{374B3C3E-AFFE-41A4-A646-9FB6747FC5A4}"/>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03</a:t>
            </a:r>
          </a:p>
        </p:txBody>
      </p:sp>
      <p:sp>
        <p:nvSpPr>
          <p:cNvPr id="4" name="Rectángulo 3">
            <a:extLst>
              <a:ext uri="{FF2B5EF4-FFF2-40B4-BE49-F238E27FC236}">
                <a16:creationId xmlns:a16="http://schemas.microsoft.com/office/drawing/2014/main" id="{99D0240C-F367-4D52-A0A6-1F006D908121}"/>
              </a:ext>
            </a:extLst>
          </p:cNvPr>
          <p:cNvSpPr>
            <a:spLocks noGrp="1"/>
          </p:cNvSpPr>
          <p:nvPr/>
        </p:nvSpPr>
        <p:spPr>
          <a:xfrm>
            <a:off x="628650" y="2381250"/>
            <a:ext cx="3486150" cy="3486150"/>
          </a:xfrm>
          <a:prstGeom prst="roundRect">
            <a:avLst>
              <a:gd name="adj" fmla="val 382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5" name="Rectángulo 4">
            <a:extLst>
              <a:ext uri="{FF2B5EF4-FFF2-40B4-BE49-F238E27FC236}">
                <a16:creationId xmlns:a16="http://schemas.microsoft.com/office/drawing/2014/main" id="{78616C30-4A26-4179-883D-F91955E12BEB}"/>
              </a:ext>
            </a:extLst>
          </p:cNvPr>
          <p:cNvSpPr>
            <a:spLocks noGrp="1"/>
          </p:cNvSpPr>
          <p:nvPr/>
        </p:nvSpPr>
        <p:spPr>
          <a:xfrm>
            <a:off x="895350" y="3943350"/>
            <a:ext cx="2952750" cy="169545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err="1">
                <a:solidFill>
                  <a:srgbClr val="4C5750"/>
                </a:solidFill>
                <a:latin typeface="Arial"/>
                <a:ea typeface="Arial"/>
                <a:cs typeface="Arial"/>
              </a:rPr>
              <a:t>Catálogo</a:t>
            </a:r>
            <a:r>
              <a:rPr sz="1725" b="0" dirty="0">
                <a:solidFill>
                  <a:srgbClr val="4C5750"/>
                </a:solidFill>
                <a:latin typeface="Arial"/>
                <a:ea typeface="Arial"/>
                <a:cs typeface="Arial"/>
              </a:rPr>
              <a:t>, </a:t>
            </a:r>
            <a:r>
              <a:rPr sz="1725" b="0" dirty="0" err="1">
                <a:solidFill>
                  <a:srgbClr val="4C5750"/>
                </a:solidFill>
                <a:latin typeface="Arial"/>
                <a:ea typeface="Arial"/>
                <a:cs typeface="Arial"/>
              </a:rPr>
              <a:t>cotización</a:t>
            </a:r>
            <a:r>
              <a:rPr sz="1725" b="0" dirty="0">
                <a:solidFill>
                  <a:srgbClr val="4C5750"/>
                </a:solidFill>
                <a:latin typeface="Arial"/>
                <a:ea typeface="Arial"/>
                <a:cs typeface="Arial"/>
              </a:rPr>
              <a:t> a </a:t>
            </a:r>
            <a:r>
              <a:rPr sz="1725" b="0" dirty="0" err="1">
                <a:solidFill>
                  <a:srgbClr val="4C5750"/>
                </a:solidFill>
                <a:latin typeface="Arial"/>
                <a:ea typeface="Arial"/>
                <a:cs typeface="Arial"/>
              </a:rPr>
              <a:t>medida</a:t>
            </a:r>
            <a:r>
              <a:rPr sz="1725" b="0" dirty="0">
                <a:solidFill>
                  <a:srgbClr val="4C5750"/>
                </a:solidFill>
                <a:latin typeface="Arial"/>
                <a:ea typeface="Arial"/>
                <a:cs typeface="Arial"/>
              </a:rPr>
              <a:t>, </a:t>
            </a:r>
            <a:r>
              <a:rPr sz="1725" b="0" dirty="0" err="1">
                <a:solidFill>
                  <a:srgbClr val="4C5750"/>
                </a:solidFill>
                <a:latin typeface="Arial"/>
                <a:ea typeface="Arial"/>
                <a:cs typeface="Arial"/>
              </a:rPr>
              <a:t>pedidos</a:t>
            </a:r>
            <a:r>
              <a:rPr sz="1725" b="0" dirty="0">
                <a:solidFill>
                  <a:srgbClr val="4C5750"/>
                </a:solidFill>
                <a:latin typeface="Arial"/>
                <a:ea typeface="Arial"/>
                <a:cs typeface="Arial"/>
              </a:rPr>
              <a:t>, agenda, </a:t>
            </a:r>
            <a:r>
              <a:rPr sz="1725" b="0" dirty="0" err="1">
                <a:solidFill>
                  <a:srgbClr val="4C5750"/>
                </a:solidFill>
                <a:latin typeface="Arial"/>
                <a:ea typeface="Arial"/>
                <a:cs typeface="Arial"/>
              </a:rPr>
              <a:t>pagos</a:t>
            </a:r>
            <a:r>
              <a:rPr sz="1725" b="0" dirty="0">
                <a:solidFill>
                  <a:srgbClr val="4C5750"/>
                </a:solidFill>
                <a:latin typeface="Arial"/>
                <a:ea typeface="Arial"/>
                <a:cs typeface="Arial"/>
              </a:rPr>
              <a:t> y </a:t>
            </a:r>
            <a:r>
              <a:rPr sz="1725" b="0" dirty="0" err="1">
                <a:solidFill>
                  <a:srgbClr val="4C5750"/>
                </a:solidFill>
                <a:latin typeface="Arial"/>
                <a:ea typeface="Arial"/>
                <a:cs typeface="Arial"/>
              </a:rPr>
              <a:t>gestión</a:t>
            </a:r>
            <a:r>
              <a:rPr sz="1725" b="0" dirty="0">
                <a:solidFill>
                  <a:srgbClr val="4C5750"/>
                </a:solidFill>
                <a:latin typeface="Arial"/>
                <a:ea typeface="Arial"/>
                <a:cs typeface="Arial"/>
              </a:rPr>
              <a:t> </a:t>
            </a:r>
            <a:r>
              <a:rPr sz="1725" b="0" dirty="0" err="1">
                <a:solidFill>
                  <a:srgbClr val="4C5750"/>
                </a:solidFill>
                <a:latin typeface="Arial"/>
                <a:ea typeface="Arial"/>
                <a:cs typeface="Arial"/>
              </a:rPr>
              <a:t>administrativa</a:t>
            </a:r>
            <a:endParaRPr sz="1950" b="0" dirty="0">
              <a:solidFill>
                <a:srgbClr val="D6E1EE"/>
              </a:solidFill>
              <a:latin typeface="Aptos"/>
              <a:ea typeface="Aptos"/>
              <a:cs typeface="Aptos"/>
            </a:endParaRPr>
          </a:p>
        </p:txBody>
      </p:sp>
      <p:sp>
        <p:nvSpPr>
          <p:cNvPr id="6" name="Rectángulo 5">
            <a:extLst>
              <a:ext uri="{FF2B5EF4-FFF2-40B4-BE49-F238E27FC236}">
                <a16:creationId xmlns:a16="http://schemas.microsoft.com/office/drawing/2014/main" id="{190FFC86-B82D-4333-B1BB-55223A0B7F96}"/>
              </a:ext>
            </a:extLst>
          </p:cNvPr>
          <p:cNvSpPr>
            <a:spLocks noGrp="1"/>
          </p:cNvSpPr>
          <p:nvPr/>
        </p:nvSpPr>
        <p:spPr>
          <a:xfrm>
            <a:off x="4343400" y="2381250"/>
            <a:ext cx="3486150" cy="3486150"/>
          </a:xfrm>
          <a:prstGeom prst="roundRect">
            <a:avLst>
              <a:gd name="adj" fmla="val 382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7" name="Rectángulo 6">
            <a:extLst>
              <a:ext uri="{FF2B5EF4-FFF2-40B4-BE49-F238E27FC236}">
                <a16:creationId xmlns:a16="http://schemas.microsoft.com/office/drawing/2014/main" id="{197A47CB-6D89-4F96-9272-7528A7473CB0}"/>
              </a:ext>
            </a:extLst>
          </p:cNvPr>
          <p:cNvSpPr>
            <a:spLocks noGrp="1"/>
          </p:cNvSpPr>
          <p:nvPr/>
        </p:nvSpPr>
        <p:spPr>
          <a:xfrm>
            <a:off x="4610100" y="3943350"/>
            <a:ext cx="2952750" cy="169545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a:solidFill>
                  <a:srgbClr val="4C5750"/>
                </a:solidFill>
                <a:latin typeface="Arial"/>
                <a:ea typeface="Arial"/>
                <a:cs typeface="Arial"/>
              </a:rPr>
              <a:t>Portal web y </a:t>
            </a:r>
            <a:r>
              <a:rPr sz="1725" b="0" dirty="0" err="1">
                <a:solidFill>
                  <a:srgbClr val="4C5750"/>
                </a:solidFill>
                <a:latin typeface="Arial"/>
                <a:ea typeface="Arial"/>
                <a:cs typeface="Arial"/>
              </a:rPr>
              <a:t>aplicación</a:t>
            </a:r>
            <a:r>
              <a:rPr sz="1725" b="0" dirty="0">
                <a:solidFill>
                  <a:srgbClr val="4C5750"/>
                </a:solidFill>
                <a:latin typeface="Arial"/>
                <a:ea typeface="Arial"/>
                <a:cs typeface="Arial"/>
              </a:rPr>
              <a:t> </a:t>
            </a:r>
            <a:r>
              <a:rPr sz="1725" b="0" dirty="0" err="1">
                <a:solidFill>
                  <a:srgbClr val="4C5750"/>
                </a:solidFill>
                <a:latin typeface="Arial"/>
                <a:ea typeface="Arial"/>
                <a:cs typeface="Arial"/>
              </a:rPr>
              <a:t>móvil</a:t>
            </a:r>
            <a:r>
              <a:rPr sz="1725" b="0" dirty="0">
                <a:solidFill>
                  <a:srgbClr val="4C5750"/>
                </a:solidFill>
                <a:latin typeface="Arial"/>
                <a:ea typeface="Arial"/>
                <a:cs typeface="Arial"/>
              </a:rPr>
              <a:t> </a:t>
            </a:r>
            <a:r>
              <a:rPr sz="1725" b="0" dirty="0" err="1">
                <a:solidFill>
                  <a:srgbClr val="4C5750"/>
                </a:solidFill>
                <a:latin typeface="Arial"/>
                <a:ea typeface="Arial"/>
                <a:cs typeface="Arial"/>
              </a:rPr>
              <a:t>conectados</a:t>
            </a:r>
            <a:r>
              <a:rPr sz="1725" b="0" dirty="0">
                <a:solidFill>
                  <a:srgbClr val="4C5750"/>
                </a:solidFill>
                <a:latin typeface="Arial"/>
                <a:ea typeface="Arial"/>
                <a:cs typeface="Arial"/>
              </a:rPr>
              <a:t> a </a:t>
            </a:r>
            <a:r>
              <a:rPr sz="1725" b="0" dirty="0" err="1">
                <a:solidFill>
                  <a:srgbClr val="4C5750"/>
                </a:solidFill>
                <a:latin typeface="Arial"/>
                <a:ea typeface="Arial"/>
                <a:cs typeface="Arial"/>
              </a:rPr>
              <a:t>una</a:t>
            </a:r>
            <a:r>
              <a:rPr sz="1725" b="0" dirty="0">
                <a:solidFill>
                  <a:srgbClr val="4C5750"/>
                </a:solidFill>
                <a:latin typeface="Arial"/>
                <a:ea typeface="Arial"/>
                <a:cs typeface="Arial"/>
              </a:rPr>
              <a:t> API REST y </a:t>
            </a:r>
            <a:r>
              <a:rPr sz="1725" b="0" dirty="0" err="1">
                <a:solidFill>
                  <a:srgbClr val="4C5750"/>
                </a:solidFill>
                <a:latin typeface="Arial"/>
                <a:ea typeface="Arial"/>
                <a:cs typeface="Arial"/>
              </a:rPr>
              <a:t>una</a:t>
            </a:r>
            <a:r>
              <a:rPr sz="1725" b="0" dirty="0">
                <a:solidFill>
                  <a:srgbClr val="4C5750"/>
                </a:solidFill>
                <a:latin typeface="Arial"/>
                <a:ea typeface="Arial"/>
                <a:cs typeface="Arial"/>
              </a:rPr>
              <a:t> base de datos MySQL</a:t>
            </a:r>
            <a:endParaRPr sz="1950" b="0" dirty="0">
              <a:solidFill>
                <a:srgbClr val="D6E1EE"/>
              </a:solidFill>
              <a:latin typeface="Aptos"/>
              <a:ea typeface="Aptos"/>
              <a:cs typeface="Aptos"/>
            </a:endParaRPr>
          </a:p>
        </p:txBody>
      </p:sp>
      <p:sp>
        <p:nvSpPr>
          <p:cNvPr id="8" name="Rectángulo 7">
            <a:extLst>
              <a:ext uri="{FF2B5EF4-FFF2-40B4-BE49-F238E27FC236}">
                <a16:creationId xmlns:a16="http://schemas.microsoft.com/office/drawing/2014/main" id="{96E97D7C-E190-43E2-AE2E-A0A38689F1BE}"/>
              </a:ext>
            </a:extLst>
          </p:cNvPr>
          <p:cNvSpPr>
            <a:spLocks noGrp="1"/>
          </p:cNvSpPr>
          <p:nvPr/>
        </p:nvSpPr>
        <p:spPr>
          <a:xfrm>
            <a:off x="8058150" y="2381250"/>
            <a:ext cx="3486150" cy="3486150"/>
          </a:xfrm>
          <a:prstGeom prst="roundRect">
            <a:avLst>
              <a:gd name="adj" fmla="val 382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9" name="Rectángulo 8">
            <a:extLst>
              <a:ext uri="{FF2B5EF4-FFF2-40B4-BE49-F238E27FC236}">
                <a16:creationId xmlns:a16="http://schemas.microsoft.com/office/drawing/2014/main" id="{FB0B945B-D02D-4905-B995-5DF84A167E81}"/>
              </a:ext>
            </a:extLst>
          </p:cNvPr>
          <p:cNvSpPr>
            <a:spLocks noGrp="1"/>
          </p:cNvSpPr>
          <p:nvPr/>
        </p:nvSpPr>
        <p:spPr>
          <a:xfrm>
            <a:off x="8324850" y="3943350"/>
            <a:ext cx="2952750" cy="169545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a:solidFill>
                  <a:srgbClr val="4C5750"/>
                </a:solidFill>
                <a:latin typeface="Arial"/>
                <a:ea typeface="Arial"/>
                <a:cs typeface="Arial"/>
              </a:rPr>
              <a:t>Se </a:t>
            </a:r>
            <a:r>
              <a:rPr sz="1725" b="0" dirty="0" err="1">
                <a:solidFill>
                  <a:srgbClr val="4C5750"/>
                </a:solidFill>
                <a:latin typeface="Arial"/>
                <a:ea typeface="Arial"/>
                <a:cs typeface="Arial"/>
              </a:rPr>
              <a:t>excluyen</a:t>
            </a:r>
            <a:r>
              <a:rPr sz="1725" b="0" dirty="0">
                <a:solidFill>
                  <a:srgbClr val="4C5750"/>
                </a:solidFill>
                <a:latin typeface="Arial"/>
                <a:ea typeface="Arial"/>
                <a:cs typeface="Arial"/>
              </a:rPr>
              <a:t> </a:t>
            </a:r>
            <a:r>
              <a:rPr sz="1725" b="0" dirty="0" err="1">
                <a:solidFill>
                  <a:srgbClr val="4C5750"/>
                </a:solidFill>
                <a:latin typeface="Arial"/>
                <a:ea typeface="Arial"/>
                <a:cs typeface="Arial"/>
              </a:rPr>
              <a:t>facturación</a:t>
            </a:r>
            <a:r>
              <a:rPr sz="1725" b="0" dirty="0">
                <a:solidFill>
                  <a:srgbClr val="4C5750"/>
                </a:solidFill>
                <a:latin typeface="Arial"/>
                <a:ea typeface="Arial"/>
                <a:cs typeface="Arial"/>
              </a:rPr>
              <a:t> SII, </a:t>
            </a:r>
            <a:r>
              <a:rPr sz="1725" b="0" dirty="0" err="1">
                <a:solidFill>
                  <a:srgbClr val="4C5750"/>
                </a:solidFill>
                <a:latin typeface="Arial"/>
                <a:ea typeface="Arial"/>
                <a:cs typeface="Arial"/>
              </a:rPr>
              <a:t>contabilidad</a:t>
            </a:r>
            <a:r>
              <a:rPr sz="1725" b="0" dirty="0">
                <a:solidFill>
                  <a:srgbClr val="4C5750"/>
                </a:solidFill>
                <a:latin typeface="Arial"/>
                <a:ea typeface="Arial"/>
                <a:cs typeface="Arial"/>
              </a:rPr>
              <a:t> e </a:t>
            </a:r>
            <a:r>
              <a:rPr sz="1725" b="0" dirty="0" err="1">
                <a:solidFill>
                  <a:srgbClr val="4C5750"/>
                </a:solidFill>
                <a:latin typeface="Arial"/>
                <a:ea typeface="Arial"/>
                <a:cs typeface="Arial"/>
              </a:rPr>
              <a:t>inventario</a:t>
            </a:r>
            <a:r>
              <a:rPr sz="1725" b="0" dirty="0">
                <a:solidFill>
                  <a:srgbClr val="4C5750"/>
                </a:solidFill>
                <a:latin typeface="Arial"/>
                <a:ea typeface="Arial"/>
                <a:cs typeface="Arial"/>
              </a:rPr>
              <a:t> </a:t>
            </a:r>
            <a:r>
              <a:rPr sz="1725" b="0" dirty="0" err="1">
                <a:solidFill>
                  <a:srgbClr val="4C5750"/>
                </a:solidFill>
                <a:latin typeface="Arial"/>
                <a:ea typeface="Arial"/>
                <a:cs typeface="Arial"/>
              </a:rPr>
              <a:t>avanzados</a:t>
            </a:r>
            <a:r>
              <a:rPr sz="1725" b="0" dirty="0">
                <a:solidFill>
                  <a:srgbClr val="4C5750"/>
                </a:solidFill>
                <a:latin typeface="Arial"/>
                <a:ea typeface="Arial"/>
                <a:cs typeface="Arial"/>
              </a:rPr>
              <a:t>, GPS continuo, </a:t>
            </a:r>
            <a:r>
              <a:rPr sz="1725" b="0" dirty="0" err="1">
                <a:solidFill>
                  <a:srgbClr val="4C5750"/>
                </a:solidFill>
                <a:latin typeface="Arial"/>
                <a:ea typeface="Arial"/>
                <a:cs typeface="Arial"/>
              </a:rPr>
              <a:t>inteligencia</a:t>
            </a:r>
            <a:r>
              <a:rPr sz="1725" b="0" dirty="0">
                <a:solidFill>
                  <a:srgbClr val="4C5750"/>
                </a:solidFill>
                <a:latin typeface="Arial"/>
                <a:ea typeface="Arial"/>
                <a:cs typeface="Arial"/>
              </a:rPr>
              <a:t> artificial y control de </a:t>
            </a:r>
            <a:r>
              <a:rPr sz="1725" b="0" dirty="0" err="1">
                <a:solidFill>
                  <a:srgbClr val="4C5750"/>
                </a:solidFill>
                <a:latin typeface="Arial"/>
                <a:ea typeface="Arial"/>
                <a:cs typeface="Arial"/>
              </a:rPr>
              <a:t>dispositivos</a:t>
            </a:r>
            <a:r>
              <a:rPr sz="1725" b="0" dirty="0">
                <a:solidFill>
                  <a:srgbClr val="4C5750"/>
                </a:solidFill>
                <a:latin typeface="Arial"/>
                <a:ea typeface="Arial"/>
                <a:cs typeface="Arial"/>
              </a:rPr>
              <a:t> (IoT)</a:t>
            </a:r>
            <a:endParaRPr sz="1950" b="0" dirty="0">
              <a:solidFill>
                <a:srgbClr val="D6E1EE"/>
              </a:solidFill>
              <a:latin typeface="Aptos"/>
              <a:ea typeface="Aptos"/>
              <a:cs typeface="Aptos"/>
            </a:endParaRPr>
          </a:p>
        </p:txBody>
      </p:sp>
      <p:sp>
        <p:nvSpPr>
          <p:cNvPr id="12" name="CuadroTexto 11">
            <a:extLst>
              <a:ext uri="{FF2B5EF4-FFF2-40B4-BE49-F238E27FC236}">
                <a16:creationId xmlns:a16="http://schemas.microsoft.com/office/drawing/2014/main" id="{96D22E45-BAEA-451E-8A5C-E98073CAFD9E}"/>
              </a:ext>
            </a:extLst>
          </p:cNvPr>
          <p:cNvSpPr>
            <a:spLocks noGrp="1"/>
          </p:cNvSpPr>
          <p:nvPr/>
        </p:nvSpPr>
        <p:spPr>
          <a:xfrm>
            <a:off x="628650" y="1278404"/>
            <a:ext cx="8357616" cy="914400"/>
          </a:xfrm>
          <a:prstGeom prst="rect">
            <a:avLst/>
          </a:prstGeom>
          <a:noFill/>
        </p:spPr>
        <p:txBody>
          <a:bodyPr wrap="square">
            <a:spAutoFit/>
          </a:bodyPr>
          <a:lstStyle/>
          <a:p>
            <a:pPr>
              <a:buNone/>
              <a:defRPr>
                <a:solidFill>
                  <a:srgbClr val="414B45"/>
                </a:solidFill>
                <a:latin typeface="Arial"/>
                <a:ea typeface="Arial"/>
                <a:cs typeface="Arial"/>
              </a:defRPr>
            </a:pPr>
            <a:r>
              <a:rPr>
                <a:solidFill>
                  <a:srgbClr val="414B45"/>
                </a:solidFill>
                <a:latin typeface="Arial"/>
                <a:ea typeface="Arial"/>
                <a:cs typeface="Arial"/>
              </a:rPr>
              <a:t>Automatizar el ciclo comercial y operativo de Roller SpA mediante una plataforma web y móvil conectada a información y reglas de negocio centralizadas</a:t>
            </a:r>
          </a:p>
        </p:txBody>
      </p:sp>
      <p:sp>
        <p:nvSpPr>
          <p:cNvPr id="13" name="Elemento 01">
            <a:extLst>
              <a:ext uri="{FF2B5EF4-FFF2-40B4-BE49-F238E27FC236}">
                <a16:creationId xmlns:a16="http://schemas.microsoft.com/office/drawing/2014/main" id="{CF8238D0-66E5-4C4D-80E7-28AA7621E59C}"/>
              </a:ext>
            </a:extLst>
          </p:cNvPr>
          <p:cNvSpPr>
            <a:spLocks noGrp="1"/>
          </p:cNvSpPr>
          <p:nvPr/>
        </p:nvSpPr>
        <p:spPr>
          <a:xfrm>
            <a:off x="895350" y="25908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4" name="Detalle del ítem">
            <a:extLst>
              <a:ext uri="{FF2B5EF4-FFF2-40B4-BE49-F238E27FC236}">
                <a16:creationId xmlns:a16="http://schemas.microsoft.com/office/drawing/2014/main" id="{E4B77FC2-B451-4BCE-90EB-0A24B8B7B659}"/>
              </a:ext>
            </a:extLst>
          </p:cNvPr>
          <p:cNvSpPr>
            <a:spLocks noGrp="1"/>
          </p:cNvSpPr>
          <p:nvPr/>
        </p:nvSpPr>
        <p:spPr>
          <a:xfrm>
            <a:off x="895350" y="3000375"/>
            <a:ext cx="2952750" cy="9525"/>
          </a:xfrm>
          <a:prstGeom prst="rect">
            <a:avLst/>
          </a:prstGeom>
          <a:solidFill>
            <a:srgbClr val="D8DDD2"/>
          </a:solidFill>
          <a:ln w="0">
            <a:noFill/>
          </a:ln>
        </p:spPr>
        <p:txBody>
          <a:bodyPr/>
          <a:lstStyle/>
          <a:p>
            <a:endParaRPr lang="es-419"/>
          </a:p>
        </p:txBody>
      </p:sp>
      <p:sp>
        <p:nvSpPr>
          <p:cNvPr id="15" name="Elemento Funciones comprometidas">
            <a:extLst>
              <a:ext uri="{FF2B5EF4-FFF2-40B4-BE49-F238E27FC236}">
                <a16:creationId xmlns:a16="http://schemas.microsoft.com/office/drawing/2014/main" id="{8E3DB0E2-8E0E-4979-80EE-6E29F8F22DC0}"/>
              </a:ext>
            </a:extLst>
          </p:cNvPr>
          <p:cNvSpPr>
            <a:spLocks noGrp="1"/>
          </p:cNvSpPr>
          <p:nvPr/>
        </p:nvSpPr>
        <p:spPr>
          <a:xfrm>
            <a:off x="895350" y="32004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dirty="0" err="1">
                <a:solidFill>
                  <a:srgbClr val="293B35"/>
                </a:solidFill>
                <a:latin typeface="Arial"/>
                <a:ea typeface="Arial"/>
                <a:cs typeface="Arial"/>
              </a:rPr>
              <a:t>Funciones</a:t>
            </a:r>
            <a:r>
              <a:rPr sz="1950" b="1" dirty="0">
                <a:solidFill>
                  <a:srgbClr val="293B35"/>
                </a:solidFill>
                <a:latin typeface="Arial"/>
                <a:ea typeface="Arial"/>
                <a:cs typeface="Arial"/>
              </a:rPr>
              <a:t> </a:t>
            </a:r>
            <a:r>
              <a:rPr sz="1950" b="1" dirty="0" err="1">
                <a:solidFill>
                  <a:srgbClr val="293B35"/>
                </a:solidFill>
                <a:latin typeface="Arial"/>
                <a:ea typeface="Arial"/>
                <a:cs typeface="Arial"/>
              </a:rPr>
              <a:t>comprometidas</a:t>
            </a:r>
            <a:endParaRPr sz="1950" b="1" dirty="0">
              <a:solidFill>
                <a:srgbClr val="293B35"/>
              </a:solidFill>
              <a:latin typeface="Arial"/>
              <a:ea typeface="Arial"/>
              <a:cs typeface="Arial"/>
            </a:endParaRPr>
          </a:p>
        </p:txBody>
      </p:sp>
      <p:sp>
        <p:nvSpPr>
          <p:cNvPr id="16" name="Elemento 02">
            <a:extLst>
              <a:ext uri="{FF2B5EF4-FFF2-40B4-BE49-F238E27FC236}">
                <a16:creationId xmlns:a16="http://schemas.microsoft.com/office/drawing/2014/main" id="{D6B670AF-7525-4B84-B647-743705B76A39}"/>
              </a:ext>
            </a:extLst>
          </p:cNvPr>
          <p:cNvSpPr>
            <a:spLocks noGrp="1"/>
          </p:cNvSpPr>
          <p:nvPr/>
        </p:nvSpPr>
        <p:spPr>
          <a:xfrm>
            <a:off x="4610100" y="25908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7" name="Detalle del ítem">
            <a:extLst>
              <a:ext uri="{FF2B5EF4-FFF2-40B4-BE49-F238E27FC236}">
                <a16:creationId xmlns:a16="http://schemas.microsoft.com/office/drawing/2014/main" id="{3DE1E9C8-029D-4725-AAE9-1667FCD02D77}"/>
              </a:ext>
            </a:extLst>
          </p:cNvPr>
          <p:cNvSpPr>
            <a:spLocks noGrp="1"/>
          </p:cNvSpPr>
          <p:nvPr/>
        </p:nvSpPr>
        <p:spPr>
          <a:xfrm>
            <a:off x="4610100" y="3000375"/>
            <a:ext cx="2952750" cy="9525"/>
          </a:xfrm>
          <a:prstGeom prst="rect">
            <a:avLst/>
          </a:prstGeom>
          <a:solidFill>
            <a:srgbClr val="D8DDD2"/>
          </a:solidFill>
          <a:ln w="0">
            <a:noFill/>
          </a:ln>
        </p:spPr>
        <p:txBody>
          <a:bodyPr/>
          <a:lstStyle/>
          <a:p>
            <a:endParaRPr lang="es-419"/>
          </a:p>
        </p:txBody>
      </p:sp>
      <p:sp>
        <p:nvSpPr>
          <p:cNvPr id="18" name="Elemento Solución tecnológica">
            <a:extLst>
              <a:ext uri="{FF2B5EF4-FFF2-40B4-BE49-F238E27FC236}">
                <a16:creationId xmlns:a16="http://schemas.microsoft.com/office/drawing/2014/main" id="{19FA3AB3-0C79-470F-8E4B-DF1CCD61B74E}"/>
              </a:ext>
            </a:extLst>
          </p:cNvPr>
          <p:cNvSpPr>
            <a:spLocks noGrp="1"/>
          </p:cNvSpPr>
          <p:nvPr/>
        </p:nvSpPr>
        <p:spPr>
          <a:xfrm>
            <a:off x="4610100" y="32004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Solución tecnológica</a:t>
            </a:r>
          </a:p>
        </p:txBody>
      </p:sp>
      <p:sp>
        <p:nvSpPr>
          <p:cNvPr id="19" name="Elemento 03">
            <a:extLst>
              <a:ext uri="{FF2B5EF4-FFF2-40B4-BE49-F238E27FC236}">
                <a16:creationId xmlns:a16="http://schemas.microsoft.com/office/drawing/2014/main" id="{7C22A4A0-7B7F-48A1-80CC-E0041B8D8AD1}"/>
              </a:ext>
            </a:extLst>
          </p:cNvPr>
          <p:cNvSpPr>
            <a:spLocks noGrp="1"/>
          </p:cNvSpPr>
          <p:nvPr/>
        </p:nvSpPr>
        <p:spPr>
          <a:xfrm>
            <a:off x="8324850" y="25908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20" name="Detalle del ítem">
            <a:extLst>
              <a:ext uri="{FF2B5EF4-FFF2-40B4-BE49-F238E27FC236}">
                <a16:creationId xmlns:a16="http://schemas.microsoft.com/office/drawing/2014/main" id="{720BD197-FDC4-4E7D-AD27-DD635E990A18}"/>
              </a:ext>
            </a:extLst>
          </p:cNvPr>
          <p:cNvSpPr>
            <a:spLocks noGrp="1"/>
          </p:cNvSpPr>
          <p:nvPr/>
        </p:nvSpPr>
        <p:spPr>
          <a:xfrm>
            <a:off x="8324850" y="3000375"/>
            <a:ext cx="2952750" cy="9525"/>
          </a:xfrm>
          <a:prstGeom prst="rect">
            <a:avLst/>
          </a:prstGeom>
          <a:solidFill>
            <a:srgbClr val="D8DDD2"/>
          </a:solidFill>
          <a:ln w="0">
            <a:noFill/>
          </a:ln>
        </p:spPr>
        <p:txBody>
          <a:bodyPr/>
          <a:lstStyle/>
          <a:p>
            <a:endParaRPr lang="es-419"/>
          </a:p>
        </p:txBody>
      </p:sp>
      <p:sp>
        <p:nvSpPr>
          <p:cNvPr id="21" name="Elemento Límites del proyecto">
            <a:extLst>
              <a:ext uri="{FF2B5EF4-FFF2-40B4-BE49-F238E27FC236}">
                <a16:creationId xmlns:a16="http://schemas.microsoft.com/office/drawing/2014/main" id="{25BB959E-3D06-4D01-9964-9F100548C503}"/>
              </a:ext>
            </a:extLst>
          </p:cNvPr>
          <p:cNvSpPr>
            <a:spLocks noGrp="1"/>
          </p:cNvSpPr>
          <p:nvPr/>
        </p:nvSpPr>
        <p:spPr>
          <a:xfrm>
            <a:off x="8324850" y="32004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Límites del proyecto</a:t>
            </a:r>
          </a:p>
        </p:txBody>
      </p:sp>
      <p:sp>
        <p:nvSpPr>
          <p:cNvPr id="22" name="Detalle del ítem">
            <a:extLst>
              <a:ext uri="{FF2B5EF4-FFF2-40B4-BE49-F238E27FC236}">
                <a16:creationId xmlns:a16="http://schemas.microsoft.com/office/drawing/2014/main" id="{9FBB294C-D429-4500-B775-F3A40831B82F}"/>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767960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413F358B-D3DF-4A44-8C53-CD844E77A7D1}"/>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Metodología Scrum y seguimiento</a:t>
            </a:r>
          </a:p>
        </p:txBody>
      </p:sp>
      <p:sp>
        <p:nvSpPr>
          <p:cNvPr id="3" name="Rectángulo 2">
            <a:extLst>
              <a:ext uri="{FF2B5EF4-FFF2-40B4-BE49-F238E27FC236}">
                <a16:creationId xmlns:a16="http://schemas.microsoft.com/office/drawing/2014/main" id="{B769A21F-2FE8-4DA6-ABE7-8D523A0A75E7}"/>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04</a:t>
            </a:r>
          </a:p>
        </p:txBody>
      </p:sp>
      <p:graphicFrame>
        <p:nvGraphicFramePr>
          <p:cNvPr id="13" name="Tabla 10"/>
          <p:cNvGraphicFramePr/>
          <p:nvPr>
            <p:extLst>
              <p:ext uri="{D42A27DB-BD31-4B8C-83A1-F6EECF244321}">
                <p14:modId xmlns:p14="http://schemas.microsoft.com/office/powerpoint/2010/main" val="3479030417"/>
              </p:ext>
            </p:extLst>
          </p:nvPr>
        </p:nvGraphicFramePr>
        <p:xfrm>
          <a:off x="628650" y="2619375"/>
          <a:ext cx="10934700" cy="3105150"/>
        </p:xfrm>
        <a:graphic>
          <a:graphicData uri="http://schemas.openxmlformats.org/drawingml/2006/table">
            <a:tbl>
              <a:tblPr/>
              <a:tblGrid>
                <a:gridCol w="20478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7267575">
                  <a:extLst>
                    <a:ext uri="{9D8B030D-6E8A-4147-A177-3AD203B41FA5}">
                      <a16:colId xmlns:a16="http://schemas.microsoft.com/office/drawing/2014/main" val="20002"/>
                    </a:ext>
                  </a:extLst>
                </a:gridCol>
              </a:tblGrid>
              <a:tr h="621030">
                <a:tc>
                  <a:txBody>
                    <a:bodyPr/>
                    <a:lstStyle/>
                    <a:p>
                      <a:r>
                        <a:rPr sz="1800" b="1">
                          <a:solidFill>
                            <a:srgbClr val="F7F6F2"/>
                          </a:solidFill>
                          <a:latin typeface="Arial"/>
                          <a:ea typeface="Arial"/>
                          <a:cs typeface="Arial"/>
                        </a:rPr>
                        <a:t>Bloque</a:t>
                      </a:r>
                    </a:p>
                  </a:txBody>
                  <a:tcPr>
                    <a:solidFill>
                      <a:srgbClr val="293B35"/>
                    </a:solidFill>
                  </a:tcPr>
                </a:tc>
                <a:tc>
                  <a:txBody>
                    <a:bodyPr/>
                    <a:lstStyle/>
                    <a:p>
                      <a:r>
                        <a:rPr sz="1800" b="1">
                          <a:solidFill>
                            <a:srgbClr val="F7F6F2"/>
                          </a:solidFill>
                          <a:latin typeface="Arial"/>
                          <a:ea typeface="Arial"/>
                          <a:cs typeface="Arial"/>
                        </a:rPr>
                        <a:t>Periodo</a:t>
                      </a:r>
                    </a:p>
                  </a:txBody>
                  <a:tcPr>
                    <a:solidFill>
                      <a:srgbClr val="293B35"/>
                    </a:solidFill>
                  </a:tcPr>
                </a:tc>
                <a:tc>
                  <a:txBody>
                    <a:bodyPr/>
                    <a:lstStyle/>
                    <a:p>
                      <a:r>
                        <a:rPr sz="1800" b="1">
                          <a:solidFill>
                            <a:srgbClr val="F7F6F2"/>
                          </a:solidFill>
                          <a:latin typeface="Arial"/>
                          <a:ea typeface="Arial"/>
                          <a:cs typeface="Arial"/>
                        </a:rPr>
                        <a:t>Resultado del trabajo</a:t>
                      </a:r>
                    </a:p>
                  </a:txBody>
                  <a:tcPr>
                    <a:solidFill>
                      <a:srgbClr val="293B35"/>
                    </a:solidFill>
                  </a:tcPr>
                </a:tc>
                <a:extLst>
                  <a:ext uri="{0D108BD9-81ED-4DB2-BD59-A6C34878D82A}">
                    <a16:rowId xmlns:a16="http://schemas.microsoft.com/office/drawing/2014/main" val="10000"/>
                  </a:ext>
                </a:extLst>
              </a:tr>
              <a:tr h="621030">
                <a:tc>
                  <a:txBody>
                    <a:bodyPr/>
                    <a:lstStyle/>
                    <a:p>
                      <a:r>
                        <a:rPr sz="1725" b="0">
                          <a:solidFill>
                            <a:srgbClr val="414B45"/>
                          </a:solidFill>
                          <a:latin typeface="Arial"/>
                          <a:ea typeface="Arial"/>
                          <a:cs typeface="Arial"/>
                        </a:rPr>
                        <a:t>Sprint 0</a:t>
                      </a:r>
                    </a:p>
                  </a:txBody>
                  <a:tcPr>
                    <a:solidFill>
                      <a:srgbClr val="F0EEE7"/>
                    </a:solidFill>
                  </a:tcPr>
                </a:tc>
                <a:tc>
                  <a:txBody>
                    <a:bodyPr/>
                    <a:lstStyle/>
                    <a:p>
                      <a:r>
                        <a:rPr sz="1725" b="0">
                          <a:solidFill>
                            <a:srgbClr val="414B45"/>
                          </a:solidFill>
                          <a:latin typeface="Arial"/>
                          <a:ea typeface="Arial"/>
                          <a:cs typeface="Arial"/>
                        </a:rPr>
                        <a:t>S1–S4</a:t>
                      </a:r>
                    </a:p>
                  </a:txBody>
                  <a:tcPr>
                    <a:solidFill>
                      <a:srgbClr val="F0EEE7"/>
                    </a:solidFill>
                  </a:tcPr>
                </a:tc>
                <a:tc>
                  <a:txBody>
                    <a:bodyPr/>
                    <a:lstStyle/>
                    <a:p>
                      <a:r>
                        <a:rPr sz="1725" b="0">
                          <a:solidFill>
                            <a:srgbClr val="414B45"/>
                          </a:solidFill>
                          <a:latin typeface="Arial"/>
                          <a:ea typeface="Arial"/>
                          <a:cs typeface="Arial"/>
                        </a:rPr>
                        <a:t>Requerimientos, alcance, arquitectura y prototipos</a:t>
                      </a:r>
                    </a:p>
                  </a:txBody>
                  <a:tcPr>
                    <a:solidFill>
                      <a:srgbClr val="F0EEE7"/>
                    </a:solidFill>
                  </a:tcPr>
                </a:tc>
                <a:extLst>
                  <a:ext uri="{0D108BD9-81ED-4DB2-BD59-A6C34878D82A}">
                    <a16:rowId xmlns:a16="http://schemas.microsoft.com/office/drawing/2014/main" val="10001"/>
                  </a:ext>
                </a:extLst>
              </a:tr>
              <a:tr h="621030">
                <a:tc>
                  <a:txBody>
                    <a:bodyPr/>
                    <a:lstStyle/>
                    <a:p>
                      <a:r>
                        <a:rPr sz="1725" b="0">
                          <a:solidFill>
                            <a:srgbClr val="414B45"/>
                          </a:solidFill>
                          <a:latin typeface="Arial"/>
                          <a:ea typeface="Arial"/>
                          <a:cs typeface="Arial"/>
                        </a:rPr>
                        <a:t>Sprint 1</a:t>
                      </a:r>
                    </a:p>
                  </a:txBody>
                  <a:tcPr>
                    <a:solidFill>
                      <a:srgbClr val="E6E8DF"/>
                    </a:solidFill>
                  </a:tcPr>
                </a:tc>
                <a:tc>
                  <a:txBody>
                    <a:bodyPr/>
                    <a:lstStyle/>
                    <a:p>
                      <a:r>
                        <a:rPr sz="1725" b="0">
                          <a:solidFill>
                            <a:srgbClr val="414B45"/>
                          </a:solidFill>
                          <a:latin typeface="Arial"/>
                          <a:ea typeface="Arial"/>
                          <a:cs typeface="Arial"/>
                        </a:rPr>
                        <a:t>S5–S8</a:t>
                      </a:r>
                    </a:p>
                  </a:txBody>
                  <a:tcPr>
                    <a:solidFill>
                      <a:srgbClr val="E6E8DF"/>
                    </a:solidFill>
                  </a:tcPr>
                </a:tc>
                <a:tc>
                  <a:txBody>
                    <a:bodyPr/>
                    <a:lstStyle/>
                    <a:p>
                      <a:r>
                        <a:rPr sz="1725" b="0" dirty="0">
                          <a:solidFill>
                            <a:srgbClr val="414B45"/>
                          </a:solidFill>
                          <a:latin typeface="Arial"/>
                          <a:ea typeface="Arial"/>
                          <a:cs typeface="Arial"/>
                        </a:rPr>
                        <a:t>Backend, </a:t>
                      </a:r>
                      <a:r>
                        <a:rPr sz="1725" b="0" dirty="0" err="1">
                          <a:solidFill>
                            <a:srgbClr val="414B45"/>
                          </a:solidFill>
                          <a:latin typeface="Arial"/>
                          <a:ea typeface="Arial"/>
                          <a:cs typeface="Arial"/>
                        </a:rPr>
                        <a:t>autenticación</a:t>
                      </a:r>
                      <a:r>
                        <a:rPr sz="1725" b="0" dirty="0">
                          <a:solidFill>
                            <a:srgbClr val="414B45"/>
                          </a:solidFill>
                          <a:latin typeface="Arial"/>
                          <a:ea typeface="Arial"/>
                          <a:cs typeface="Arial"/>
                        </a:rPr>
                        <a:t>, MySQL y </a:t>
                      </a:r>
                      <a:r>
                        <a:rPr sz="1725" b="0" dirty="0" err="1">
                          <a:solidFill>
                            <a:srgbClr val="414B45"/>
                          </a:solidFill>
                          <a:latin typeface="Arial"/>
                          <a:ea typeface="Arial"/>
                          <a:cs typeface="Arial"/>
                        </a:rPr>
                        <a:t>catálogo</a:t>
                      </a:r>
                      <a:endParaRPr sz="1725" b="0" dirty="0">
                        <a:solidFill>
                          <a:srgbClr val="414B45"/>
                        </a:solidFill>
                        <a:latin typeface="Arial"/>
                        <a:ea typeface="Arial"/>
                        <a:cs typeface="Arial"/>
                      </a:endParaRPr>
                    </a:p>
                  </a:txBody>
                  <a:tcPr>
                    <a:solidFill>
                      <a:srgbClr val="E6E8DF"/>
                    </a:solidFill>
                  </a:tcPr>
                </a:tc>
                <a:extLst>
                  <a:ext uri="{0D108BD9-81ED-4DB2-BD59-A6C34878D82A}">
                    <a16:rowId xmlns:a16="http://schemas.microsoft.com/office/drawing/2014/main" val="10002"/>
                  </a:ext>
                </a:extLst>
              </a:tr>
              <a:tr h="621030">
                <a:tc>
                  <a:txBody>
                    <a:bodyPr/>
                    <a:lstStyle/>
                    <a:p>
                      <a:r>
                        <a:rPr sz="1725" b="0">
                          <a:solidFill>
                            <a:srgbClr val="414B45"/>
                          </a:solidFill>
                          <a:latin typeface="Arial"/>
                          <a:ea typeface="Arial"/>
                          <a:cs typeface="Arial"/>
                        </a:rPr>
                        <a:t>Sprint 2</a:t>
                      </a:r>
                    </a:p>
                  </a:txBody>
                  <a:tcPr>
                    <a:solidFill>
                      <a:srgbClr val="F0EEE7"/>
                    </a:solidFill>
                  </a:tcPr>
                </a:tc>
                <a:tc>
                  <a:txBody>
                    <a:bodyPr/>
                    <a:lstStyle/>
                    <a:p>
                      <a:r>
                        <a:rPr sz="1725" b="0">
                          <a:solidFill>
                            <a:srgbClr val="414B45"/>
                          </a:solidFill>
                          <a:latin typeface="Arial"/>
                          <a:ea typeface="Arial"/>
                          <a:cs typeface="Arial"/>
                        </a:rPr>
                        <a:t>S9–S16</a:t>
                      </a:r>
                    </a:p>
                  </a:txBody>
                  <a:tcPr>
                    <a:solidFill>
                      <a:srgbClr val="F0EEE7"/>
                    </a:solidFill>
                  </a:tcPr>
                </a:tc>
                <a:tc>
                  <a:txBody>
                    <a:bodyPr/>
                    <a:lstStyle/>
                    <a:p>
                      <a:r>
                        <a:rPr sz="1725" b="0">
                          <a:solidFill>
                            <a:srgbClr val="414B45"/>
                          </a:solidFill>
                          <a:latin typeface="Arial"/>
                          <a:ea typeface="Arial"/>
                          <a:cs typeface="Arial"/>
                        </a:rPr>
                        <a:t>Cotizador, pedidos, agenda e interfaces integradas</a:t>
                      </a:r>
                    </a:p>
                  </a:txBody>
                  <a:tcPr>
                    <a:solidFill>
                      <a:srgbClr val="F0EEE7"/>
                    </a:solidFill>
                  </a:tcPr>
                </a:tc>
                <a:extLst>
                  <a:ext uri="{0D108BD9-81ED-4DB2-BD59-A6C34878D82A}">
                    <a16:rowId xmlns:a16="http://schemas.microsoft.com/office/drawing/2014/main" val="10003"/>
                  </a:ext>
                </a:extLst>
              </a:tr>
              <a:tr h="621030">
                <a:tc>
                  <a:txBody>
                    <a:bodyPr/>
                    <a:lstStyle/>
                    <a:p>
                      <a:r>
                        <a:rPr sz="1725" b="0">
                          <a:solidFill>
                            <a:srgbClr val="414B45"/>
                          </a:solidFill>
                          <a:latin typeface="Arial"/>
                          <a:ea typeface="Arial"/>
                          <a:cs typeface="Arial"/>
                        </a:rPr>
                        <a:t>Sprint 3</a:t>
                      </a:r>
                    </a:p>
                  </a:txBody>
                  <a:tcPr>
                    <a:solidFill>
                      <a:srgbClr val="E6E8DF"/>
                    </a:solidFill>
                  </a:tcPr>
                </a:tc>
                <a:tc>
                  <a:txBody>
                    <a:bodyPr/>
                    <a:lstStyle/>
                    <a:p>
                      <a:r>
                        <a:rPr sz="1725" b="0">
                          <a:solidFill>
                            <a:srgbClr val="414B45"/>
                          </a:solidFill>
                          <a:latin typeface="Arial"/>
                          <a:ea typeface="Arial"/>
                          <a:cs typeface="Arial"/>
                        </a:rPr>
                        <a:t>S17–S19</a:t>
                      </a:r>
                    </a:p>
                  </a:txBody>
                  <a:tcPr>
                    <a:solidFill>
                      <a:srgbClr val="E6E8DF"/>
                    </a:solidFill>
                  </a:tcPr>
                </a:tc>
                <a:tc>
                  <a:txBody>
                    <a:bodyPr/>
                    <a:lstStyle/>
                    <a:p>
                      <a:r>
                        <a:rPr sz="1725" b="0" dirty="0" err="1">
                          <a:solidFill>
                            <a:srgbClr val="414B45"/>
                          </a:solidFill>
                          <a:latin typeface="Arial"/>
                          <a:ea typeface="Arial"/>
                          <a:cs typeface="Arial"/>
                        </a:rPr>
                        <a:t>Validación</a:t>
                      </a:r>
                      <a:r>
                        <a:rPr sz="1725" b="0" dirty="0">
                          <a:solidFill>
                            <a:srgbClr val="414B45"/>
                          </a:solidFill>
                          <a:latin typeface="Arial"/>
                          <a:ea typeface="Arial"/>
                          <a:cs typeface="Arial"/>
                        </a:rPr>
                        <a:t> integral y </a:t>
                      </a:r>
                      <a:r>
                        <a:rPr sz="1725" b="0" dirty="0" err="1">
                          <a:solidFill>
                            <a:srgbClr val="414B45"/>
                          </a:solidFill>
                          <a:latin typeface="Arial"/>
                          <a:ea typeface="Arial"/>
                          <a:cs typeface="Arial"/>
                        </a:rPr>
                        <a:t>entrega</a:t>
                      </a:r>
                      <a:r>
                        <a:rPr sz="1725" b="0" dirty="0">
                          <a:solidFill>
                            <a:srgbClr val="414B45"/>
                          </a:solidFill>
                          <a:latin typeface="Arial"/>
                          <a:ea typeface="Arial"/>
                          <a:cs typeface="Arial"/>
                        </a:rPr>
                        <a:t> final </a:t>
                      </a:r>
                      <a:r>
                        <a:rPr sz="1725" b="0" dirty="0" err="1">
                          <a:solidFill>
                            <a:srgbClr val="414B45"/>
                          </a:solidFill>
                          <a:latin typeface="Arial"/>
                          <a:ea typeface="Arial"/>
                          <a:cs typeface="Arial"/>
                        </a:rPr>
                        <a:t>programadas</a:t>
                      </a:r>
                      <a:endParaRPr sz="1725" b="0" dirty="0">
                        <a:solidFill>
                          <a:srgbClr val="414B45"/>
                        </a:solidFill>
                        <a:latin typeface="Arial"/>
                        <a:ea typeface="Arial"/>
                        <a:cs typeface="Arial"/>
                      </a:endParaRPr>
                    </a:p>
                  </a:txBody>
                  <a:tcPr>
                    <a:solidFill>
                      <a:srgbClr val="E6E8DF"/>
                    </a:solidFill>
                  </a:tcPr>
                </a:tc>
                <a:extLst>
                  <a:ext uri="{0D108BD9-81ED-4DB2-BD59-A6C34878D82A}">
                    <a16:rowId xmlns:a16="http://schemas.microsoft.com/office/drawing/2014/main" val="10004"/>
                  </a:ext>
                </a:extLst>
              </a:tr>
            </a:tbl>
          </a:graphicData>
        </a:graphic>
      </p:graphicFrame>
      <p:sp>
        <p:nvSpPr>
          <p:cNvPr id="7" name="CuadroTexto 6">
            <a:extLst>
              <a:ext uri="{FF2B5EF4-FFF2-40B4-BE49-F238E27FC236}">
                <a16:creationId xmlns:a16="http://schemas.microsoft.com/office/drawing/2014/main" id="{58E341EB-00A1-0CA4-2068-BBC9968D4244}"/>
              </a:ext>
            </a:extLst>
          </p:cNvPr>
          <p:cNvSpPr>
            <a:spLocks noGrp="1"/>
          </p:cNvSpPr>
          <p:nvPr/>
        </p:nvSpPr>
        <p:spPr>
          <a:xfrm>
            <a:off x="628650" y="1551432"/>
            <a:ext cx="4564707" cy="914400"/>
          </a:xfrm>
          <a:prstGeom prst="rect">
            <a:avLst/>
          </a:prstGeom>
          <a:noFill/>
        </p:spPr>
        <p:txBody>
          <a:bodyPr wrap="square">
            <a:spAutoFit/>
          </a:bodyPr>
          <a:lstStyle/>
          <a:p>
            <a:pPr>
              <a:buNone/>
              <a:defRPr>
                <a:solidFill>
                  <a:srgbClr val="414B45"/>
                </a:solidFill>
                <a:latin typeface="Arial"/>
                <a:ea typeface="Arial"/>
                <a:cs typeface="Arial"/>
              </a:defRPr>
            </a:pPr>
            <a:r>
              <a:rPr>
                <a:solidFill>
                  <a:srgbClr val="414B45"/>
                </a:solidFill>
                <a:latin typeface="Arial"/>
                <a:ea typeface="Arial"/>
                <a:cs typeface="Arial"/>
              </a:rPr>
              <a:t>Organizamos el trabajo en cuatro bloques dentro de un plan de 19 semanas</a:t>
            </a:r>
          </a:p>
          <a:p>
            <a:endParaRPr/>
          </a:p>
        </p:txBody>
      </p:sp>
      <p:sp>
        <p:nvSpPr>
          <p:cNvPr id="9" name="Detalle del ítem">
            <a:extLst>
              <a:ext uri="{FF2B5EF4-FFF2-40B4-BE49-F238E27FC236}">
                <a16:creationId xmlns:a16="http://schemas.microsoft.com/office/drawing/2014/main" id="{6567064C-CEB8-40B9-A0C2-D97CB54141D7}"/>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773421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73B72DF5-9D06-4D5A-B3D7-DB26AA49E3D8}"/>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Ajustes durante el desarrollo</a:t>
            </a:r>
          </a:p>
        </p:txBody>
      </p:sp>
      <p:sp>
        <p:nvSpPr>
          <p:cNvPr id="3" name="Rectángulo 2">
            <a:extLst>
              <a:ext uri="{FF2B5EF4-FFF2-40B4-BE49-F238E27FC236}">
                <a16:creationId xmlns:a16="http://schemas.microsoft.com/office/drawing/2014/main" id="{556F0CA2-7744-47DC-A87B-8C8677A46B3F}"/>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05</a:t>
            </a:r>
          </a:p>
        </p:txBody>
      </p:sp>
      <p:sp>
        <p:nvSpPr>
          <p:cNvPr id="4" name="Rectángulo 3">
            <a:extLst>
              <a:ext uri="{FF2B5EF4-FFF2-40B4-BE49-F238E27FC236}">
                <a16:creationId xmlns:a16="http://schemas.microsoft.com/office/drawing/2014/main" id="{244A20BA-3596-4CB2-856A-A86671838F03}"/>
              </a:ext>
            </a:extLst>
          </p:cNvPr>
          <p:cNvSpPr>
            <a:spLocks noGrp="1"/>
          </p:cNvSpPr>
          <p:nvPr/>
        </p:nvSpPr>
        <p:spPr>
          <a:xfrm>
            <a:off x="62865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5" name="Rectángulo 4">
            <a:extLst>
              <a:ext uri="{FF2B5EF4-FFF2-40B4-BE49-F238E27FC236}">
                <a16:creationId xmlns:a16="http://schemas.microsoft.com/office/drawing/2014/main" id="{A98B50E3-BC97-4556-962C-BF2609E9A0C2}"/>
              </a:ext>
            </a:extLst>
          </p:cNvPr>
          <p:cNvSpPr>
            <a:spLocks noGrp="1"/>
          </p:cNvSpPr>
          <p:nvPr/>
        </p:nvSpPr>
        <p:spPr>
          <a:xfrm>
            <a:off x="89535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err="1">
                <a:solidFill>
                  <a:srgbClr val="4C5750"/>
                </a:solidFill>
                <a:latin typeface="Arial"/>
                <a:ea typeface="Arial"/>
                <a:cs typeface="Arial"/>
              </a:rPr>
              <a:t>Adoptamos</a:t>
            </a:r>
            <a:r>
              <a:rPr sz="1725" b="0" dirty="0">
                <a:solidFill>
                  <a:srgbClr val="4C5750"/>
                </a:solidFill>
                <a:latin typeface="Arial"/>
                <a:ea typeface="Arial"/>
                <a:cs typeface="Arial"/>
              </a:rPr>
              <a:t> Spring Boot, MySQL y JPA para </a:t>
            </a:r>
            <a:r>
              <a:rPr sz="1725" b="0" dirty="0" err="1">
                <a:solidFill>
                  <a:srgbClr val="4C5750"/>
                </a:solidFill>
                <a:latin typeface="Arial"/>
                <a:ea typeface="Arial"/>
                <a:cs typeface="Arial"/>
              </a:rPr>
              <a:t>centralizar</a:t>
            </a:r>
            <a:r>
              <a:rPr sz="1725" b="0" dirty="0">
                <a:solidFill>
                  <a:srgbClr val="4C5750"/>
                </a:solidFill>
                <a:latin typeface="Arial"/>
                <a:ea typeface="Arial"/>
                <a:cs typeface="Arial"/>
              </a:rPr>
              <a:t> </a:t>
            </a:r>
            <a:r>
              <a:rPr sz="1725" b="0" dirty="0" err="1">
                <a:solidFill>
                  <a:srgbClr val="4C5750"/>
                </a:solidFill>
                <a:latin typeface="Arial"/>
                <a:ea typeface="Arial"/>
                <a:cs typeface="Arial"/>
              </a:rPr>
              <a:t>los</a:t>
            </a:r>
            <a:r>
              <a:rPr sz="1725" b="0" dirty="0">
                <a:solidFill>
                  <a:srgbClr val="4C5750"/>
                </a:solidFill>
                <a:latin typeface="Arial"/>
                <a:ea typeface="Arial"/>
                <a:cs typeface="Arial"/>
              </a:rPr>
              <a:t> datos y las </a:t>
            </a:r>
            <a:r>
              <a:rPr sz="1725" b="0" dirty="0" err="1">
                <a:solidFill>
                  <a:srgbClr val="4C5750"/>
                </a:solidFill>
                <a:latin typeface="Arial"/>
                <a:ea typeface="Arial"/>
                <a:cs typeface="Arial"/>
              </a:rPr>
              <a:t>reglas</a:t>
            </a:r>
            <a:r>
              <a:rPr sz="1725" b="0" dirty="0">
                <a:solidFill>
                  <a:srgbClr val="4C5750"/>
                </a:solidFill>
                <a:latin typeface="Arial"/>
                <a:ea typeface="Arial"/>
                <a:cs typeface="Arial"/>
              </a:rPr>
              <a:t> del </a:t>
            </a:r>
            <a:r>
              <a:rPr sz="1725" b="0" dirty="0" err="1">
                <a:solidFill>
                  <a:srgbClr val="4C5750"/>
                </a:solidFill>
                <a:latin typeface="Arial"/>
                <a:ea typeface="Arial"/>
                <a:cs typeface="Arial"/>
              </a:rPr>
              <a:t>negocio</a:t>
            </a:r>
            <a:endParaRPr sz="1950" b="0" dirty="0">
              <a:solidFill>
                <a:srgbClr val="D6E1EE"/>
              </a:solidFill>
              <a:latin typeface="Aptos"/>
              <a:ea typeface="Aptos"/>
              <a:cs typeface="Aptos"/>
            </a:endParaRPr>
          </a:p>
        </p:txBody>
      </p:sp>
      <p:sp>
        <p:nvSpPr>
          <p:cNvPr id="6" name="Rectángulo 5">
            <a:extLst>
              <a:ext uri="{FF2B5EF4-FFF2-40B4-BE49-F238E27FC236}">
                <a16:creationId xmlns:a16="http://schemas.microsoft.com/office/drawing/2014/main" id="{CBEDB03F-619F-435B-9433-004872357108}"/>
              </a:ext>
            </a:extLst>
          </p:cNvPr>
          <p:cNvSpPr>
            <a:spLocks noGrp="1"/>
          </p:cNvSpPr>
          <p:nvPr/>
        </p:nvSpPr>
        <p:spPr>
          <a:xfrm>
            <a:off x="434340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sz="2250" b="1">
              <a:solidFill>
                <a:srgbClr val="52D4E8"/>
              </a:solidFill>
              <a:latin typeface="Aptos"/>
              <a:ea typeface="Aptos"/>
              <a:cs typeface="Aptos"/>
            </a:endParaRPr>
          </a:p>
        </p:txBody>
      </p:sp>
      <p:sp>
        <p:nvSpPr>
          <p:cNvPr id="7" name="Rectángulo 6">
            <a:extLst>
              <a:ext uri="{FF2B5EF4-FFF2-40B4-BE49-F238E27FC236}">
                <a16:creationId xmlns:a16="http://schemas.microsoft.com/office/drawing/2014/main" id="{B43ABB83-ACC4-4303-9028-FBC228E1870C}"/>
              </a:ext>
            </a:extLst>
          </p:cNvPr>
          <p:cNvSpPr>
            <a:spLocks noGrp="1"/>
          </p:cNvSpPr>
          <p:nvPr/>
        </p:nvSpPr>
        <p:spPr>
          <a:xfrm>
            <a:off x="461010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err="1">
                <a:solidFill>
                  <a:srgbClr val="4C5750"/>
                </a:solidFill>
                <a:latin typeface="Arial"/>
                <a:ea typeface="Arial"/>
                <a:cs typeface="Arial"/>
              </a:rPr>
              <a:t>Elegimos</a:t>
            </a:r>
            <a:r>
              <a:rPr sz="1725" b="0" dirty="0">
                <a:solidFill>
                  <a:srgbClr val="4C5750"/>
                </a:solidFill>
                <a:latin typeface="Arial"/>
                <a:ea typeface="Arial"/>
                <a:cs typeface="Arial"/>
              </a:rPr>
              <a:t> Ionic con Angular para </a:t>
            </a:r>
            <a:r>
              <a:rPr sz="1725" b="0" dirty="0" err="1">
                <a:solidFill>
                  <a:srgbClr val="4C5750"/>
                </a:solidFill>
                <a:latin typeface="Arial"/>
                <a:ea typeface="Arial"/>
                <a:cs typeface="Arial"/>
              </a:rPr>
              <a:t>consumir</a:t>
            </a:r>
            <a:r>
              <a:rPr sz="1725" b="0" dirty="0">
                <a:solidFill>
                  <a:srgbClr val="4C5750"/>
                </a:solidFill>
                <a:latin typeface="Arial"/>
                <a:ea typeface="Arial"/>
                <a:cs typeface="Arial"/>
              </a:rPr>
              <a:t> la </a:t>
            </a:r>
            <a:r>
              <a:rPr sz="1725" b="0" dirty="0" err="1">
                <a:solidFill>
                  <a:srgbClr val="4C5750"/>
                </a:solidFill>
                <a:latin typeface="Arial"/>
                <a:ea typeface="Arial"/>
                <a:cs typeface="Arial"/>
              </a:rPr>
              <a:t>misma</a:t>
            </a:r>
            <a:r>
              <a:rPr sz="1725" b="0" dirty="0">
                <a:solidFill>
                  <a:srgbClr val="4C5750"/>
                </a:solidFill>
                <a:latin typeface="Arial"/>
                <a:ea typeface="Arial"/>
                <a:cs typeface="Arial"/>
              </a:rPr>
              <a:t> API e </a:t>
            </a:r>
            <a:r>
              <a:rPr sz="1725" b="0" dirty="0" err="1">
                <a:solidFill>
                  <a:srgbClr val="4C5750"/>
                </a:solidFill>
                <a:latin typeface="Arial"/>
                <a:ea typeface="Arial"/>
                <a:cs typeface="Arial"/>
              </a:rPr>
              <a:t>incorporar</a:t>
            </a:r>
            <a:r>
              <a:rPr sz="1725" b="0" dirty="0">
                <a:solidFill>
                  <a:srgbClr val="4C5750"/>
                </a:solidFill>
                <a:latin typeface="Arial"/>
                <a:ea typeface="Arial"/>
                <a:cs typeface="Arial"/>
              </a:rPr>
              <a:t> las </a:t>
            </a:r>
            <a:r>
              <a:rPr sz="1725" b="0" dirty="0" err="1">
                <a:solidFill>
                  <a:srgbClr val="4C5750"/>
                </a:solidFill>
                <a:latin typeface="Arial"/>
                <a:ea typeface="Arial"/>
                <a:cs typeface="Arial"/>
              </a:rPr>
              <a:t>funciones</a:t>
            </a:r>
            <a:r>
              <a:rPr sz="1725" b="0" dirty="0">
                <a:solidFill>
                  <a:srgbClr val="4C5750"/>
                </a:solidFill>
                <a:latin typeface="Arial"/>
                <a:ea typeface="Arial"/>
                <a:cs typeface="Arial"/>
              </a:rPr>
              <a:t> del </a:t>
            </a:r>
            <a:r>
              <a:rPr sz="1725" b="0" dirty="0" err="1">
                <a:solidFill>
                  <a:srgbClr val="4C5750"/>
                </a:solidFill>
                <a:latin typeface="Arial"/>
                <a:ea typeface="Arial"/>
                <a:cs typeface="Arial"/>
              </a:rPr>
              <a:t>técnico</a:t>
            </a:r>
            <a:endParaRPr sz="1950" b="0" dirty="0">
              <a:solidFill>
                <a:srgbClr val="D6E1EE"/>
              </a:solidFill>
              <a:latin typeface="Aptos"/>
              <a:ea typeface="Aptos"/>
              <a:cs typeface="Aptos"/>
            </a:endParaRPr>
          </a:p>
        </p:txBody>
      </p:sp>
      <p:sp>
        <p:nvSpPr>
          <p:cNvPr id="8" name="Rectángulo 7">
            <a:extLst>
              <a:ext uri="{FF2B5EF4-FFF2-40B4-BE49-F238E27FC236}">
                <a16:creationId xmlns:a16="http://schemas.microsoft.com/office/drawing/2014/main" id="{C3089344-FF31-498E-90B3-AE0850309301}"/>
              </a:ext>
            </a:extLst>
          </p:cNvPr>
          <p:cNvSpPr>
            <a:spLocks noGrp="1"/>
          </p:cNvSpPr>
          <p:nvPr/>
        </p:nvSpPr>
        <p:spPr>
          <a:xfrm>
            <a:off x="8058150" y="2190750"/>
            <a:ext cx="3486150" cy="3238500"/>
          </a:xfrm>
          <a:prstGeom prst="roundRect">
            <a:avLst>
              <a:gd name="adj" fmla="val 4118"/>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9" name="Rectángulo 8">
            <a:extLst>
              <a:ext uri="{FF2B5EF4-FFF2-40B4-BE49-F238E27FC236}">
                <a16:creationId xmlns:a16="http://schemas.microsoft.com/office/drawing/2014/main" id="{F565FF12-AA1F-4931-85C7-8407DA0F9A69}"/>
              </a:ext>
            </a:extLst>
          </p:cNvPr>
          <p:cNvSpPr>
            <a:spLocks noGrp="1"/>
          </p:cNvSpPr>
          <p:nvPr/>
        </p:nvSpPr>
        <p:spPr>
          <a:xfrm>
            <a:off x="8324850" y="3752850"/>
            <a:ext cx="2952750" cy="1447800"/>
          </a:xfrm>
          <a:prstGeom prst="rect">
            <a:avLst/>
          </a:prstGeom>
          <a:noFill/>
          <a:ln w="0">
            <a:noFill/>
          </a:ln>
          <a:effectLst/>
        </p:spPr>
        <p:txBody>
          <a:bodyPr wrap="square" lIns="0" tIns="0" rIns="0" bIns="0" anchor="t">
            <a:noAutofit/>
          </a:bodyPr>
          <a:lstStyle/>
          <a:p>
            <a:pPr algn="l">
              <a:buNone/>
              <a:defRPr sz="1725" b="0">
                <a:solidFill>
                  <a:srgbClr val="4C5750"/>
                </a:solidFill>
                <a:latin typeface="Arial"/>
                <a:ea typeface="Arial"/>
                <a:cs typeface="Arial"/>
              </a:defRPr>
            </a:pPr>
            <a:r>
              <a:rPr sz="1725" b="0" dirty="0" err="1">
                <a:solidFill>
                  <a:srgbClr val="4C5750"/>
                </a:solidFill>
                <a:latin typeface="Arial"/>
                <a:ea typeface="Arial"/>
                <a:cs typeface="Arial"/>
              </a:rPr>
              <a:t>Separamos</a:t>
            </a:r>
            <a:r>
              <a:rPr sz="1725" b="0" dirty="0">
                <a:solidFill>
                  <a:srgbClr val="4C5750"/>
                </a:solidFill>
                <a:latin typeface="Arial"/>
                <a:ea typeface="Arial"/>
                <a:cs typeface="Arial"/>
              </a:rPr>
              <a:t> </a:t>
            </a:r>
            <a:r>
              <a:rPr sz="1725" b="0" dirty="0" err="1">
                <a:solidFill>
                  <a:srgbClr val="4C5750"/>
                </a:solidFill>
                <a:latin typeface="Arial"/>
                <a:ea typeface="Arial"/>
                <a:cs typeface="Arial"/>
              </a:rPr>
              <a:t>construcción</a:t>
            </a:r>
            <a:r>
              <a:rPr sz="1725" b="0" dirty="0">
                <a:solidFill>
                  <a:srgbClr val="4C5750"/>
                </a:solidFill>
                <a:latin typeface="Arial"/>
                <a:ea typeface="Arial"/>
                <a:cs typeface="Arial"/>
              </a:rPr>
              <a:t> e </a:t>
            </a:r>
            <a:r>
              <a:rPr sz="1725" b="0" dirty="0" err="1">
                <a:solidFill>
                  <a:srgbClr val="4C5750"/>
                </a:solidFill>
                <a:latin typeface="Arial"/>
                <a:ea typeface="Arial"/>
                <a:cs typeface="Arial"/>
              </a:rPr>
              <a:t>integración</a:t>
            </a:r>
            <a:r>
              <a:rPr sz="1725" b="0" dirty="0">
                <a:solidFill>
                  <a:srgbClr val="4C5750"/>
                </a:solidFill>
                <a:latin typeface="Arial"/>
                <a:ea typeface="Arial"/>
                <a:cs typeface="Arial"/>
              </a:rPr>
              <a:t> del panel y </a:t>
            </a:r>
            <a:r>
              <a:rPr sz="1725" b="0" dirty="0" err="1">
                <a:solidFill>
                  <a:srgbClr val="4C5750"/>
                </a:solidFill>
                <a:latin typeface="Arial"/>
                <a:ea typeface="Arial"/>
                <a:cs typeface="Arial"/>
              </a:rPr>
              <a:t>priorizamos</a:t>
            </a:r>
            <a:r>
              <a:rPr sz="1725" b="0" dirty="0">
                <a:solidFill>
                  <a:srgbClr val="4C5750"/>
                </a:solidFill>
                <a:latin typeface="Arial"/>
                <a:ea typeface="Arial"/>
                <a:cs typeface="Arial"/>
              </a:rPr>
              <a:t> el </a:t>
            </a:r>
            <a:r>
              <a:rPr sz="1725" b="0" dirty="0" err="1">
                <a:solidFill>
                  <a:srgbClr val="4C5750"/>
                </a:solidFill>
                <a:latin typeface="Arial"/>
                <a:ea typeface="Arial"/>
                <a:cs typeface="Arial"/>
              </a:rPr>
              <a:t>cierre</a:t>
            </a:r>
            <a:r>
              <a:rPr sz="1725" b="0" dirty="0">
                <a:solidFill>
                  <a:srgbClr val="4C5750"/>
                </a:solidFill>
                <a:latin typeface="Arial"/>
                <a:ea typeface="Arial"/>
                <a:cs typeface="Arial"/>
              </a:rPr>
              <a:t> de agenda y </a:t>
            </a:r>
            <a:r>
              <a:rPr sz="1725" b="0" dirty="0" err="1">
                <a:solidFill>
                  <a:srgbClr val="4C5750"/>
                </a:solidFill>
                <a:latin typeface="Arial"/>
                <a:ea typeface="Arial"/>
                <a:cs typeface="Arial"/>
              </a:rPr>
              <a:t>pagos</a:t>
            </a:r>
            <a:endParaRPr sz="1950" b="0" dirty="0">
              <a:solidFill>
                <a:srgbClr val="D6E1EE"/>
              </a:solidFill>
              <a:latin typeface="Aptos"/>
              <a:ea typeface="Aptos"/>
              <a:cs typeface="Aptos"/>
            </a:endParaRPr>
          </a:p>
        </p:txBody>
      </p:sp>
      <p:sp>
        <p:nvSpPr>
          <p:cNvPr id="12" name="Elemento 01">
            <a:extLst>
              <a:ext uri="{FF2B5EF4-FFF2-40B4-BE49-F238E27FC236}">
                <a16:creationId xmlns:a16="http://schemas.microsoft.com/office/drawing/2014/main" id="{E5763820-83DB-41D0-9838-6D961EC016A1}"/>
              </a:ext>
            </a:extLst>
          </p:cNvPr>
          <p:cNvSpPr>
            <a:spLocks noGrp="1"/>
          </p:cNvSpPr>
          <p:nvPr/>
        </p:nvSpPr>
        <p:spPr>
          <a:xfrm>
            <a:off x="89535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3" name="Detalle del ítem">
            <a:extLst>
              <a:ext uri="{FF2B5EF4-FFF2-40B4-BE49-F238E27FC236}">
                <a16:creationId xmlns:a16="http://schemas.microsoft.com/office/drawing/2014/main" id="{BD73D3AD-391E-46D8-823D-9900DB41044C}"/>
              </a:ext>
            </a:extLst>
          </p:cNvPr>
          <p:cNvSpPr>
            <a:spLocks noGrp="1"/>
          </p:cNvSpPr>
          <p:nvPr/>
        </p:nvSpPr>
        <p:spPr>
          <a:xfrm>
            <a:off x="895350" y="2809875"/>
            <a:ext cx="2952750" cy="9525"/>
          </a:xfrm>
          <a:prstGeom prst="rect">
            <a:avLst/>
          </a:prstGeom>
          <a:solidFill>
            <a:srgbClr val="D8DDD2"/>
          </a:solidFill>
          <a:ln w="0">
            <a:noFill/>
          </a:ln>
        </p:spPr>
        <p:txBody>
          <a:bodyPr/>
          <a:lstStyle/>
          <a:p>
            <a:endParaRPr lang="es-419"/>
          </a:p>
        </p:txBody>
      </p:sp>
      <p:sp>
        <p:nvSpPr>
          <p:cNvPr id="14" name="Elemento Backend y persistencia">
            <a:extLst>
              <a:ext uri="{FF2B5EF4-FFF2-40B4-BE49-F238E27FC236}">
                <a16:creationId xmlns:a16="http://schemas.microsoft.com/office/drawing/2014/main" id="{3799C0A0-7A29-4C47-92A8-27189F446821}"/>
              </a:ext>
            </a:extLst>
          </p:cNvPr>
          <p:cNvSpPr>
            <a:spLocks noGrp="1"/>
          </p:cNvSpPr>
          <p:nvPr/>
        </p:nvSpPr>
        <p:spPr>
          <a:xfrm>
            <a:off x="89535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Backend y persistencia</a:t>
            </a:r>
          </a:p>
        </p:txBody>
      </p:sp>
      <p:sp>
        <p:nvSpPr>
          <p:cNvPr id="15" name="Elemento 02">
            <a:extLst>
              <a:ext uri="{FF2B5EF4-FFF2-40B4-BE49-F238E27FC236}">
                <a16:creationId xmlns:a16="http://schemas.microsoft.com/office/drawing/2014/main" id="{13F69380-E2E6-4B99-A55D-C8B8A88CEAC7}"/>
              </a:ext>
            </a:extLst>
          </p:cNvPr>
          <p:cNvSpPr>
            <a:spLocks noGrp="1"/>
          </p:cNvSpPr>
          <p:nvPr/>
        </p:nvSpPr>
        <p:spPr>
          <a:xfrm>
            <a:off x="461010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6" name="Detalle del ítem">
            <a:extLst>
              <a:ext uri="{FF2B5EF4-FFF2-40B4-BE49-F238E27FC236}">
                <a16:creationId xmlns:a16="http://schemas.microsoft.com/office/drawing/2014/main" id="{AC2B3929-0079-40D0-9E1F-38CC4CB4F479}"/>
              </a:ext>
            </a:extLst>
          </p:cNvPr>
          <p:cNvSpPr>
            <a:spLocks noGrp="1"/>
          </p:cNvSpPr>
          <p:nvPr/>
        </p:nvSpPr>
        <p:spPr>
          <a:xfrm>
            <a:off x="4610100" y="2809875"/>
            <a:ext cx="2952750" cy="9525"/>
          </a:xfrm>
          <a:prstGeom prst="rect">
            <a:avLst/>
          </a:prstGeom>
          <a:solidFill>
            <a:srgbClr val="D8DDD2"/>
          </a:solidFill>
          <a:ln w="0">
            <a:noFill/>
          </a:ln>
        </p:spPr>
        <p:txBody>
          <a:bodyPr/>
          <a:lstStyle/>
          <a:p>
            <a:endParaRPr lang="es-419"/>
          </a:p>
        </p:txBody>
      </p:sp>
      <p:sp>
        <p:nvSpPr>
          <p:cNvPr id="17" name="Elemento Aplicación móvil">
            <a:extLst>
              <a:ext uri="{FF2B5EF4-FFF2-40B4-BE49-F238E27FC236}">
                <a16:creationId xmlns:a16="http://schemas.microsoft.com/office/drawing/2014/main" id="{62BE09D4-BA6E-40ED-AF32-7D4729E5A36E}"/>
              </a:ext>
            </a:extLst>
          </p:cNvPr>
          <p:cNvSpPr>
            <a:spLocks noGrp="1"/>
          </p:cNvSpPr>
          <p:nvPr/>
        </p:nvSpPr>
        <p:spPr>
          <a:xfrm>
            <a:off x="461010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Aplicación móvil</a:t>
            </a:r>
          </a:p>
        </p:txBody>
      </p:sp>
      <p:sp>
        <p:nvSpPr>
          <p:cNvPr id="18" name="Elemento 03">
            <a:extLst>
              <a:ext uri="{FF2B5EF4-FFF2-40B4-BE49-F238E27FC236}">
                <a16:creationId xmlns:a16="http://schemas.microsoft.com/office/drawing/2014/main" id="{D2825343-EE13-4551-92EC-DDE8E9D88492}"/>
              </a:ext>
            </a:extLst>
          </p:cNvPr>
          <p:cNvSpPr>
            <a:spLocks noGrp="1"/>
          </p:cNvSpPr>
          <p:nvPr/>
        </p:nvSpPr>
        <p:spPr>
          <a:xfrm>
            <a:off x="8324850" y="24003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19" name="Detalle del ítem">
            <a:extLst>
              <a:ext uri="{FF2B5EF4-FFF2-40B4-BE49-F238E27FC236}">
                <a16:creationId xmlns:a16="http://schemas.microsoft.com/office/drawing/2014/main" id="{D511E801-A8F0-428F-AE71-3B959B874778}"/>
              </a:ext>
            </a:extLst>
          </p:cNvPr>
          <p:cNvSpPr>
            <a:spLocks noGrp="1"/>
          </p:cNvSpPr>
          <p:nvPr/>
        </p:nvSpPr>
        <p:spPr>
          <a:xfrm>
            <a:off x="8324850" y="2809875"/>
            <a:ext cx="2952750" cy="9525"/>
          </a:xfrm>
          <a:prstGeom prst="rect">
            <a:avLst/>
          </a:prstGeom>
          <a:solidFill>
            <a:srgbClr val="D8DDD2"/>
          </a:solidFill>
          <a:ln w="0">
            <a:noFill/>
          </a:ln>
        </p:spPr>
        <p:txBody>
          <a:bodyPr/>
          <a:lstStyle/>
          <a:p>
            <a:endParaRPr lang="es-419"/>
          </a:p>
        </p:txBody>
      </p:sp>
      <p:sp>
        <p:nvSpPr>
          <p:cNvPr id="20" name="Elemento Coordinación del plan">
            <a:extLst>
              <a:ext uri="{FF2B5EF4-FFF2-40B4-BE49-F238E27FC236}">
                <a16:creationId xmlns:a16="http://schemas.microsoft.com/office/drawing/2014/main" id="{DDFDF935-2B72-4DD0-9AC0-D99A88531660}"/>
              </a:ext>
            </a:extLst>
          </p:cNvPr>
          <p:cNvSpPr>
            <a:spLocks noGrp="1"/>
          </p:cNvSpPr>
          <p:nvPr/>
        </p:nvSpPr>
        <p:spPr>
          <a:xfrm>
            <a:off x="8324850" y="30099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Coordinación del plan</a:t>
            </a:r>
          </a:p>
        </p:txBody>
      </p:sp>
      <p:sp>
        <p:nvSpPr>
          <p:cNvPr id="21" name="Detalle del ítem">
            <a:extLst>
              <a:ext uri="{FF2B5EF4-FFF2-40B4-BE49-F238E27FC236}">
                <a16:creationId xmlns:a16="http://schemas.microsoft.com/office/drawing/2014/main" id="{8903723A-B413-4553-AC64-83F118292936}"/>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436881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5DED0B04-3C67-4CB7-9727-1C634AA846F7}"/>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Arquitectura centralizada</a:t>
            </a:r>
          </a:p>
        </p:txBody>
      </p:sp>
      <p:sp>
        <p:nvSpPr>
          <p:cNvPr id="3" name="Rectángulo 2">
            <a:extLst>
              <a:ext uri="{FF2B5EF4-FFF2-40B4-BE49-F238E27FC236}">
                <a16:creationId xmlns:a16="http://schemas.microsoft.com/office/drawing/2014/main" id="{EADCC3D7-691C-45AD-A641-EBEE3B2C9570}"/>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06</a:t>
            </a:r>
          </a:p>
        </p:txBody>
      </p:sp>
      <p:graphicFrame>
        <p:nvGraphicFramePr>
          <p:cNvPr id="15" name="Tabla 10"/>
          <p:cNvGraphicFramePr/>
          <p:nvPr/>
        </p:nvGraphicFramePr>
        <p:xfrm>
          <a:off x="628650" y="2743200"/>
          <a:ext cx="10934700" cy="2762252"/>
        </p:xfrm>
        <a:graphic>
          <a:graphicData uri="http://schemas.openxmlformats.org/drawingml/2006/table">
            <a:tbl>
              <a:tblPr/>
              <a:tblGrid>
                <a:gridCol w="20002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5600700">
                  <a:extLst>
                    <a:ext uri="{9D8B030D-6E8A-4147-A177-3AD203B41FA5}">
                      <a16:colId xmlns:a16="http://schemas.microsoft.com/office/drawing/2014/main" val="20002"/>
                    </a:ext>
                  </a:extLst>
                </a:gridCol>
              </a:tblGrid>
              <a:tr h="690563">
                <a:tc>
                  <a:txBody>
                    <a:bodyPr/>
                    <a:lstStyle/>
                    <a:p>
                      <a:r>
                        <a:rPr sz="1800" b="1">
                          <a:solidFill>
                            <a:srgbClr val="F7F6F2"/>
                          </a:solidFill>
                          <a:latin typeface="Arial"/>
                          <a:ea typeface="Arial"/>
                          <a:cs typeface="Arial"/>
                        </a:rPr>
                        <a:t>Capa</a:t>
                      </a:r>
                    </a:p>
                  </a:txBody>
                  <a:tcPr>
                    <a:solidFill>
                      <a:srgbClr val="293B35"/>
                    </a:solidFill>
                  </a:tcPr>
                </a:tc>
                <a:tc>
                  <a:txBody>
                    <a:bodyPr/>
                    <a:lstStyle/>
                    <a:p>
                      <a:r>
                        <a:rPr sz="1800" b="1">
                          <a:solidFill>
                            <a:srgbClr val="F7F6F2"/>
                          </a:solidFill>
                          <a:latin typeface="Arial"/>
                          <a:ea typeface="Arial"/>
                          <a:cs typeface="Arial"/>
                        </a:rPr>
                        <a:t>Tecnología</a:t>
                      </a:r>
                    </a:p>
                  </a:txBody>
                  <a:tcPr>
                    <a:solidFill>
                      <a:srgbClr val="293B35"/>
                    </a:solidFill>
                  </a:tcPr>
                </a:tc>
                <a:tc>
                  <a:txBody>
                    <a:bodyPr/>
                    <a:lstStyle/>
                    <a:p>
                      <a:r>
                        <a:rPr sz="1800" b="1">
                          <a:solidFill>
                            <a:srgbClr val="F7F6F2"/>
                          </a:solidFill>
                          <a:latin typeface="Arial"/>
                          <a:ea typeface="Arial"/>
                          <a:cs typeface="Arial"/>
                        </a:rPr>
                        <a:t>Responsabilidad</a:t>
                      </a:r>
                    </a:p>
                  </a:txBody>
                  <a:tcPr>
                    <a:solidFill>
                      <a:srgbClr val="293B35"/>
                    </a:solidFill>
                  </a:tcPr>
                </a:tc>
                <a:extLst>
                  <a:ext uri="{0D108BD9-81ED-4DB2-BD59-A6C34878D82A}">
                    <a16:rowId xmlns:a16="http://schemas.microsoft.com/office/drawing/2014/main" val="10000"/>
                  </a:ext>
                </a:extLst>
              </a:tr>
              <a:tr h="690563">
                <a:tc>
                  <a:txBody>
                    <a:bodyPr/>
                    <a:lstStyle/>
                    <a:p>
                      <a:r>
                        <a:rPr sz="1725" b="0">
                          <a:solidFill>
                            <a:srgbClr val="414B45"/>
                          </a:solidFill>
                          <a:latin typeface="Arial"/>
                          <a:ea typeface="Arial"/>
                          <a:cs typeface="Arial"/>
                        </a:rPr>
                        <a:t>Presentación</a:t>
                      </a:r>
                    </a:p>
                  </a:txBody>
                  <a:tcPr>
                    <a:solidFill>
                      <a:srgbClr val="F0EEE7"/>
                    </a:solidFill>
                  </a:tcPr>
                </a:tc>
                <a:tc>
                  <a:txBody>
                    <a:bodyPr/>
                    <a:lstStyle/>
                    <a:p>
                      <a:r>
                        <a:rPr sz="1725" b="0">
                          <a:solidFill>
                            <a:srgbClr val="414B45"/>
                          </a:solidFill>
                          <a:latin typeface="Arial"/>
                          <a:ea typeface="Arial"/>
                          <a:cs typeface="Arial"/>
                        </a:rPr>
                        <a:t>Angular e Ionic + Angular</a:t>
                      </a:r>
                    </a:p>
                  </a:txBody>
                  <a:tcPr>
                    <a:solidFill>
                      <a:srgbClr val="F0EEE7"/>
                    </a:solidFill>
                  </a:tcPr>
                </a:tc>
                <a:tc>
                  <a:txBody>
                    <a:bodyPr/>
                    <a:lstStyle/>
                    <a:p>
                      <a:r>
                        <a:rPr sz="1725" b="0">
                          <a:solidFill>
                            <a:srgbClr val="414B45"/>
                          </a:solidFill>
                          <a:latin typeface="Arial"/>
                          <a:ea typeface="Arial"/>
                          <a:cs typeface="Arial"/>
                        </a:rPr>
                        <a:t>Mostrar catálogo, formularios y estados al usuario</a:t>
                      </a:r>
                    </a:p>
                  </a:txBody>
                  <a:tcPr>
                    <a:solidFill>
                      <a:srgbClr val="F0EEE7"/>
                    </a:solidFill>
                  </a:tcPr>
                </a:tc>
                <a:extLst>
                  <a:ext uri="{0D108BD9-81ED-4DB2-BD59-A6C34878D82A}">
                    <a16:rowId xmlns:a16="http://schemas.microsoft.com/office/drawing/2014/main" val="10001"/>
                  </a:ext>
                </a:extLst>
              </a:tr>
              <a:tr h="690563">
                <a:tc>
                  <a:txBody>
                    <a:bodyPr/>
                    <a:lstStyle/>
                    <a:p>
                      <a:r>
                        <a:rPr sz="1725" b="0">
                          <a:solidFill>
                            <a:srgbClr val="414B45"/>
                          </a:solidFill>
                          <a:latin typeface="Arial"/>
                          <a:ea typeface="Arial"/>
                          <a:cs typeface="Arial"/>
                        </a:rPr>
                        <a:t>Negocio</a:t>
                      </a:r>
                    </a:p>
                  </a:txBody>
                  <a:tcPr>
                    <a:solidFill>
                      <a:srgbClr val="E6E8DF"/>
                    </a:solidFill>
                  </a:tcPr>
                </a:tc>
                <a:tc>
                  <a:txBody>
                    <a:bodyPr/>
                    <a:lstStyle/>
                    <a:p>
                      <a:r>
                        <a:rPr sz="1725" b="0">
                          <a:solidFill>
                            <a:srgbClr val="414B45"/>
                          </a:solidFill>
                          <a:latin typeface="Arial"/>
                          <a:ea typeface="Arial"/>
                          <a:cs typeface="Arial"/>
                        </a:rPr>
                        <a:t>API REST con Spring Boot</a:t>
                      </a:r>
                    </a:p>
                  </a:txBody>
                  <a:tcPr>
                    <a:solidFill>
                      <a:srgbClr val="E6E8DF"/>
                    </a:solidFill>
                  </a:tcPr>
                </a:tc>
                <a:tc>
                  <a:txBody>
                    <a:bodyPr/>
                    <a:lstStyle/>
                    <a:p>
                      <a:r>
                        <a:rPr sz="1725" b="0">
                          <a:solidFill>
                            <a:srgbClr val="414B45"/>
                          </a:solidFill>
                          <a:latin typeface="Arial"/>
                          <a:ea typeface="Arial"/>
                          <a:cs typeface="Arial"/>
                        </a:rPr>
                        <a:t>Aplicar cálculos, permisos y operaciones del sistema</a:t>
                      </a:r>
                    </a:p>
                  </a:txBody>
                  <a:tcPr>
                    <a:solidFill>
                      <a:srgbClr val="E6E8DF"/>
                    </a:solidFill>
                  </a:tcPr>
                </a:tc>
                <a:extLst>
                  <a:ext uri="{0D108BD9-81ED-4DB2-BD59-A6C34878D82A}">
                    <a16:rowId xmlns:a16="http://schemas.microsoft.com/office/drawing/2014/main" val="10002"/>
                  </a:ext>
                </a:extLst>
              </a:tr>
              <a:tr h="690563">
                <a:tc>
                  <a:txBody>
                    <a:bodyPr/>
                    <a:lstStyle/>
                    <a:p>
                      <a:r>
                        <a:rPr sz="1725" b="0">
                          <a:solidFill>
                            <a:srgbClr val="414B45"/>
                          </a:solidFill>
                          <a:latin typeface="Arial"/>
                          <a:ea typeface="Arial"/>
                          <a:cs typeface="Arial"/>
                        </a:rPr>
                        <a:t>Persistencia</a:t>
                      </a:r>
                    </a:p>
                  </a:txBody>
                  <a:tcPr>
                    <a:solidFill>
                      <a:srgbClr val="F0EEE7"/>
                    </a:solidFill>
                  </a:tcPr>
                </a:tc>
                <a:tc>
                  <a:txBody>
                    <a:bodyPr/>
                    <a:lstStyle/>
                    <a:p>
                      <a:r>
                        <a:rPr sz="1725" b="0">
                          <a:solidFill>
                            <a:srgbClr val="414B45"/>
                          </a:solidFill>
                          <a:latin typeface="Arial"/>
                          <a:ea typeface="Arial"/>
                          <a:cs typeface="Arial"/>
                        </a:rPr>
                        <a:t>MySQL y JPA</a:t>
                      </a:r>
                    </a:p>
                  </a:txBody>
                  <a:tcPr>
                    <a:solidFill>
                      <a:srgbClr val="F0EEE7"/>
                    </a:solidFill>
                  </a:tcPr>
                </a:tc>
                <a:tc>
                  <a:txBody>
                    <a:bodyPr/>
                    <a:lstStyle/>
                    <a:p>
                      <a:r>
                        <a:rPr sz="1725" b="0">
                          <a:solidFill>
                            <a:srgbClr val="414B45"/>
                          </a:solidFill>
                          <a:latin typeface="Arial"/>
                          <a:ea typeface="Arial"/>
                          <a:cs typeface="Arial"/>
                        </a:rPr>
                        <a:t>Guardar y relacionar los datos de forma consistente</a:t>
                      </a:r>
                    </a:p>
                  </a:txBody>
                  <a:tcPr>
                    <a:solidFill>
                      <a:srgbClr val="F0EEE7"/>
                    </a:solidFill>
                  </a:tcPr>
                </a:tc>
                <a:extLst>
                  <a:ext uri="{0D108BD9-81ED-4DB2-BD59-A6C34878D82A}">
                    <a16:rowId xmlns:a16="http://schemas.microsoft.com/office/drawing/2014/main" val="10003"/>
                  </a:ext>
                </a:extLst>
              </a:tr>
            </a:tbl>
          </a:graphicData>
        </a:graphic>
      </p:graphicFrame>
      <p:sp>
        <p:nvSpPr>
          <p:cNvPr id="7" name="CuadroTexto 6">
            <a:extLst>
              <a:ext uri="{FF2B5EF4-FFF2-40B4-BE49-F238E27FC236}">
                <a16:creationId xmlns:a16="http://schemas.microsoft.com/office/drawing/2014/main" id="{1FF9B463-E18D-4ED8-2D5D-933F6DE2283A}"/>
              </a:ext>
            </a:extLst>
          </p:cNvPr>
          <p:cNvSpPr>
            <a:spLocks noGrp="1"/>
          </p:cNvSpPr>
          <p:nvPr/>
        </p:nvSpPr>
        <p:spPr>
          <a:xfrm>
            <a:off x="649224" y="1572767"/>
            <a:ext cx="5303520" cy="640080"/>
          </a:xfrm>
          <a:prstGeom prst="rect">
            <a:avLst/>
          </a:prstGeom>
          <a:noFill/>
        </p:spPr>
        <p:txBody>
          <a:bodyPr wrap="square">
            <a:spAutoFit/>
          </a:bodyPr>
          <a:lstStyle/>
          <a:p>
            <a:pPr>
              <a:buNone/>
              <a:defRPr>
                <a:solidFill>
                  <a:srgbClr val="414B45"/>
                </a:solidFill>
                <a:latin typeface="Arial"/>
                <a:ea typeface="Arial"/>
                <a:cs typeface="Arial"/>
              </a:defRPr>
            </a:pPr>
            <a:r>
              <a:rPr dirty="0">
                <a:solidFill>
                  <a:srgbClr val="414B45"/>
                </a:solidFill>
                <a:latin typeface="Arial"/>
                <a:ea typeface="Arial"/>
                <a:cs typeface="Arial"/>
              </a:rPr>
              <a:t>Esta </a:t>
            </a:r>
            <a:r>
              <a:rPr dirty="0" err="1">
                <a:solidFill>
                  <a:srgbClr val="414B45"/>
                </a:solidFill>
                <a:latin typeface="Arial"/>
                <a:ea typeface="Arial"/>
                <a:cs typeface="Arial"/>
              </a:rPr>
              <a:t>organización</a:t>
            </a:r>
            <a:r>
              <a:rPr dirty="0">
                <a:solidFill>
                  <a:srgbClr val="414B45"/>
                </a:solidFill>
                <a:latin typeface="Arial"/>
                <a:ea typeface="Arial"/>
                <a:cs typeface="Arial"/>
              </a:rPr>
              <a:t> </a:t>
            </a:r>
            <a:r>
              <a:rPr dirty="0" err="1">
                <a:solidFill>
                  <a:srgbClr val="414B45"/>
                </a:solidFill>
                <a:latin typeface="Arial"/>
                <a:ea typeface="Arial"/>
                <a:cs typeface="Arial"/>
              </a:rPr>
              <a:t>permite</a:t>
            </a:r>
            <a:r>
              <a:rPr dirty="0">
                <a:solidFill>
                  <a:srgbClr val="414B45"/>
                </a:solidFill>
                <a:latin typeface="Arial"/>
                <a:ea typeface="Arial"/>
                <a:cs typeface="Arial"/>
              </a:rPr>
              <a:t> </a:t>
            </a:r>
            <a:r>
              <a:rPr dirty="0" err="1">
                <a:solidFill>
                  <a:srgbClr val="414B45"/>
                </a:solidFill>
                <a:latin typeface="Arial"/>
                <a:ea typeface="Arial"/>
                <a:cs typeface="Arial"/>
              </a:rPr>
              <a:t>que</a:t>
            </a:r>
            <a:r>
              <a:rPr dirty="0">
                <a:solidFill>
                  <a:srgbClr val="414B45"/>
                </a:solidFill>
                <a:latin typeface="Arial"/>
                <a:ea typeface="Arial"/>
                <a:cs typeface="Arial"/>
              </a:rPr>
              <a:t> web y </a:t>
            </a:r>
            <a:r>
              <a:rPr dirty="0" err="1">
                <a:solidFill>
                  <a:srgbClr val="414B45"/>
                </a:solidFill>
                <a:latin typeface="Arial"/>
                <a:ea typeface="Arial"/>
                <a:cs typeface="Arial"/>
              </a:rPr>
              <a:t>móvil</a:t>
            </a:r>
            <a:r>
              <a:rPr dirty="0">
                <a:solidFill>
                  <a:srgbClr val="414B45"/>
                </a:solidFill>
                <a:latin typeface="Arial"/>
                <a:ea typeface="Arial"/>
                <a:cs typeface="Arial"/>
              </a:rPr>
              <a:t> </a:t>
            </a:r>
            <a:r>
              <a:rPr dirty="0" err="1">
                <a:solidFill>
                  <a:srgbClr val="414B45"/>
                </a:solidFill>
                <a:latin typeface="Arial"/>
                <a:ea typeface="Arial"/>
                <a:cs typeface="Arial"/>
              </a:rPr>
              <a:t>utilicen</a:t>
            </a:r>
            <a:r>
              <a:rPr dirty="0">
                <a:solidFill>
                  <a:srgbClr val="414B45"/>
                </a:solidFill>
                <a:latin typeface="Arial"/>
                <a:ea typeface="Arial"/>
                <a:cs typeface="Arial"/>
              </a:rPr>
              <a:t> </a:t>
            </a:r>
            <a:r>
              <a:rPr dirty="0" err="1">
                <a:solidFill>
                  <a:srgbClr val="414B45"/>
                </a:solidFill>
                <a:latin typeface="Arial"/>
                <a:ea typeface="Arial"/>
                <a:cs typeface="Arial"/>
              </a:rPr>
              <a:t>los</a:t>
            </a:r>
            <a:r>
              <a:rPr dirty="0">
                <a:solidFill>
                  <a:srgbClr val="414B45"/>
                </a:solidFill>
                <a:latin typeface="Arial"/>
                <a:ea typeface="Arial"/>
                <a:cs typeface="Arial"/>
              </a:rPr>
              <a:t> </a:t>
            </a:r>
            <a:r>
              <a:rPr dirty="0" err="1">
                <a:solidFill>
                  <a:srgbClr val="414B45"/>
                </a:solidFill>
                <a:latin typeface="Arial"/>
                <a:ea typeface="Arial"/>
                <a:cs typeface="Arial"/>
              </a:rPr>
              <a:t>mismos</a:t>
            </a:r>
            <a:r>
              <a:rPr dirty="0">
                <a:solidFill>
                  <a:srgbClr val="414B45"/>
                </a:solidFill>
                <a:latin typeface="Arial"/>
                <a:ea typeface="Arial"/>
                <a:cs typeface="Arial"/>
              </a:rPr>
              <a:t> </a:t>
            </a:r>
            <a:r>
              <a:rPr dirty="0" err="1">
                <a:solidFill>
                  <a:srgbClr val="414B45"/>
                </a:solidFill>
                <a:latin typeface="Arial"/>
                <a:ea typeface="Arial"/>
                <a:cs typeface="Arial"/>
              </a:rPr>
              <a:t>servicios</a:t>
            </a:r>
            <a:endParaRPr dirty="0">
              <a:solidFill>
                <a:srgbClr val="414B45"/>
              </a:solidFill>
              <a:latin typeface="Arial"/>
              <a:ea typeface="Arial"/>
              <a:cs typeface="Arial"/>
            </a:endParaRPr>
          </a:p>
        </p:txBody>
      </p:sp>
      <p:sp>
        <p:nvSpPr>
          <p:cNvPr id="9" name="CuadroTexto 8">
            <a:extLst>
              <a:ext uri="{FF2B5EF4-FFF2-40B4-BE49-F238E27FC236}">
                <a16:creationId xmlns:a16="http://schemas.microsoft.com/office/drawing/2014/main" id="{7C43D2CB-74EE-C420-CCF5-2FE894217960}"/>
              </a:ext>
            </a:extLst>
          </p:cNvPr>
          <p:cNvSpPr>
            <a:spLocks noGrp="1"/>
          </p:cNvSpPr>
          <p:nvPr/>
        </p:nvSpPr>
        <p:spPr>
          <a:xfrm>
            <a:off x="5952744" y="1572768"/>
            <a:ext cx="5590032" cy="640080"/>
          </a:xfrm>
          <a:prstGeom prst="rect">
            <a:avLst/>
          </a:prstGeom>
          <a:noFill/>
        </p:spPr>
        <p:txBody>
          <a:bodyPr wrap="square">
            <a:spAutoFit/>
          </a:bodyPr>
          <a:lstStyle/>
          <a:p>
            <a:pPr>
              <a:buNone/>
              <a:defRPr>
                <a:solidFill>
                  <a:srgbClr val="414B45"/>
                </a:solidFill>
                <a:latin typeface="Arial"/>
                <a:ea typeface="Arial"/>
                <a:cs typeface="Arial"/>
              </a:defRPr>
            </a:pPr>
            <a:r>
              <a:rPr sz="1800">
                <a:solidFill>
                  <a:srgbClr val="414B45"/>
                </a:solidFill>
                <a:latin typeface="Arial"/>
                <a:ea typeface="Arial"/>
                <a:cs typeface="Arial"/>
              </a:rPr>
              <a:t>La solución separa la interacción con el usuario, las reglas del negocio y el almacenamiento</a:t>
            </a:r>
            <a:endParaRPr/>
          </a:p>
        </p:txBody>
      </p:sp>
      <p:sp>
        <p:nvSpPr>
          <p:cNvPr id="11" name="Detalle del ítem">
            <a:extLst>
              <a:ext uri="{FF2B5EF4-FFF2-40B4-BE49-F238E27FC236}">
                <a16:creationId xmlns:a16="http://schemas.microsoft.com/office/drawing/2014/main" id="{A4597858-EC7E-4925-BC94-3BCC68EAFC08}"/>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1744160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9211DC6-1B80-4B43-8766-46B67372F43E}"/>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Modelo de datos implementado</a:t>
            </a:r>
          </a:p>
        </p:txBody>
      </p:sp>
      <p:sp>
        <p:nvSpPr>
          <p:cNvPr id="3" name="Rectángulo 2">
            <a:extLst>
              <a:ext uri="{FF2B5EF4-FFF2-40B4-BE49-F238E27FC236}">
                <a16:creationId xmlns:a16="http://schemas.microsoft.com/office/drawing/2014/main" id="{F80D90CD-1B56-400F-BE99-F9C1769B471E}"/>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07</a:t>
            </a:r>
          </a:p>
        </p:txBody>
      </p:sp>
      <p:graphicFrame>
        <p:nvGraphicFramePr>
          <p:cNvPr id="12" name="Tabla 10"/>
          <p:cNvGraphicFramePr/>
          <p:nvPr/>
        </p:nvGraphicFramePr>
        <p:xfrm>
          <a:off x="628650" y="1976438"/>
          <a:ext cx="10934700" cy="2905124"/>
        </p:xfrm>
        <a:graphic>
          <a:graphicData uri="http://schemas.openxmlformats.org/drawingml/2006/table">
            <a:tbl>
              <a:tblPr/>
              <a:tblGrid>
                <a:gridCol w="2619375">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3838575">
                  <a:extLst>
                    <a:ext uri="{9D8B030D-6E8A-4147-A177-3AD203B41FA5}">
                      <a16:colId xmlns:a16="http://schemas.microsoft.com/office/drawing/2014/main" val="20002"/>
                    </a:ext>
                  </a:extLst>
                </a:gridCol>
              </a:tblGrid>
              <a:tr h="726281">
                <a:tc>
                  <a:txBody>
                    <a:bodyPr/>
                    <a:lstStyle/>
                    <a:p>
                      <a:r>
                        <a:rPr sz="1800" b="1">
                          <a:solidFill>
                            <a:srgbClr val="F7F6F2"/>
                          </a:solidFill>
                          <a:latin typeface="Arial"/>
                          <a:ea typeface="Arial"/>
                          <a:cs typeface="Arial"/>
                        </a:rPr>
                        <a:t>Grupo de datos</a:t>
                      </a:r>
                    </a:p>
                  </a:txBody>
                  <a:tcPr>
                    <a:solidFill>
                      <a:srgbClr val="293B35"/>
                    </a:solidFill>
                  </a:tcPr>
                </a:tc>
                <a:tc>
                  <a:txBody>
                    <a:bodyPr/>
                    <a:lstStyle/>
                    <a:p>
                      <a:r>
                        <a:rPr sz="1800" b="1">
                          <a:solidFill>
                            <a:srgbClr val="F7F6F2"/>
                          </a:solidFill>
                          <a:latin typeface="Arial"/>
                          <a:ea typeface="Arial"/>
                          <a:cs typeface="Arial"/>
                        </a:rPr>
                        <a:t>Entidades principales</a:t>
                      </a:r>
                      <a:endParaRPr sz="1800" b="1">
                        <a:solidFill>
                          <a:srgbClr val="67DEEB"/>
                        </a:solidFill>
                        <a:latin typeface="Aptos"/>
                        <a:ea typeface="Aptos"/>
                        <a:cs typeface="Aptos"/>
                      </a:endParaRPr>
                    </a:p>
                  </a:txBody>
                  <a:tcPr>
                    <a:solidFill>
                      <a:srgbClr val="293B35"/>
                    </a:solidFill>
                  </a:tcPr>
                </a:tc>
                <a:tc>
                  <a:txBody>
                    <a:bodyPr/>
                    <a:lstStyle/>
                    <a:p>
                      <a:r>
                        <a:rPr sz="1800" b="1">
                          <a:solidFill>
                            <a:srgbClr val="F7F6F2"/>
                          </a:solidFill>
                          <a:latin typeface="Arial"/>
                          <a:ea typeface="Arial"/>
                          <a:cs typeface="Arial"/>
                        </a:rPr>
                        <a:t>Función en el proceso</a:t>
                      </a:r>
                    </a:p>
                  </a:txBody>
                  <a:tcPr>
                    <a:solidFill>
                      <a:srgbClr val="293B35"/>
                    </a:solidFill>
                  </a:tcPr>
                </a:tc>
                <a:extLst>
                  <a:ext uri="{0D108BD9-81ED-4DB2-BD59-A6C34878D82A}">
                    <a16:rowId xmlns:a16="http://schemas.microsoft.com/office/drawing/2014/main" val="10000"/>
                  </a:ext>
                </a:extLst>
              </a:tr>
              <a:tr h="726281">
                <a:tc>
                  <a:txBody>
                    <a:bodyPr/>
                    <a:lstStyle/>
                    <a:p>
                      <a:r>
                        <a:rPr sz="1725" b="0">
                          <a:solidFill>
                            <a:srgbClr val="414B45"/>
                          </a:solidFill>
                          <a:latin typeface="Arial"/>
                          <a:ea typeface="Arial"/>
                          <a:cs typeface="Arial"/>
                        </a:rPr>
                        <a:t>Acceso y catálogo</a:t>
                      </a:r>
                    </a:p>
                  </a:txBody>
                  <a:tcPr>
                    <a:solidFill>
                      <a:srgbClr val="F0EEE7"/>
                    </a:solidFill>
                  </a:tcPr>
                </a:tc>
                <a:tc>
                  <a:txBody>
                    <a:bodyPr/>
                    <a:lstStyle/>
                    <a:p>
                      <a:r>
                        <a:rPr sz="1725" b="0">
                          <a:solidFill>
                            <a:srgbClr val="414B45"/>
                          </a:solidFill>
                          <a:latin typeface="Arial"/>
                          <a:ea typeface="Arial"/>
                          <a:cs typeface="Arial"/>
                        </a:rPr>
                        <a:t>Usuarios, productos, telas, mecanismos y servicios</a:t>
                      </a:r>
                    </a:p>
                  </a:txBody>
                  <a:tcPr>
                    <a:solidFill>
                      <a:srgbClr val="F0EEE7"/>
                    </a:solidFill>
                  </a:tcPr>
                </a:tc>
                <a:tc>
                  <a:txBody>
                    <a:bodyPr/>
                    <a:lstStyle/>
                    <a:p>
                      <a:r>
                        <a:rPr sz="1725" b="0">
                          <a:solidFill>
                            <a:srgbClr val="414B45"/>
                          </a:solidFill>
                          <a:latin typeface="Arial"/>
                          <a:ea typeface="Arial"/>
                          <a:cs typeface="Arial"/>
                        </a:rPr>
                        <a:t>Identificar actores y opciones de venta</a:t>
                      </a:r>
                    </a:p>
                  </a:txBody>
                  <a:tcPr>
                    <a:solidFill>
                      <a:srgbClr val="F0EEE7"/>
                    </a:solidFill>
                  </a:tcPr>
                </a:tc>
                <a:extLst>
                  <a:ext uri="{0D108BD9-81ED-4DB2-BD59-A6C34878D82A}">
                    <a16:rowId xmlns:a16="http://schemas.microsoft.com/office/drawing/2014/main" val="10001"/>
                  </a:ext>
                </a:extLst>
              </a:tr>
              <a:tr h="726281">
                <a:tc>
                  <a:txBody>
                    <a:bodyPr/>
                    <a:lstStyle/>
                    <a:p>
                      <a:r>
                        <a:rPr sz="1725" b="0">
                          <a:solidFill>
                            <a:srgbClr val="414B45"/>
                          </a:solidFill>
                          <a:latin typeface="Arial"/>
                          <a:ea typeface="Arial"/>
                          <a:cs typeface="Arial"/>
                        </a:rPr>
                        <a:t>Ciclo comercial</a:t>
                      </a:r>
                    </a:p>
                  </a:txBody>
                  <a:tcPr>
                    <a:solidFill>
                      <a:srgbClr val="E6E8DF"/>
                    </a:solidFill>
                  </a:tcPr>
                </a:tc>
                <a:tc>
                  <a:txBody>
                    <a:bodyPr/>
                    <a:lstStyle/>
                    <a:p>
                      <a:r>
                        <a:rPr sz="1725" b="0">
                          <a:solidFill>
                            <a:srgbClr val="414B45"/>
                          </a:solidFill>
                          <a:latin typeface="Arial"/>
                          <a:ea typeface="Arial"/>
                          <a:cs typeface="Arial"/>
                        </a:rPr>
                        <a:t>Cotizaciones, pagos y pedidos</a:t>
                      </a:r>
                    </a:p>
                  </a:txBody>
                  <a:tcPr>
                    <a:solidFill>
                      <a:srgbClr val="E6E8DF"/>
                    </a:solidFill>
                  </a:tcPr>
                </a:tc>
                <a:tc>
                  <a:txBody>
                    <a:bodyPr/>
                    <a:lstStyle/>
                    <a:p>
                      <a:r>
                        <a:rPr sz="1725" b="0">
                          <a:solidFill>
                            <a:srgbClr val="414B45"/>
                          </a:solidFill>
                          <a:latin typeface="Arial"/>
                          <a:ea typeface="Arial"/>
                          <a:cs typeface="Arial"/>
                        </a:rPr>
                        <a:t>Relacionar presupuesto, pago y solicitud</a:t>
                      </a:r>
                    </a:p>
                  </a:txBody>
                  <a:tcPr>
                    <a:solidFill>
                      <a:srgbClr val="E6E8DF"/>
                    </a:solidFill>
                  </a:tcPr>
                </a:tc>
                <a:extLst>
                  <a:ext uri="{0D108BD9-81ED-4DB2-BD59-A6C34878D82A}">
                    <a16:rowId xmlns:a16="http://schemas.microsoft.com/office/drawing/2014/main" val="10002"/>
                  </a:ext>
                </a:extLst>
              </a:tr>
              <a:tr h="726281">
                <a:tc>
                  <a:txBody>
                    <a:bodyPr/>
                    <a:lstStyle/>
                    <a:p>
                      <a:r>
                        <a:rPr sz="1725" b="0">
                          <a:solidFill>
                            <a:srgbClr val="414B45"/>
                          </a:solidFill>
                          <a:latin typeface="Arial"/>
                          <a:ea typeface="Arial"/>
                          <a:cs typeface="Arial"/>
                        </a:rPr>
                        <a:t>Operación y seguimiento</a:t>
                      </a:r>
                      <a:endParaRPr sz="1725" b="0">
                        <a:solidFill>
                          <a:srgbClr val="E2EAF3"/>
                        </a:solidFill>
                        <a:latin typeface="Aptos"/>
                        <a:ea typeface="Aptos"/>
                        <a:cs typeface="Aptos"/>
                      </a:endParaRPr>
                    </a:p>
                  </a:txBody>
                  <a:tcPr>
                    <a:solidFill>
                      <a:srgbClr val="F0EEE7"/>
                    </a:solidFill>
                  </a:tcPr>
                </a:tc>
                <a:tc>
                  <a:txBody>
                    <a:bodyPr/>
                    <a:lstStyle/>
                    <a:p>
                      <a:r>
                        <a:rPr sz="1725" b="0">
                          <a:solidFill>
                            <a:srgbClr val="414B45"/>
                          </a:solidFill>
                          <a:latin typeface="Arial"/>
                          <a:ea typeface="Arial"/>
                          <a:cs typeface="Arial"/>
                        </a:rPr>
                        <a:t>Agenda, visitas, comisiones, reseñas y postventa</a:t>
                      </a:r>
                      <a:endParaRPr sz="1725" b="0">
                        <a:solidFill>
                          <a:srgbClr val="E2EAF3"/>
                        </a:solidFill>
                        <a:latin typeface="Aptos"/>
                        <a:ea typeface="Aptos"/>
                        <a:cs typeface="Aptos"/>
                      </a:endParaRPr>
                    </a:p>
                  </a:txBody>
                  <a:tcPr>
                    <a:solidFill>
                      <a:srgbClr val="F0EEE7"/>
                    </a:solidFill>
                  </a:tcPr>
                </a:tc>
                <a:tc>
                  <a:txBody>
                    <a:bodyPr/>
                    <a:lstStyle/>
                    <a:p>
                      <a:r>
                        <a:rPr sz="1725" b="0">
                          <a:solidFill>
                            <a:srgbClr val="414B45"/>
                          </a:solidFill>
                          <a:latin typeface="Arial"/>
                          <a:ea typeface="Arial"/>
                          <a:cs typeface="Arial"/>
                        </a:rPr>
                        <a:t>Coordinar atención y conservar su historial</a:t>
                      </a:r>
                      <a:endParaRPr sz="1725" b="0">
                        <a:solidFill>
                          <a:srgbClr val="E2EAF3"/>
                        </a:solidFill>
                        <a:latin typeface="Aptos"/>
                        <a:ea typeface="Aptos"/>
                        <a:cs typeface="Aptos"/>
                      </a:endParaRPr>
                    </a:p>
                  </a:txBody>
                  <a:tcPr>
                    <a:solidFill>
                      <a:srgbClr val="F0EEE7"/>
                    </a:solidFill>
                  </a:tcPr>
                </a:tc>
                <a:extLst>
                  <a:ext uri="{0D108BD9-81ED-4DB2-BD59-A6C34878D82A}">
                    <a16:rowId xmlns:a16="http://schemas.microsoft.com/office/drawing/2014/main" val="10003"/>
                  </a:ext>
                </a:extLst>
              </a:tr>
            </a:tbl>
          </a:graphicData>
        </a:graphic>
      </p:graphicFrame>
      <p:sp>
        <p:nvSpPr>
          <p:cNvPr id="8" name="Detalle del ítem">
            <a:extLst>
              <a:ext uri="{FF2B5EF4-FFF2-40B4-BE49-F238E27FC236}">
                <a16:creationId xmlns:a16="http://schemas.microsoft.com/office/drawing/2014/main" id="{2EAFC980-70FA-48E9-87B4-E147B8744430}"/>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632537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02BC5F00-0FD1-4CEC-B15D-C0A1771FFC18}"/>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Backend y seguridad</a:t>
            </a:r>
          </a:p>
        </p:txBody>
      </p:sp>
      <p:sp>
        <p:nvSpPr>
          <p:cNvPr id="2" name="Rectángulo 1">
            <a:extLst>
              <a:ext uri="{FF2B5EF4-FFF2-40B4-BE49-F238E27FC236}">
                <a16:creationId xmlns:a16="http://schemas.microsoft.com/office/drawing/2014/main" id="{8F923B86-DEDB-4D6B-86BF-52C44DDA70F4}"/>
              </a:ext>
            </a:extLst>
          </p:cNvPr>
          <p:cNvSpPr>
            <a:spLocks noGrp="1"/>
          </p:cNvSpPr>
          <p:nvPr/>
        </p:nvSpPr>
        <p:spPr>
          <a:xfrm>
            <a:off x="628650" y="1362075"/>
            <a:ext cx="10934700" cy="1000125"/>
          </a:xfrm>
          <a:prstGeom prst="rect">
            <a:avLst/>
          </a:prstGeom>
          <a:noFill/>
          <a:ln w="0">
            <a:noFill/>
          </a:ln>
        </p:spPr>
        <p:txBody>
          <a:bodyPr lIns="0" tIns="0" rIns="0" bIns="0">
            <a:noAutofit/>
          </a:bodyPr>
          <a:lstStyle/>
          <a:p>
            <a:pPr algn="l">
              <a:buNone/>
              <a:defRPr sz="2100" b="0">
                <a:solidFill>
                  <a:srgbClr val="D6E1EE"/>
                </a:solidFill>
                <a:latin typeface="Aptos"/>
                <a:ea typeface="Aptos"/>
                <a:cs typeface="Aptos"/>
              </a:defRPr>
            </a:pPr>
            <a:endParaRPr sz="2100" b="0">
              <a:solidFill>
                <a:srgbClr val="D6E1EE"/>
              </a:solidFill>
              <a:latin typeface="Aptos"/>
              <a:ea typeface="Aptos"/>
              <a:cs typeface="Aptos"/>
            </a:endParaRPr>
          </a:p>
        </p:txBody>
      </p:sp>
      <p:sp>
        <p:nvSpPr>
          <p:cNvPr id="3" name="Rectángulo 2">
            <a:extLst>
              <a:ext uri="{FF2B5EF4-FFF2-40B4-BE49-F238E27FC236}">
                <a16:creationId xmlns:a16="http://schemas.microsoft.com/office/drawing/2014/main" id="{2154E983-FD27-4E60-9661-A4A920937A67}"/>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08</a:t>
            </a:r>
          </a:p>
        </p:txBody>
      </p:sp>
      <p:pic>
        <p:nvPicPr>
          <p:cNvPr id="23" name="Imagen 14"/>
          <p:cNvPicPr>
            <a:picLocks noChangeAspect="1"/>
          </p:cNvPicPr>
          <p:nvPr/>
        </p:nvPicPr>
        <p:blipFill>
          <a:blip r:embed="rId3"/>
          <a:stretch/>
        </p:blipFill>
        <p:spPr>
          <a:xfrm>
            <a:off x="628650" y="2382683"/>
            <a:ext cx="3946103" cy="4037167"/>
          </a:xfrm>
          <a:prstGeom prst="rect">
            <a:avLst/>
          </a:prstGeom>
          <a:ln w="11430">
            <a:solidFill>
              <a:srgbClr val="B9C5B8"/>
            </a:solidFill>
            <a:prstDash val="solid"/>
          </a:ln>
        </p:spPr>
      </p:pic>
      <p:sp>
        <p:nvSpPr>
          <p:cNvPr id="5" name="Rectángulo 4">
            <a:extLst>
              <a:ext uri="{FF2B5EF4-FFF2-40B4-BE49-F238E27FC236}">
                <a16:creationId xmlns:a16="http://schemas.microsoft.com/office/drawing/2014/main" id="{84115F18-B3C6-4376-BAFD-82A4092F8BE7}"/>
              </a:ext>
            </a:extLst>
          </p:cNvPr>
          <p:cNvSpPr>
            <a:spLocks noGrp="1"/>
          </p:cNvSpPr>
          <p:nvPr/>
        </p:nvSpPr>
        <p:spPr>
          <a:xfrm>
            <a:off x="5143500" y="2571750"/>
            <a:ext cx="64198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sz="1950" b="1">
              <a:solidFill>
                <a:srgbClr val="52D4E8"/>
              </a:solidFill>
              <a:latin typeface="Aptos"/>
              <a:ea typeface="Aptos"/>
              <a:cs typeface="Aptos"/>
            </a:endParaRPr>
          </a:p>
        </p:txBody>
      </p:sp>
      <p:sp>
        <p:nvSpPr>
          <p:cNvPr id="6" name="Rectángulo 5">
            <a:extLst>
              <a:ext uri="{FF2B5EF4-FFF2-40B4-BE49-F238E27FC236}">
                <a16:creationId xmlns:a16="http://schemas.microsoft.com/office/drawing/2014/main" id="{7ECB5AF6-9C3E-469A-A2C7-AF94096A71BD}"/>
              </a:ext>
            </a:extLst>
          </p:cNvPr>
          <p:cNvSpPr>
            <a:spLocks noGrp="1"/>
          </p:cNvSpPr>
          <p:nvPr/>
        </p:nvSpPr>
        <p:spPr>
          <a:xfrm>
            <a:off x="5372100" y="3362325"/>
            <a:ext cx="59626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Organizamos por controladores, servicios y repositorios</a:t>
            </a:r>
            <a:endParaRPr sz="1800" b="0">
              <a:solidFill>
                <a:srgbClr val="D6E1EE"/>
              </a:solidFill>
              <a:latin typeface="Aptos"/>
              <a:ea typeface="Aptos"/>
              <a:cs typeface="Aptos"/>
            </a:endParaRPr>
          </a:p>
        </p:txBody>
      </p:sp>
      <p:sp>
        <p:nvSpPr>
          <p:cNvPr id="7" name="Rectángulo 6">
            <a:extLst>
              <a:ext uri="{FF2B5EF4-FFF2-40B4-BE49-F238E27FC236}">
                <a16:creationId xmlns:a16="http://schemas.microsoft.com/office/drawing/2014/main" id="{62C15420-4BBC-4DAE-8059-8955AC895ED0}"/>
              </a:ext>
            </a:extLst>
          </p:cNvPr>
          <p:cNvSpPr>
            <a:spLocks noGrp="1"/>
          </p:cNvSpPr>
          <p:nvPr/>
        </p:nvSpPr>
        <p:spPr>
          <a:xfrm>
            <a:off x="5143500" y="4343400"/>
            <a:ext cx="64198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8" name="Rectángulo 7">
            <a:extLst>
              <a:ext uri="{FF2B5EF4-FFF2-40B4-BE49-F238E27FC236}">
                <a16:creationId xmlns:a16="http://schemas.microsoft.com/office/drawing/2014/main" id="{396F9531-4779-4437-9426-01650229BEAC}"/>
              </a:ext>
            </a:extLst>
          </p:cNvPr>
          <p:cNvSpPr>
            <a:spLocks noGrp="1"/>
          </p:cNvSpPr>
          <p:nvPr/>
        </p:nvSpPr>
        <p:spPr>
          <a:xfrm>
            <a:off x="5372100" y="5133975"/>
            <a:ext cx="59626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JWT y Spring Security(identificar a los usuarios y permisos por roles)</a:t>
            </a:r>
            <a:endParaRPr sz="1800" b="0">
              <a:solidFill>
                <a:srgbClr val="D6E1EE"/>
              </a:solidFill>
              <a:latin typeface="Aptos"/>
              <a:ea typeface="Aptos"/>
              <a:cs typeface="Aptos"/>
            </a:endParaRPr>
          </a:p>
        </p:txBody>
      </p:sp>
      <p:sp>
        <p:nvSpPr>
          <p:cNvPr id="4" name="CuadroTexto 3">
            <a:extLst>
              <a:ext uri="{FF2B5EF4-FFF2-40B4-BE49-F238E27FC236}">
                <a16:creationId xmlns:a16="http://schemas.microsoft.com/office/drawing/2014/main" id="{B4DB25E5-0F2E-90F1-8152-3DD80ECBBD41}"/>
              </a:ext>
            </a:extLst>
          </p:cNvPr>
          <p:cNvSpPr>
            <a:spLocks noGrp="1"/>
          </p:cNvSpPr>
          <p:nvPr/>
        </p:nvSpPr>
        <p:spPr>
          <a:xfrm>
            <a:off x="628650" y="1238250"/>
            <a:ext cx="7607808" cy="1188720"/>
          </a:xfrm>
          <a:prstGeom prst="rect">
            <a:avLst/>
          </a:prstGeom>
          <a:noFill/>
        </p:spPr>
        <p:txBody>
          <a:bodyPr wrap="square">
            <a:spAutoFit/>
          </a:bodyPr>
          <a:lstStyle/>
          <a:p>
            <a:pPr>
              <a:buNone/>
              <a:defRPr>
                <a:solidFill>
                  <a:srgbClr val="414B45"/>
                </a:solidFill>
                <a:latin typeface="Arial"/>
                <a:ea typeface="Arial"/>
                <a:cs typeface="Arial"/>
              </a:defRPr>
            </a:pPr>
            <a:r>
              <a:rPr dirty="0" err="1">
                <a:solidFill>
                  <a:srgbClr val="414B45"/>
                </a:solidFill>
                <a:latin typeface="Arial"/>
                <a:ea typeface="Arial"/>
                <a:cs typeface="Arial"/>
              </a:rPr>
              <a:t>Implementamos</a:t>
            </a:r>
            <a:r>
              <a:rPr dirty="0">
                <a:solidFill>
                  <a:srgbClr val="414B45"/>
                </a:solidFill>
                <a:latin typeface="Arial"/>
                <a:ea typeface="Arial"/>
                <a:cs typeface="Arial"/>
              </a:rPr>
              <a:t> el </a:t>
            </a:r>
            <a:r>
              <a:rPr dirty="0" err="1">
                <a:solidFill>
                  <a:srgbClr val="414B45"/>
                </a:solidFill>
                <a:latin typeface="Arial"/>
                <a:ea typeface="Arial"/>
                <a:cs typeface="Arial"/>
              </a:rPr>
              <a:t>servidor</a:t>
            </a:r>
            <a:r>
              <a:rPr dirty="0">
                <a:solidFill>
                  <a:srgbClr val="414B45"/>
                </a:solidFill>
                <a:latin typeface="Arial"/>
                <a:ea typeface="Arial"/>
                <a:cs typeface="Arial"/>
              </a:rPr>
              <a:t> de la </a:t>
            </a:r>
            <a:r>
              <a:rPr dirty="0" err="1">
                <a:solidFill>
                  <a:srgbClr val="414B45"/>
                </a:solidFill>
                <a:latin typeface="Arial"/>
                <a:ea typeface="Arial"/>
                <a:cs typeface="Arial"/>
              </a:rPr>
              <a:t>aplicación</a:t>
            </a:r>
            <a:r>
              <a:rPr dirty="0">
                <a:solidFill>
                  <a:srgbClr val="414B45"/>
                </a:solidFill>
                <a:latin typeface="Arial"/>
                <a:ea typeface="Arial"/>
                <a:cs typeface="Arial"/>
              </a:rPr>
              <a:t> (backend) </a:t>
            </a:r>
            <a:r>
              <a:rPr dirty="0" err="1">
                <a:solidFill>
                  <a:srgbClr val="414B45"/>
                </a:solidFill>
                <a:latin typeface="Arial"/>
                <a:ea typeface="Arial"/>
                <a:cs typeface="Arial"/>
              </a:rPr>
              <a:t>en</a:t>
            </a:r>
            <a:r>
              <a:rPr dirty="0">
                <a:solidFill>
                  <a:srgbClr val="414B45"/>
                </a:solidFill>
                <a:latin typeface="Arial"/>
                <a:ea typeface="Arial"/>
                <a:cs typeface="Arial"/>
              </a:rPr>
              <a:t> Java Spring Boot para </a:t>
            </a:r>
            <a:r>
              <a:rPr dirty="0" err="1">
                <a:solidFill>
                  <a:srgbClr val="414B45"/>
                </a:solidFill>
                <a:latin typeface="Arial"/>
                <a:ea typeface="Arial"/>
                <a:cs typeface="Arial"/>
              </a:rPr>
              <a:t>procesar</a:t>
            </a:r>
            <a:r>
              <a:rPr dirty="0">
                <a:solidFill>
                  <a:srgbClr val="414B45"/>
                </a:solidFill>
                <a:latin typeface="Arial"/>
                <a:ea typeface="Arial"/>
                <a:cs typeface="Arial"/>
              </a:rPr>
              <a:t> las solicitudes de las interfaces. La </a:t>
            </a:r>
            <a:r>
              <a:rPr dirty="0" err="1">
                <a:solidFill>
                  <a:srgbClr val="414B45"/>
                </a:solidFill>
                <a:latin typeface="Arial"/>
                <a:ea typeface="Arial"/>
                <a:cs typeface="Arial"/>
              </a:rPr>
              <a:t>separación</a:t>
            </a:r>
            <a:r>
              <a:rPr dirty="0">
                <a:solidFill>
                  <a:srgbClr val="414B45"/>
                </a:solidFill>
                <a:latin typeface="Arial"/>
                <a:ea typeface="Arial"/>
                <a:cs typeface="Arial"/>
              </a:rPr>
              <a:t> </a:t>
            </a:r>
            <a:r>
              <a:rPr dirty="0" err="1">
                <a:solidFill>
                  <a:srgbClr val="414B45"/>
                </a:solidFill>
                <a:latin typeface="Arial"/>
                <a:ea typeface="Arial"/>
                <a:cs typeface="Arial"/>
              </a:rPr>
              <a:t>por</a:t>
            </a:r>
            <a:r>
              <a:rPr dirty="0">
                <a:solidFill>
                  <a:srgbClr val="414B45"/>
                </a:solidFill>
                <a:latin typeface="Arial"/>
                <a:ea typeface="Arial"/>
                <a:cs typeface="Arial"/>
              </a:rPr>
              <a:t> </a:t>
            </a:r>
            <a:r>
              <a:rPr dirty="0" err="1">
                <a:solidFill>
                  <a:srgbClr val="414B45"/>
                </a:solidFill>
                <a:latin typeface="Arial"/>
                <a:ea typeface="Arial"/>
                <a:cs typeface="Arial"/>
              </a:rPr>
              <a:t>capas</a:t>
            </a:r>
            <a:r>
              <a:rPr dirty="0">
                <a:solidFill>
                  <a:srgbClr val="414B45"/>
                </a:solidFill>
                <a:latin typeface="Arial"/>
                <a:ea typeface="Arial"/>
                <a:cs typeface="Arial"/>
              </a:rPr>
              <a:t> </a:t>
            </a:r>
            <a:r>
              <a:rPr dirty="0" err="1">
                <a:solidFill>
                  <a:srgbClr val="414B45"/>
                </a:solidFill>
                <a:latin typeface="Arial"/>
                <a:ea typeface="Arial"/>
                <a:cs typeface="Arial"/>
              </a:rPr>
              <a:t>facilita</a:t>
            </a:r>
            <a:r>
              <a:rPr dirty="0">
                <a:solidFill>
                  <a:srgbClr val="414B45"/>
                </a:solidFill>
                <a:latin typeface="Arial"/>
                <a:ea typeface="Arial"/>
                <a:cs typeface="Arial"/>
              </a:rPr>
              <a:t> </a:t>
            </a:r>
            <a:r>
              <a:rPr dirty="0" err="1">
                <a:solidFill>
                  <a:srgbClr val="414B45"/>
                </a:solidFill>
                <a:latin typeface="Arial"/>
                <a:ea typeface="Arial"/>
                <a:cs typeface="Arial"/>
              </a:rPr>
              <a:t>revisar</a:t>
            </a:r>
            <a:r>
              <a:rPr dirty="0">
                <a:solidFill>
                  <a:srgbClr val="414B45"/>
                </a:solidFill>
                <a:latin typeface="Arial"/>
                <a:ea typeface="Arial"/>
                <a:cs typeface="Arial"/>
              </a:rPr>
              <a:t> y </a:t>
            </a:r>
            <a:r>
              <a:rPr dirty="0" err="1">
                <a:solidFill>
                  <a:srgbClr val="414B45"/>
                </a:solidFill>
                <a:latin typeface="Arial"/>
                <a:ea typeface="Arial"/>
                <a:cs typeface="Arial"/>
              </a:rPr>
              <a:t>mantener</a:t>
            </a:r>
            <a:r>
              <a:rPr dirty="0">
                <a:solidFill>
                  <a:srgbClr val="414B45"/>
                </a:solidFill>
                <a:latin typeface="Arial"/>
                <a:ea typeface="Arial"/>
                <a:cs typeface="Arial"/>
              </a:rPr>
              <a:t> las </a:t>
            </a:r>
            <a:r>
              <a:rPr dirty="0" err="1">
                <a:solidFill>
                  <a:srgbClr val="414B45"/>
                </a:solidFill>
                <a:latin typeface="Arial"/>
                <a:ea typeface="Arial"/>
                <a:cs typeface="Arial"/>
              </a:rPr>
              <a:t>funciones</a:t>
            </a:r>
            <a:r>
              <a:rPr dirty="0">
                <a:solidFill>
                  <a:srgbClr val="414B45"/>
                </a:solidFill>
                <a:latin typeface="Arial"/>
                <a:ea typeface="Arial"/>
                <a:cs typeface="Arial"/>
              </a:rPr>
              <a:t> del </a:t>
            </a:r>
            <a:r>
              <a:rPr dirty="0" err="1">
                <a:solidFill>
                  <a:srgbClr val="414B45"/>
                </a:solidFill>
                <a:latin typeface="Arial"/>
                <a:ea typeface="Arial"/>
                <a:cs typeface="Arial"/>
              </a:rPr>
              <a:t>sistema</a:t>
            </a:r>
            <a:endParaRPr dirty="0">
              <a:solidFill>
                <a:srgbClr val="414B45"/>
              </a:solidFill>
              <a:latin typeface="Arial"/>
              <a:ea typeface="Arial"/>
              <a:cs typeface="Arial"/>
            </a:endParaRPr>
          </a:p>
          <a:p>
            <a:endParaRPr dirty="0"/>
          </a:p>
        </p:txBody>
      </p:sp>
      <p:sp>
        <p:nvSpPr>
          <p:cNvPr id="12" name="Elemento 01">
            <a:extLst>
              <a:ext uri="{FF2B5EF4-FFF2-40B4-BE49-F238E27FC236}">
                <a16:creationId xmlns:a16="http://schemas.microsoft.com/office/drawing/2014/main" id="{E1282BB0-5F3B-4A63-92ED-02690441C186}"/>
              </a:ext>
            </a:extLst>
          </p:cNvPr>
          <p:cNvSpPr>
            <a:spLocks noGrp="1"/>
          </p:cNvSpPr>
          <p:nvPr/>
        </p:nvSpPr>
        <p:spPr>
          <a:xfrm>
            <a:off x="5372100" y="279082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01</a:t>
            </a:r>
          </a:p>
        </p:txBody>
      </p:sp>
      <p:sp>
        <p:nvSpPr>
          <p:cNvPr id="13" name="Elemento Lógica organizada">
            <a:extLst>
              <a:ext uri="{FF2B5EF4-FFF2-40B4-BE49-F238E27FC236}">
                <a16:creationId xmlns:a16="http://schemas.microsoft.com/office/drawing/2014/main" id="{0CE8B88B-16B7-4ECF-A8D7-A03B9017C364}"/>
              </a:ext>
            </a:extLst>
          </p:cNvPr>
          <p:cNvSpPr>
            <a:spLocks noGrp="1"/>
          </p:cNvSpPr>
          <p:nvPr/>
        </p:nvSpPr>
        <p:spPr>
          <a:xfrm>
            <a:off x="5867400" y="2790825"/>
            <a:ext cx="54673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Lógica organizada</a:t>
            </a:r>
          </a:p>
        </p:txBody>
      </p:sp>
      <p:sp>
        <p:nvSpPr>
          <p:cNvPr id="14" name="Detalle del ítem">
            <a:extLst>
              <a:ext uri="{FF2B5EF4-FFF2-40B4-BE49-F238E27FC236}">
                <a16:creationId xmlns:a16="http://schemas.microsoft.com/office/drawing/2014/main" id="{BD342E9A-4BB6-49E6-B251-16A5886542E7}"/>
              </a:ext>
            </a:extLst>
          </p:cNvPr>
          <p:cNvSpPr>
            <a:spLocks noGrp="1"/>
          </p:cNvSpPr>
          <p:nvPr/>
        </p:nvSpPr>
        <p:spPr>
          <a:xfrm>
            <a:off x="5372100" y="3181350"/>
            <a:ext cx="5962650" cy="9525"/>
          </a:xfrm>
          <a:prstGeom prst="rect">
            <a:avLst/>
          </a:prstGeom>
          <a:solidFill>
            <a:srgbClr val="D8DDD2"/>
          </a:solidFill>
          <a:ln w="0">
            <a:noFill/>
          </a:ln>
        </p:spPr>
        <p:txBody>
          <a:bodyPr/>
          <a:lstStyle/>
          <a:p>
            <a:endParaRPr lang="es-419"/>
          </a:p>
        </p:txBody>
      </p:sp>
      <p:sp>
        <p:nvSpPr>
          <p:cNvPr id="15" name="Elemento 02">
            <a:extLst>
              <a:ext uri="{FF2B5EF4-FFF2-40B4-BE49-F238E27FC236}">
                <a16:creationId xmlns:a16="http://schemas.microsoft.com/office/drawing/2014/main" id="{AAD649C0-1BBC-4CE0-8C61-D415471B661F}"/>
              </a:ext>
            </a:extLst>
          </p:cNvPr>
          <p:cNvSpPr>
            <a:spLocks noGrp="1"/>
          </p:cNvSpPr>
          <p:nvPr/>
        </p:nvSpPr>
        <p:spPr>
          <a:xfrm>
            <a:off x="5372100" y="456247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02</a:t>
            </a:r>
          </a:p>
        </p:txBody>
      </p:sp>
      <p:sp>
        <p:nvSpPr>
          <p:cNvPr id="16" name="Elemento Acceso por roles">
            <a:extLst>
              <a:ext uri="{FF2B5EF4-FFF2-40B4-BE49-F238E27FC236}">
                <a16:creationId xmlns:a16="http://schemas.microsoft.com/office/drawing/2014/main" id="{FFA11C85-B84C-40DA-A5F6-2752C45E46BE}"/>
              </a:ext>
            </a:extLst>
          </p:cNvPr>
          <p:cNvSpPr>
            <a:spLocks noGrp="1"/>
          </p:cNvSpPr>
          <p:nvPr/>
        </p:nvSpPr>
        <p:spPr>
          <a:xfrm>
            <a:off x="5867400" y="4562475"/>
            <a:ext cx="54673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Acceso por roles</a:t>
            </a:r>
          </a:p>
        </p:txBody>
      </p:sp>
      <p:sp>
        <p:nvSpPr>
          <p:cNvPr id="17" name="Detalle del ítem">
            <a:extLst>
              <a:ext uri="{FF2B5EF4-FFF2-40B4-BE49-F238E27FC236}">
                <a16:creationId xmlns:a16="http://schemas.microsoft.com/office/drawing/2014/main" id="{93F8AB08-3AE5-47E3-8F0F-3364FD3F966A}"/>
              </a:ext>
            </a:extLst>
          </p:cNvPr>
          <p:cNvSpPr>
            <a:spLocks noGrp="1"/>
          </p:cNvSpPr>
          <p:nvPr/>
        </p:nvSpPr>
        <p:spPr>
          <a:xfrm>
            <a:off x="5372100" y="4953000"/>
            <a:ext cx="5962650" cy="9525"/>
          </a:xfrm>
          <a:prstGeom prst="rect">
            <a:avLst/>
          </a:prstGeom>
          <a:solidFill>
            <a:srgbClr val="D8DDD2"/>
          </a:solidFill>
          <a:ln w="0">
            <a:noFill/>
          </a:ln>
        </p:spPr>
        <p:txBody>
          <a:bodyPr/>
          <a:lstStyle/>
          <a:p>
            <a:endParaRPr lang="es-419"/>
          </a:p>
        </p:txBody>
      </p:sp>
      <p:sp>
        <p:nvSpPr>
          <p:cNvPr id="18" name="Detalle del ítem">
            <a:extLst>
              <a:ext uri="{FF2B5EF4-FFF2-40B4-BE49-F238E27FC236}">
                <a16:creationId xmlns:a16="http://schemas.microsoft.com/office/drawing/2014/main" id="{F84AE2C8-EBAF-4D50-ABB9-348A9B9E4577}"/>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1896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3E99845E-2243-43CE-8DDD-C9D61C121B30}"/>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Catálogo y cotización a medida</a:t>
            </a:r>
          </a:p>
        </p:txBody>
      </p:sp>
      <p:sp>
        <p:nvSpPr>
          <p:cNvPr id="2" name="Rectángulo 1">
            <a:extLst>
              <a:ext uri="{FF2B5EF4-FFF2-40B4-BE49-F238E27FC236}">
                <a16:creationId xmlns:a16="http://schemas.microsoft.com/office/drawing/2014/main" id="{8FC1F8AC-5818-43F3-BC77-F3E549FE9DE8}"/>
              </a:ext>
            </a:extLst>
          </p:cNvPr>
          <p:cNvSpPr>
            <a:spLocks noGrp="1"/>
          </p:cNvSpPr>
          <p:nvPr/>
        </p:nvSpPr>
        <p:spPr>
          <a:xfrm>
            <a:off x="628650" y="1362075"/>
            <a:ext cx="10934700" cy="1000125"/>
          </a:xfrm>
          <a:prstGeom prst="rect">
            <a:avLst/>
          </a:prstGeom>
          <a:noFill/>
          <a:ln w="0">
            <a:noFill/>
          </a:ln>
        </p:spPr>
        <p:txBody>
          <a:bodyPr lIns="0" tIns="0" rIns="0" bIns="0">
            <a:noAutofit/>
          </a:bodyPr>
          <a:lstStyle/>
          <a:p>
            <a:pPr>
              <a:defRPr>
                <a:solidFill>
                  <a:srgbClr val="414B45"/>
                </a:solidFill>
                <a:latin typeface="Arial"/>
                <a:ea typeface="Arial"/>
                <a:cs typeface="Arial"/>
              </a:defRPr>
            </a:pPr>
            <a:r>
              <a:rPr dirty="0">
                <a:solidFill>
                  <a:srgbClr val="414B45"/>
                </a:solidFill>
                <a:latin typeface="Arial"/>
                <a:cs typeface="Arial"/>
              </a:rPr>
              <a:t>El </a:t>
            </a:r>
            <a:r>
              <a:rPr dirty="0" err="1">
                <a:solidFill>
                  <a:srgbClr val="414B45"/>
                </a:solidFill>
                <a:latin typeface="Arial"/>
                <a:cs typeface="Arial"/>
              </a:rPr>
              <a:t>cliente</a:t>
            </a:r>
            <a:r>
              <a:rPr dirty="0">
                <a:solidFill>
                  <a:srgbClr val="414B45"/>
                </a:solidFill>
                <a:latin typeface="Arial"/>
                <a:cs typeface="Arial"/>
              </a:rPr>
              <a:t> consulta </a:t>
            </a:r>
            <a:r>
              <a:rPr dirty="0" err="1">
                <a:solidFill>
                  <a:srgbClr val="414B45"/>
                </a:solidFill>
                <a:latin typeface="Arial"/>
                <a:cs typeface="Arial"/>
              </a:rPr>
              <a:t>los</a:t>
            </a:r>
            <a:r>
              <a:rPr dirty="0">
                <a:solidFill>
                  <a:srgbClr val="414B45"/>
                </a:solidFill>
                <a:latin typeface="Arial"/>
                <a:cs typeface="Arial"/>
              </a:rPr>
              <a:t> </a:t>
            </a:r>
            <a:r>
              <a:rPr dirty="0" err="1">
                <a:solidFill>
                  <a:srgbClr val="414B45"/>
                </a:solidFill>
                <a:latin typeface="Arial"/>
                <a:cs typeface="Arial"/>
              </a:rPr>
              <a:t>productos</a:t>
            </a:r>
            <a:r>
              <a:rPr dirty="0">
                <a:solidFill>
                  <a:srgbClr val="414B45"/>
                </a:solidFill>
                <a:latin typeface="Arial"/>
                <a:cs typeface="Arial"/>
              </a:rPr>
              <a:t> y </a:t>
            </a:r>
            <a:r>
              <a:rPr dirty="0" err="1">
                <a:solidFill>
                  <a:srgbClr val="414B45"/>
                </a:solidFill>
                <a:latin typeface="Arial"/>
                <a:cs typeface="Arial"/>
              </a:rPr>
              <a:t>configura</a:t>
            </a:r>
            <a:r>
              <a:rPr dirty="0">
                <a:solidFill>
                  <a:srgbClr val="414B45"/>
                </a:solidFill>
                <a:latin typeface="Arial"/>
                <a:cs typeface="Arial"/>
              </a:rPr>
              <a:t> </a:t>
            </a:r>
            <a:r>
              <a:rPr dirty="0" err="1">
                <a:solidFill>
                  <a:srgbClr val="414B45"/>
                </a:solidFill>
                <a:latin typeface="Arial"/>
                <a:cs typeface="Arial"/>
              </a:rPr>
              <a:t>una</a:t>
            </a:r>
            <a:r>
              <a:rPr dirty="0">
                <a:solidFill>
                  <a:srgbClr val="414B45"/>
                </a:solidFill>
                <a:latin typeface="Arial"/>
                <a:cs typeface="Arial"/>
              </a:rPr>
              <a:t> </a:t>
            </a:r>
            <a:r>
              <a:rPr dirty="0" err="1">
                <a:solidFill>
                  <a:srgbClr val="414B45"/>
                </a:solidFill>
                <a:latin typeface="Arial"/>
                <a:cs typeface="Arial"/>
              </a:rPr>
              <a:t>cortina</a:t>
            </a:r>
            <a:r>
              <a:rPr dirty="0">
                <a:solidFill>
                  <a:srgbClr val="414B45"/>
                </a:solidFill>
                <a:latin typeface="Arial"/>
                <a:cs typeface="Arial"/>
              </a:rPr>
              <a:t> </a:t>
            </a:r>
            <a:r>
              <a:rPr dirty="0" err="1">
                <a:solidFill>
                  <a:srgbClr val="414B45"/>
                </a:solidFill>
                <a:latin typeface="Arial"/>
                <a:cs typeface="Arial"/>
              </a:rPr>
              <a:t>según</a:t>
            </a:r>
            <a:r>
              <a:rPr dirty="0">
                <a:solidFill>
                  <a:srgbClr val="414B45"/>
                </a:solidFill>
                <a:latin typeface="Arial"/>
                <a:cs typeface="Arial"/>
              </a:rPr>
              <a:t> sus </a:t>
            </a:r>
            <a:r>
              <a:rPr dirty="0" err="1">
                <a:solidFill>
                  <a:srgbClr val="414B45"/>
                </a:solidFill>
                <a:latin typeface="Arial"/>
                <a:cs typeface="Arial"/>
              </a:rPr>
              <a:t>necesidades</a:t>
            </a:r>
            <a:r>
              <a:rPr dirty="0">
                <a:solidFill>
                  <a:srgbClr val="414B45"/>
                </a:solidFill>
                <a:latin typeface="Arial"/>
                <a:cs typeface="Arial"/>
              </a:rPr>
              <a:t>. El </a:t>
            </a:r>
            <a:r>
              <a:rPr dirty="0" err="1">
                <a:solidFill>
                  <a:srgbClr val="414B45"/>
                </a:solidFill>
                <a:latin typeface="Arial"/>
                <a:cs typeface="Arial"/>
              </a:rPr>
              <a:t>cotizador</a:t>
            </a:r>
            <a:r>
              <a:rPr dirty="0">
                <a:solidFill>
                  <a:srgbClr val="414B45"/>
                </a:solidFill>
                <a:latin typeface="Arial"/>
                <a:cs typeface="Arial"/>
              </a:rPr>
              <a:t> </a:t>
            </a:r>
            <a:r>
              <a:rPr dirty="0" err="1">
                <a:solidFill>
                  <a:srgbClr val="414B45"/>
                </a:solidFill>
                <a:latin typeface="Arial"/>
                <a:cs typeface="Arial"/>
              </a:rPr>
              <a:t>convierte</a:t>
            </a:r>
            <a:r>
              <a:rPr dirty="0">
                <a:solidFill>
                  <a:srgbClr val="414B45"/>
                </a:solidFill>
                <a:latin typeface="Arial"/>
                <a:cs typeface="Arial"/>
              </a:rPr>
              <a:t> las </a:t>
            </a:r>
            <a:r>
              <a:rPr dirty="0" err="1">
                <a:solidFill>
                  <a:srgbClr val="414B45"/>
                </a:solidFill>
                <a:latin typeface="Arial"/>
                <a:cs typeface="Arial"/>
              </a:rPr>
              <a:t>dimensiones</a:t>
            </a:r>
            <a:r>
              <a:rPr dirty="0">
                <a:solidFill>
                  <a:srgbClr val="414B45"/>
                </a:solidFill>
                <a:latin typeface="Arial"/>
                <a:cs typeface="Arial"/>
              </a:rPr>
              <a:t>, </a:t>
            </a:r>
            <a:r>
              <a:rPr dirty="0" err="1">
                <a:solidFill>
                  <a:srgbClr val="414B45"/>
                </a:solidFill>
                <a:latin typeface="Arial"/>
                <a:cs typeface="Arial"/>
              </a:rPr>
              <a:t>los</a:t>
            </a:r>
            <a:r>
              <a:rPr dirty="0">
                <a:solidFill>
                  <a:srgbClr val="414B45"/>
                </a:solidFill>
                <a:latin typeface="Arial"/>
                <a:cs typeface="Arial"/>
              </a:rPr>
              <a:t> </a:t>
            </a:r>
            <a:r>
              <a:rPr dirty="0" err="1">
                <a:solidFill>
                  <a:srgbClr val="414B45"/>
                </a:solidFill>
                <a:latin typeface="Arial"/>
                <a:cs typeface="Arial"/>
              </a:rPr>
              <a:t>materiales</a:t>
            </a:r>
            <a:r>
              <a:rPr dirty="0">
                <a:solidFill>
                  <a:srgbClr val="414B45"/>
                </a:solidFill>
                <a:latin typeface="Arial"/>
                <a:cs typeface="Arial"/>
              </a:rPr>
              <a:t> y </a:t>
            </a:r>
            <a:r>
              <a:rPr dirty="0" err="1">
                <a:solidFill>
                  <a:srgbClr val="414B45"/>
                </a:solidFill>
                <a:latin typeface="Arial"/>
                <a:cs typeface="Arial"/>
              </a:rPr>
              <a:t>los</a:t>
            </a:r>
            <a:r>
              <a:rPr dirty="0">
                <a:solidFill>
                  <a:srgbClr val="414B45"/>
                </a:solidFill>
                <a:latin typeface="Arial"/>
                <a:cs typeface="Arial"/>
              </a:rPr>
              <a:t> </a:t>
            </a:r>
            <a:r>
              <a:rPr dirty="0" err="1">
                <a:solidFill>
                  <a:srgbClr val="414B45"/>
                </a:solidFill>
                <a:latin typeface="Arial"/>
                <a:cs typeface="Arial"/>
              </a:rPr>
              <a:t>servicios</a:t>
            </a:r>
            <a:r>
              <a:rPr dirty="0">
                <a:solidFill>
                  <a:srgbClr val="414B45"/>
                </a:solidFill>
                <a:latin typeface="Arial"/>
                <a:cs typeface="Arial"/>
              </a:rPr>
              <a:t> </a:t>
            </a:r>
            <a:r>
              <a:rPr dirty="0" err="1">
                <a:solidFill>
                  <a:srgbClr val="414B45"/>
                </a:solidFill>
                <a:latin typeface="Arial"/>
                <a:cs typeface="Arial"/>
              </a:rPr>
              <a:t>en</a:t>
            </a:r>
            <a:r>
              <a:rPr dirty="0">
                <a:solidFill>
                  <a:srgbClr val="414B45"/>
                </a:solidFill>
                <a:latin typeface="Arial"/>
                <a:cs typeface="Arial"/>
              </a:rPr>
              <a:t> un </a:t>
            </a:r>
            <a:r>
              <a:rPr dirty="0" err="1">
                <a:solidFill>
                  <a:srgbClr val="414B45"/>
                </a:solidFill>
                <a:latin typeface="Arial"/>
                <a:cs typeface="Arial"/>
              </a:rPr>
              <a:t>presupuesto</a:t>
            </a:r>
            <a:r>
              <a:rPr dirty="0">
                <a:solidFill>
                  <a:srgbClr val="414B45"/>
                </a:solidFill>
                <a:latin typeface="Arial"/>
                <a:cs typeface="Arial"/>
              </a:rPr>
              <a:t> </a:t>
            </a:r>
            <a:r>
              <a:rPr dirty="0" err="1">
                <a:solidFill>
                  <a:srgbClr val="414B45"/>
                </a:solidFill>
                <a:latin typeface="Arial"/>
                <a:cs typeface="Arial"/>
              </a:rPr>
              <a:t>desglosado</a:t>
            </a:r>
            <a:endParaRPr dirty="0">
              <a:solidFill>
                <a:srgbClr val="414B45"/>
              </a:solidFill>
              <a:latin typeface="Arial"/>
              <a:cs typeface="Arial"/>
            </a:endParaRPr>
          </a:p>
        </p:txBody>
      </p:sp>
      <p:sp>
        <p:nvSpPr>
          <p:cNvPr id="3" name="Rectángulo 2">
            <a:extLst>
              <a:ext uri="{FF2B5EF4-FFF2-40B4-BE49-F238E27FC236}">
                <a16:creationId xmlns:a16="http://schemas.microsoft.com/office/drawing/2014/main" id="{186896BF-463A-4E2A-B9AD-8FE5DDB90D2D}"/>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09</a:t>
            </a:r>
          </a:p>
        </p:txBody>
      </p:sp>
      <p:sp>
        <p:nvSpPr>
          <p:cNvPr id="4" name="Rectángulo 3">
            <a:extLst>
              <a:ext uri="{FF2B5EF4-FFF2-40B4-BE49-F238E27FC236}">
                <a16:creationId xmlns:a16="http://schemas.microsoft.com/office/drawing/2014/main" id="{EEC3E8A1-FA5D-40C9-81CA-FF082FCC447E}"/>
              </a:ext>
            </a:extLst>
          </p:cNvPr>
          <p:cNvSpPr>
            <a:spLocks noGrp="1"/>
          </p:cNvSpPr>
          <p:nvPr/>
        </p:nvSpPr>
        <p:spPr>
          <a:xfrm>
            <a:off x="628650" y="2571750"/>
            <a:ext cx="58102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5" name="Rectángulo 4">
            <a:extLst>
              <a:ext uri="{FF2B5EF4-FFF2-40B4-BE49-F238E27FC236}">
                <a16:creationId xmlns:a16="http://schemas.microsoft.com/office/drawing/2014/main" id="{BF974339-F39A-4F47-9404-2E721C748387}"/>
              </a:ext>
            </a:extLst>
          </p:cNvPr>
          <p:cNvSpPr>
            <a:spLocks noGrp="1"/>
          </p:cNvSpPr>
          <p:nvPr/>
        </p:nvSpPr>
        <p:spPr>
          <a:xfrm>
            <a:off x="857250" y="3362325"/>
            <a:ext cx="53530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El catálogo reúne modelos, telas y mecanismos disponibles para la venta</a:t>
            </a:r>
            <a:endParaRPr sz="1950" b="0">
              <a:solidFill>
                <a:srgbClr val="D6E1EE"/>
              </a:solidFill>
              <a:latin typeface="Aptos"/>
              <a:ea typeface="Aptos"/>
              <a:cs typeface="Aptos"/>
            </a:endParaRPr>
          </a:p>
        </p:txBody>
      </p:sp>
      <p:sp>
        <p:nvSpPr>
          <p:cNvPr id="6" name="Rectángulo 5">
            <a:extLst>
              <a:ext uri="{FF2B5EF4-FFF2-40B4-BE49-F238E27FC236}">
                <a16:creationId xmlns:a16="http://schemas.microsoft.com/office/drawing/2014/main" id="{32C9636F-A7EF-494C-89DB-7C1C3E7B9FD0}"/>
              </a:ext>
            </a:extLst>
          </p:cNvPr>
          <p:cNvSpPr>
            <a:spLocks noGrp="1"/>
          </p:cNvSpPr>
          <p:nvPr/>
        </p:nvSpPr>
        <p:spPr>
          <a:xfrm>
            <a:off x="628650" y="4343400"/>
            <a:ext cx="58102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7A9A6692-2A2A-4446-B5FF-E232141A291F}"/>
              </a:ext>
            </a:extLst>
          </p:cNvPr>
          <p:cNvSpPr>
            <a:spLocks noGrp="1"/>
          </p:cNvSpPr>
          <p:nvPr/>
        </p:nvSpPr>
        <p:spPr>
          <a:xfrm>
            <a:off x="857250" y="5133975"/>
            <a:ext cx="53530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La cotización muestra superficie, materiales, servicios y total estimado antes de continuar</a:t>
            </a:r>
            <a:endParaRPr sz="1950" b="0">
              <a:solidFill>
                <a:srgbClr val="D6E1EE"/>
              </a:solidFill>
              <a:latin typeface="Aptos"/>
              <a:ea typeface="Aptos"/>
              <a:cs typeface="Aptos"/>
            </a:endParaRPr>
          </a:p>
        </p:txBody>
      </p:sp>
      <p:pic>
        <p:nvPicPr>
          <p:cNvPr id="28" name="Imagen 19"/>
          <p:cNvPicPr>
            <a:picLocks noChangeAspect="1"/>
          </p:cNvPicPr>
          <p:nvPr/>
        </p:nvPicPr>
        <p:blipFill>
          <a:blip r:embed="rId3"/>
          <a:stretch/>
        </p:blipFill>
        <p:spPr>
          <a:xfrm>
            <a:off x="6953250" y="3521269"/>
            <a:ext cx="4610100" cy="1568061"/>
          </a:xfrm>
          <a:prstGeom prst="rect">
            <a:avLst/>
          </a:prstGeom>
          <a:ln w="11430">
            <a:solidFill>
              <a:srgbClr val="B9C5B8"/>
            </a:solidFill>
            <a:prstDash val="solid"/>
          </a:ln>
        </p:spPr>
      </p:pic>
      <p:sp>
        <p:nvSpPr>
          <p:cNvPr id="9" name="Rectángulo 8">
            <a:extLst>
              <a:ext uri="{FF2B5EF4-FFF2-40B4-BE49-F238E27FC236}">
                <a16:creationId xmlns:a16="http://schemas.microsoft.com/office/drawing/2014/main" id="{4AC669B7-8B90-4922-A67A-649618A86F1B}"/>
              </a:ext>
            </a:extLst>
          </p:cNvPr>
          <p:cNvSpPr>
            <a:spLocks noGrp="1"/>
          </p:cNvSpPr>
          <p:nvPr/>
        </p:nvSpPr>
        <p:spPr>
          <a:xfrm>
            <a:off x="6953250" y="5429250"/>
            <a:ext cx="4610100" cy="266700"/>
          </a:xfrm>
          <a:prstGeom prst="rect">
            <a:avLst/>
          </a:prstGeom>
          <a:noFill/>
          <a:ln w="0">
            <a:noFill/>
          </a:ln>
        </p:spPr>
        <p:txBody>
          <a:bodyPr lIns="0" tIns="0" rIns="0" bIns="0">
            <a:noAutofit/>
          </a:bodyPr>
          <a:lstStyle/>
          <a:p>
            <a:pPr algn="l">
              <a:buNone/>
              <a:defRPr sz="1350" b="0">
                <a:solidFill>
                  <a:srgbClr val="414B45"/>
                </a:solidFill>
                <a:latin typeface="Arial"/>
                <a:ea typeface="Arial"/>
                <a:cs typeface="Arial"/>
              </a:defRPr>
            </a:pPr>
            <a:r>
              <a:rPr sz="1350" b="0">
                <a:solidFill>
                  <a:srgbClr val="414B45"/>
                </a:solidFill>
                <a:latin typeface="Arial"/>
                <a:ea typeface="Arial"/>
                <a:cs typeface="Arial"/>
              </a:rPr>
              <a:t>Desglose del presupuesto calculado</a:t>
            </a:r>
          </a:p>
        </p:txBody>
      </p:sp>
      <p:sp>
        <p:nvSpPr>
          <p:cNvPr id="13" name="Elemento 01">
            <a:extLst>
              <a:ext uri="{FF2B5EF4-FFF2-40B4-BE49-F238E27FC236}">
                <a16:creationId xmlns:a16="http://schemas.microsoft.com/office/drawing/2014/main" id="{AC6DED67-460E-4D03-AC49-DF791A0C4AF7}"/>
              </a:ext>
            </a:extLst>
          </p:cNvPr>
          <p:cNvSpPr>
            <a:spLocks noGrp="1"/>
          </p:cNvSpPr>
          <p:nvPr/>
        </p:nvSpPr>
        <p:spPr>
          <a:xfrm>
            <a:off x="857250" y="279082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01</a:t>
            </a:r>
          </a:p>
        </p:txBody>
      </p:sp>
      <p:sp>
        <p:nvSpPr>
          <p:cNvPr id="14" name="Elemento Selección del producto">
            <a:extLst>
              <a:ext uri="{FF2B5EF4-FFF2-40B4-BE49-F238E27FC236}">
                <a16:creationId xmlns:a16="http://schemas.microsoft.com/office/drawing/2014/main" id="{4472FDBF-097D-4A5C-99D9-855D860C0187}"/>
              </a:ext>
            </a:extLst>
          </p:cNvPr>
          <p:cNvSpPr>
            <a:spLocks noGrp="1"/>
          </p:cNvSpPr>
          <p:nvPr/>
        </p:nvSpPr>
        <p:spPr>
          <a:xfrm>
            <a:off x="1352550" y="2790825"/>
            <a:ext cx="48577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Selección del producto</a:t>
            </a:r>
          </a:p>
        </p:txBody>
      </p:sp>
      <p:sp>
        <p:nvSpPr>
          <p:cNvPr id="15" name="Detalle del ítem">
            <a:extLst>
              <a:ext uri="{FF2B5EF4-FFF2-40B4-BE49-F238E27FC236}">
                <a16:creationId xmlns:a16="http://schemas.microsoft.com/office/drawing/2014/main" id="{955C083A-0863-48AB-8C5A-6CBC7645A114}"/>
              </a:ext>
            </a:extLst>
          </p:cNvPr>
          <p:cNvSpPr>
            <a:spLocks noGrp="1"/>
          </p:cNvSpPr>
          <p:nvPr/>
        </p:nvSpPr>
        <p:spPr>
          <a:xfrm>
            <a:off x="857250" y="3181350"/>
            <a:ext cx="5353050" cy="9525"/>
          </a:xfrm>
          <a:prstGeom prst="rect">
            <a:avLst/>
          </a:prstGeom>
          <a:solidFill>
            <a:srgbClr val="D8DDD2"/>
          </a:solidFill>
          <a:ln w="0">
            <a:noFill/>
          </a:ln>
        </p:spPr>
        <p:txBody>
          <a:bodyPr/>
          <a:lstStyle/>
          <a:p>
            <a:endParaRPr lang="es-419"/>
          </a:p>
        </p:txBody>
      </p:sp>
      <p:sp>
        <p:nvSpPr>
          <p:cNvPr id="16" name="Elemento 02">
            <a:extLst>
              <a:ext uri="{FF2B5EF4-FFF2-40B4-BE49-F238E27FC236}">
                <a16:creationId xmlns:a16="http://schemas.microsoft.com/office/drawing/2014/main" id="{E590BA49-DB08-4DA9-8C39-0680D1A32EB0}"/>
              </a:ext>
            </a:extLst>
          </p:cNvPr>
          <p:cNvSpPr>
            <a:spLocks noGrp="1"/>
          </p:cNvSpPr>
          <p:nvPr/>
        </p:nvSpPr>
        <p:spPr>
          <a:xfrm>
            <a:off x="857250" y="456247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02</a:t>
            </a:r>
          </a:p>
        </p:txBody>
      </p:sp>
      <p:sp>
        <p:nvSpPr>
          <p:cNvPr id="17" name="Elemento Presupuesto transparente">
            <a:extLst>
              <a:ext uri="{FF2B5EF4-FFF2-40B4-BE49-F238E27FC236}">
                <a16:creationId xmlns:a16="http://schemas.microsoft.com/office/drawing/2014/main" id="{5C7ACC9F-26CD-4C26-BA43-B0912761011C}"/>
              </a:ext>
            </a:extLst>
          </p:cNvPr>
          <p:cNvSpPr>
            <a:spLocks noGrp="1"/>
          </p:cNvSpPr>
          <p:nvPr/>
        </p:nvSpPr>
        <p:spPr>
          <a:xfrm>
            <a:off x="1352550" y="4562475"/>
            <a:ext cx="48577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Presupuesto transparente</a:t>
            </a:r>
          </a:p>
        </p:txBody>
      </p:sp>
      <p:sp>
        <p:nvSpPr>
          <p:cNvPr id="18" name="Detalle del ítem">
            <a:extLst>
              <a:ext uri="{FF2B5EF4-FFF2-40B4-BE49-F238E27FC236}">
                <a16:creationId xmlns:a16="http://schemas.microsoft.com/office/drawing/2014/main" id="{74D5836D-1869-49E5-AC5B-2D2F187594F3}"/>
              </a:ext>
            </a:extLst>
          </p:cNvPr>
          <p:cNvSpPr>
            <a:spLocks noGrp="1"/>
          </p:cNvSpPr>
          <p:nvPr/>
        </p:nvSpPr>
        <p:spPr>
          <a:xfrm>
            <a:off x="857250" y="4953000"/>
            <a:ext cx="5353050" cy="9525"/>
          </a:xfrm>
          <a:prstGeom prst="rect">
            <a:avLst/>
          </a:prstGeom>
          <a:solidFill>
            <a:srgbClr val="D8DDD2"/>
          </a:solidFill>
          <a:ln w="0">
            <a:noFill/>
          </a:ln>
        </p:spPr>
        <p:txBody>
          <a:bodyPr/>
          <a:lstStyle/>
          <a:p>
            <a:endParaRPr lang="es-419"/>
          </a:p>
        </p:txBody>
      </p:sp>
      <p:sp>
        <p:nvSpPr>
          <p:cNvPr id="19" name="Detalle del ítem">
            <a:extLst>
              <a:ext uri="{FF2B5EF4-FFF2-40B4-BE49-F238E27FC236}">
                <a16:creationId xmlns:a16="http://schemas.microsoft.com/office/drawing/2014/main" id="{58CABF95-C2DC-4C3C-8506-55EA6946826A}"/>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1728819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B5CB9490-DE7A-4A03-9F63-D623EA8202A5}"/>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Agenda y visitas técnicas</a:t>
            </a:r>
          </a:p>
        </p:txBody>
      </p:sp>
      <p:sp>
        <p:nvSpPr>
          <p:cNvPr id="2" name="Rectángulo 1">
            <a:extLst>
              <a:ext uri="{FF2B5EF4-FFF2-40B4-BE49-F238E27FC236}">
                <a16:creationId xmlns:a16="http://schemas.microsoft.com/office/drawing/2014/main" id="{35949AAD-1761-4D4E-8C89-E6F1266F7729}"/>
              </a:ext>
            </a:extLst>
          </p:cNvPr>
          <p:cNvSpPr>
            <a:spLocks noGrp="1"/>
          </p:cNvSpPr>
          <p:nvPr/>
        </p:nvSpPr>
        <p:spPr>
          <a:xfrm>
            <a:off x="628650" y="1362075"/>
            <a:ext cx="10934700" cy="1000125"/>
          </a:xfrm>
          <a:prstGeom prst="rect">
            <a:avLst/>
          </a:prstGeom>
          <a:noFill/>
          <a:ln w="0">
            <a:noFill/>
          </a:ln>
        </p:spPr>
        <p:txBody>
          <a:bodyPr lIns="0" tIns="0" rIns="0" bIns="0">
            <a:noAutofit/>
          </a:bodyPr>
          <a:lstStyle/>
          <a:p>
            <a:pPr>
              <a:defRPr>
                <a:solidFill>
                  <a:srgbClr val="414B45"/>
                </a:solidFill>
                <a:latin typeface="Arial"/>
                <a:ea typeface="Arial"/>
                <a:cs typeface="Arial"/>
              </a:defRPr>
            </a:pPr>
            <a:r>
              <a:rPr dirty="0" err="1">
                <a:solidFill>
                  <a:srgbClr val="414B45"/>
                </a:solidFill>
                <a:latin typeface="Arial"/>
                <a:cs typeface="Arial"/>
              </a:rPr>
              <a:t>Integramos</a:t>
            </a:r>
            <a:r>
              <a:rPr dirty="0">
                <a:solidFill>
                  <a:srgbClr val="414B45"/>
                </a:solidFill>
                <a:latin typeface="Arial"/>
                <a:cs typeface="Arial"/>
              </a:rPr>
              <a:t> la consulta de </a:t>
            </a:r>
            <a:r>
              <a:rPr dirty="0" err="1">
                <a:solidFill>
                  <a:srgbClr val="414B45"/>
                </a:solidFill>
                <a:latin typeface="Arial"/>
                <a:cs typeface="Arial"/>
              </a:rPr>
              <a:t>disponibilidad</a:t>
            </a:r>
            <a:r>
              <a:rPr dirty="0">
                <a:solidFill>
                  <a:srgbClr val="414B45"/>
                </a:solidFill>
                <a:latin typeface="Arial"/>
                <a:cs typeface="Arial"/>
              </a:rPr>
              <a:t> con el </a:t>
            </a:r>
            <a:r>
              <a:rPr dirty="0" err="1">
                <a:solidFill>
                  <a:srgbClr val="414B45"/>
                </a:solidFill>
                <a:latin typeface="Arial"/>
                <a:cs typeface="Arial"/>
              </a:rPr>
              <a:t>pedido</a:t>
            </a:r>
            <a:r>
              <a:rPr dirty="0">
                <a:solidFill>
                  <a:srgbClr val="414B45"/>
                </a:solidFill>
                <a:latin typeface="Arial"/>
                <a:cs typeface="Arial"/>
              </a:rPr>
              <a:t> para </a:t>
            </a:r>
            <a:r>
              <a:rPr dirty="0" err="1">
                <a:solidFill>
                  <a:srgbClr val="414B45"/>
                </a:solidFill>
                <a:latin typeface="Arial"/>
                <a:cs typeface="Arial"/>
              </a:rPr>
              <a:t>coordinar</a:t>
            </a:r>
            <a:r>
              <a:rPr dirty="0">
                <a:solidFill>
                  <a:srgbClr val="414B45"/>
                </a:solidFill>
                <a:latin typeface="Arial"/>
                <a:cs typeface="Arial"/>
              </a:rPr>
              <a:t> las visitas. El </a:t>
            </a:r>
            <a:r>
              <a:rPr dirty="0" err="1">
                <a:solidFill>
                  <a:srgbClr val="414B45"/>
                </a:solidFill>
                <a:latin typeface="Arial"/>
                <a:cs typeface="Arial"/>
              </a:rPr>
              <a:t>usuario</a:t>
            </a:r>
            <a:r>
              <a:rPr dirty="0">
                <a:solidFill>
                  <a:srgbClr val="414B45"/>
                </a:solidFill>
                <a:latin typeface="Arial"/>
                <a:cs typeface="Arial"/>
              </a:rPr>
              <a:t> </a:t>
            </a:r>
            <a:r>
              <a:rPr dirty="0" err="1">
                <a:solidFill>
                  <a:srgbClr val="414B45"/>
                </a:solidFill>
                <a:latin typeface="Arial"/>
                <a:cs typeface="Arial"/>
              </a:rPr>
              <a:t>selecciona</a:t>
            </a:r>
            <a:r>
              <a:rPr dirty="0">
                <a:solidFill>
                  <a:srgbClr val="414B45"/>
                </a:solidFill>
                <a:latin typeface="Arial"/>
                <a:cs typeface="Arial"/>
              </a:rPr>
              <a:t> un </a:t>
            </a:r>
            <a:r>
              <a:rPr dirty="0" err="1">
                <a:solidFill>
                  <a:srgbClr val="414B45"/>
                </a:solidFill>
                <a:latin typeface="Arial"/>
                <a:cs typeface="Arial"/>
              </a:rPr>
              <a:t>bloque</a:t>
            </a:r>
            <a:r>
              <a:rPr dirty="0">
                <a:solidFill>
                  <a:srgbClr val="414B45"/>
                </a:solidFill>
                <a:latin typeface="Arial"/>
                <a:cs typeface="Arial"/>
              </a:rPr>
              <a:t> </a:t>
            </a:r>
            <a:r>
              <a:rPr dirty="0" err="1">
                <a:solidFill>
                  <a:srgbClr val="414B45"/>
                </a:solidFill>
                <a:latin typeface="Arial"/>
                <a:cs typeface="Arial"/>
              </a:rPr>
              <a:t>horario</a:t>
            </a:r>
            <a:r>
              <a:rPr dirty="0">
                <a:solidFill>
                  <a:srgbClr val="414B45"/>
                </a:solidFill>
                <a:latin typeface="Arial"/>
                <a:cs typeface="Arial"/>
              </a:rPr>
              <a:t> y el </a:t>
            </a:r>
            <a:r>
              <a:rPr dirty="0" err="1">
                <a:solidFill>
                  <a:srgbClr val="414B45"/>
                </a:solidFill>
                <a:latin typeface="Arial"/>
                <a:cs typeface="Arial"/>
              </a:rPr>
              <a:t>sistema</a:t>
            </a:r>
            <a:r>
              <a:rPr dirty="0">
                <a:solidFill>
                  <a:srgbClr val="414B45"/>
                </a:solidFill>
                <a:latin typeface="Arial"/>
                <a:cs typeface="Arial"/>
              </a:rPr>
              <a:t> vincula la </a:t>
            </a:r>
            <a:r>
              <a:rPr dirty="0" err="1">
                <a:solidFill>
                  <a:srgbClr val="414B45"/>
                </a:solidFill>
                <a:latin typeface="Arial"/>
                <a:cs typeface="Arial"/>
              </a:rPr>
              <a:t>atención</a:t>
            </a:r>
            <a:r>
              <a:rPr dirty="0">
                <a:solidFill>
                  <a:srgbClr val="414B45"/>
                </a:solidFill>
                <a:latin typeface="Arial"/>
                <a:cs typeface="Arial"/>
              </a:rPr>
              <a:t> con el </a:t>
            </a:r>
            <a:r>
              <a:rPr dirty="0" err="1">
                <a:solidFill>
                  <a:srgbClr val="414B45"/>
                </a:solidFill>
                <a:latin typeface="Arial"/>
                <a:cs typeface="Arial"/>
              </a:rPr>
              <a:t>técnico</a:t>
            </a:r>
            <a:r>
              <a:rPr dirty="0">
                <a:solidFill>
                  <a:srgbClr val="414B45"/>
                </a:solidFill>
                <a:latin typeface="Arial"/>
                <a:cs typeface="Arial"/>
              </a:rPr>
              <a:t> </a:t>
            </a:r>
            <a:r>
              <a:rPr dirty="0" err="1">
                <a:solidFill>
                  <a:srgbClr val="414B45"/>
                </a:solidFill>
                <a:latin typeface="Arial"/>
                <a:cs typeface="Arial"/>
              </a:rPr>
              <a:t>correspondiente</a:t>
            </a:r>
            <a:endParaRPr dirty="0">
              <a:solidFill>
                <a:srgbClr val="414B45"/>
              </a:solidFill>
              <a:latin typeface="Arial"/>
              <a:cs typeface="Arial"/>
            </a:endParaRPr>
          </a:p>
        </p:txBody>
      </p:sp>
      <p:sp>
        <p:nvSpPr>
          <p:cNvPr id="3" name="Rectángulo 2">
            <a:extLst>
              <a:ext uri="{FF2B5EF4-FFF2-40B4-BE49-F238E27FC236}">
                <a16:creationId xmlns:a16="http://schemas.microsoft.com/office/drawing/2014/main" id="{73041CA2-8CB0-42EE-A0D3-7800A97E6C6D}"/>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10</a:t>
            </a:r>
          </a:p>
        </p:txBody>
      </p:sp>
      <p:pic>
        <p:nvPicPr>
          <p:cNvPr id="23" name="Imagen 14"/>
          <p:cNvPicPr>
            <a:picLocks noChangeAspect="1"/>
          </p:cNvPicPr>
          <p:nvPr/>
        </p:nvPicPr>
        <p:blipFill>
          <a:blip r:embed="rId3"/>
          <a:stretch/>
        </p:blipFill>
        <p:spPr>
          <a:xfrm>
            <a:off x="1143096" y="2514600"/>
            <a:ext cx="5305234" cy="3352800"/>
          </a:xfrm>
          <a:prstGeom prst="rect">
            <a:avLst/>
          </a:prstGeom>
          <a:ln w="11430">
            <a:solidFill>
              <a:srgbClr val="B9C5B8"/>
            </a:solidFill>
            <a:prstDash val="solid"/>
          </a:ln>
        </p:spPr>
      </p:pic>
      <p:sp>
        <p:nvSpPr>
          <p:cNvPr id="5" name="Rectángulo 4">
            <a:extLst>
              <a:ext uri="{FF2B5EF4-FFF2-40B4-BE49-F238E27FC236}">
                <a16:creationId xmlns:a16="http://schemas.microsoft.com/office/drawing/2014/main" id="{32E91C7A-7733-4E5E-8253-DEDAA5ED1134}"/>
              </a:ext>
            </a:extLst>
          </p:cNvPr>
          <p:cNvSpPr>
            <a:spLocks noGrp="1"/>
          </p:cNvSpPr>
          <p:nvPr/>
        </p:nvSpPr>
        <p:spPr>
          <a:xfrm>
            <a:off x="7524750" y="2571750"/>
            <a:ext cx="403860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6" name="Rectángulo 5">
            <a:extLst>
              <a:ext uri="{FF2B5EF4-FFF2-40B4-BE49-F238E27FC236}">
                <a16:creationId xmlns:a16="http://schemas.microsoft.com/office/drawing/2014/main" id="{10B723A9-22DD-40AE-9F78-B006EA145C51}"/>
              </a:ext>
            </a:extLst>
          </p:cNvPr>
          <p:cNvSpPr>
            <a:spLocks noGrp="1"/>
          </p:cNvSpPr>
          <p:nvPr/>
        </p:nvSpPr>
        <p:spPr>
          <a:xfrm>
            <a:off x="7753350" y="3362325"/>
            <a:ext cx="358140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El bloque seleccionado queda asociado a la solicitud y a la atención técnica.</a:t>
            </a:r>
          </a:p>
        </p:txBody>
      </p:sp>
      <p:sp>
        <p:nvSpPr>
          <p:cNvPr id="7" name="Rectángulo 6">
            <a:extLst>
              <a:ext uri="{FF2B5EF4-FFF2-40B4-BE49-F238E27FC236}">
                <a16:creationId xmlns:a16="http://schemas.microsoft.com/office/drawing/2014/main" id="{BB6B5F8B-854A-469F-B738-C4F1D56FD548}"/>
              </a:ext>
            </a:extLst>
          </p:cNvPr>
          <p:cNvSpPr>
            <a:spLocks noGrp="1"/>
          </p:cNvSpPr>
          <p:nvPr/>
        </p:nvSpPr>
        <p:spPr>
          <a:xfrm>
            <a:off x="7524750" y="4343400"/>
            <a:ext cx="403860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8" name="Rectángulo 7">
            <a:extLst>
              <a:ext uri="{FF2B5EF4-FFF2-40B4-BE49-F238E27FC236}">
                <a16:creationId xmlns:a16="http://schemas.microsoft.com/office/drawing/2014/main" id="{E01894F3-2B53-4877-9126-B448735D9A83}"/>
              </a:ext>
            </a:extLst>
          </p:cNvPr>
          <p:cNvSpPr>
            <a:spLocks noGrp="1"/>
          </p:cNvSpPr>
          <p:nvPr/>
        </p:nvSpPr>
        <p:spPr>
          <a:xfrm>
            <a:off x="7753350" y="5133975"/>
            <a:ext cx="358140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Se comprobarán reservas simultáneas, expiración y consistencia de fechas.</a:t>
            </a:r>
          </a:p>
        </p:txBody>
      </p:sp>
      <p:sp>
        <p:nvSpPr>
          <p:cNvPr id="12" name="Elemento 01">
            <a:extLst>
              <a:ext uri="{FF2B5EF4-FFF2-40B4-BE49-F238E27FC236}">
                <a16:creationId xmlns:a16="http://schemas.microsoft.com/office/drawing/2014/main" id="{14F89DCD-1365-4597-8A15-FE8D66A06B5A}"/>
              </a:ext>
            </a:extLst>
          </p:cNvPr>
          <p:cNvSpPr>
            <a:spLocks noGrp="1"/>
          </p:cNvSpPr>
          <p:nvPr/>
        </p:nvSpPr>
        <p:spPr>
          <a:xfrm>
            <a:off x="7753350" y="279082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01</a:t>
            </a:r>
          </a:p>
        </p:txBody>
      </p:sp>
      <p:sp>
        <p:nvSpPr>
          <p:cNvPr id="13" name="Elemento Reserva vinculada">
            <a:extLst>
              <a:ext uri="{FF2B5EF4-FFF2-40B4-BE49-F238E27FC236}">
                <a16:creationId xmlns:a16="http://schemas.microsoft.com/office/drawing/2014/main" id="{52333D55-3196-47E1-8E98-F628DAEC99CA}"/>
              </a:ext>
            </a:extLst>
          </p:cNvPr>
          <p:cNvSpPr>
            <a:spLocks noGrp="1"/>
          </p:cNvSpPr>
          <p:nvPr/>
        </p:nvSpPr>
        <p:spPr>
          <a:xfrm>
            <a:off x="8248650" y="2790825"/>
            <a:ext cx="308610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Reserva vinculada</a:t>
            </a:r>
          </a:p>
        </p:txBody>
      </p:sp>
      <p:sp>
        <p:nvSpPr>
          <p:cNvPr id="14" name="Detalle del ítem">
            <a:extLst>
              <a:ext uri="{FF2B5EF4-FFF2-40B4-BE49-F238E27FC236}">
                <a16:creationId xmlns:a16="http://schemas.microsoft.com/office/drawing/2014/main" id="{23C81F89-8F31-48C8-90B2-F13B3B236F15}"/>
              </a:ext>
            </a:extLst>
          </p:cNvPr>
          <p:cNvSpPr>
            <a:spLocks noGrp="1"/>
          </p:cNvSpPr>
          <p:nvPr/>
        </p:nvSpPr>
        <p:spPr>
          <a:xfrm>
            <a:off x="7753350" y="3181350"/>
            <a:ext cx="3581400" cy="9525"/>
          </a:xfrm>
          <a:prstGeom prst="rect">
            <a:avLst/>
          </a:prstGeom>
          <a:solidFill>
            <a:srgbClr val="D8DDD2"/>
          </a:solidFill>
          <a:ln w="0">
            <a:noFill/>
          </a:ln>
        </p:spPr>
        <p:txBody>
          <a:bodyPr/>
          <a:lstStyle/>
          <a:p>
            <a:endParaRPr lang="es-419"/>
          </a:p>
        </p:txBody>
      </p:sp>
      <p:sp>
        <p:nvSpPr>
          <p:cNvPr id="15" name="Elemento 02">
            <a:extLst>
              <a:ext uri="{FF2B5EF4-FFF2-40B4-BE49-F238E27FC236}">
                <a16:creationId xmlns:a16="http://schemas.microsoft.com/office/drawing/2014/main" id="{83F2BDD0-062C-4199-8F06-4BA754E1C5CE}"/>
              </a:ext>
            </a:extLst>
          </p:cNvPr>
          <p:cNvSpPr>
            <a:spLocks noGrp="1"/>
          </p:cNvSpPr>
          <p:nvPr/>
        </p:nvSpPr>
        <p:spPr>
          <a:xfrm>
            <a:off x="7753350" y="456247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02</a:t>
            </a:r>
          </a:p>
        </p:txBody>
      </p:sp>
      <p:sp>
        <p:nvSpPr>
          <p:cNvPr id="16" name="Elemento Validación pendiente">
            <a:extLst>
              <a:ext uri="{FF2B5EF4-FFF2-40B4-BE49-F238E27FC236}">
                <a16:creationId xmlns:a16="http://schemas.microsoft.com/office/drawing/2014/main" id="{8F166168-0935-433E-9D07-1E22A6A69659}"/>
              </a:ext>
            </a:extLst>
          </p:cNvPr>
          <p:cNvSpPr>
            <a:spLocks noGrp="1"/>
          </p:cNvSpPr>
          <p:nvPr/>
        </p:nvSpPr>
        <p:spPr>
          <a:xfrm>
            <a:off x="8248650" y="4562475"/>
            <a:ext cx="308610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Validación pendiente</a:t>
            </a:r>
          </a:p>
        </p:txBody>
      </p:sp>
      <p:sp>
        <p:nvSpPr>
          <p:cNvPr id="17" name="Detalle del ítem">
            <a:extLst>
              <a:ext uri="{FF2B5EF4-FFF2-40B4-BE49-F238E27FC236}">
                <a16:creationId xmlns:a16="http://schemas.microsoft.com/office/drawing/2014/main" id="{17DC1C23-6B66-432A-B275-EE4984C2006B}"/>
              </a:ext>
            </a:extLst>
          </p:cNvPr>
          <p:cNvSpPr>
            <a:spLocks noGrp="1"/>
          </p:cNvSpPr>
          <p:nvPr/>
        </p:nvSpPr>
        <p:spPr>
          <a:xfrm>
            <a:off x="7753350" y="4953000"/>
            <a:ext cx="3581400" cy="9525"/>
          </a:xfrm>
          <a:prstGeom prst="rect">
            <a:avLst/>
          </a:prstGeom>
          <a:solidFill>
            <a:srgbClr val="D8DDD2"/>
          </a:solidFill>
          <a:ln w="0">
            <a:noFill/>
          </a:ln>
        </p:spPr>
        <p:txBody>
          <a:bodyPr/>
          <a:lstStyle/>
          <a:p>
            <a:endParaRPr lang="es-419"/>
          </a:p>
        </p:txBody>
      </p:sp>
      <p:sp>
        <p:nvSpPr>
          <p:cNvPr id="18" name="Detalle del ítem">
            <a:extLst>
              <a:ext uri="{FF2B5EF4-FFF2-40B4-BE49-F238E27FC236}">
                <a16:creationId xmlns:a16="http://schemas.microsoft.com/office/drawing/2014/main" id="{90F928CA-A01B-45AE-9A2B-F4EB9ECDC31F}"/>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Tree>
    <p:extLst>
      <p:ext uri="{BB962C8B-B14F-4D97-AF65-F5344CB8AC3E}">
        <p14:creationId xmlns:p14="http://schemas.microsoft.com/office/powerpoint/2010/main" val="1237580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971BAF02-83C0-49F9-90FE-3C4EC72C5CE8}"/>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Panel administrativo</a:t>
            </a:r>
          </a:p>
        </p:txBody>
      </p:sp>
      <p:sp>
        <p:nvSpPr>
          <p:cNvPr id="3" name="Rectángulo 2">
            <a:extLst>
              <a:ext uri="{FF2B5EF4-FFF2-40B4-BE49-F238E27FC236}">
                <a16:creationId xmlns:a16="http://schemas.microsoft.com/office/drawing/2014/main" id="{7C0015FB-AF2E-4B94-ADF4-BEA9F3037D5C}"/>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11</a:t>
            </a:r>
          </a:p>
        </p:txBody>
      </p:sp>
      <p:pic>
        <p:nvPicPr>
          <p:cNvPr id="23" name="Imagen 14"/>
          <p:cNvPicPr>
            <a:picLocks noChangeAspect="1"/>
          </p:cNvPicPr>
          <p:nvPr/>
        </p:nvPicPr>
        <p:blipFill>
          <a:blip r:embed="rId3"/>
          <a:stretch/>
        </p:blipFill>
        <p:spPr>
          <a:xfrm>
            <a:off x="856746" y="2533650"/>
            <a:ext cx="6087483" cy="3381375"/>
          </a:xfrm>
          <a:prstGeom prst="rect">
            <a:avLst/>
          </a:prstGeom>
          <a:ln w="11430">
            <a:solidFill>
              <a:srgbClr val="B9C5B8"/>
            </a:solidFill>
            <a:prstDash val="solid"/>
          </a:ln>
        </p:spPr>
      </p:pic>
      <p:sp>
        <p:nvSpPr>
          <p:cNvPr id="5" name="Rectángulo 4">
            <a:extLst>
              <a:ext uri="{FF2B5EF4-FFF2-40B4-BE49-F238E27FC236}">
                <a16:creationId xmlns:a16="http://schemas.microsoft.com/office/drawing/2014/main" id="{1EA00A59-D567-4ADF-88CA-5EEDD942A4B9}"/>
              </a:ext>
            </a:extLst>
          </p:cNvPr>
          <p:cNvSpPr>
            <a:spLocks noGrp="1"/>
          </p:cNvSpPr>
          <p:nvPr/>
        </p:nvSpPr>
        <p:spPr>
          <a:xfrm>
            <a:off x="7696200" y="2571750"/>
            <a:ext cx="38671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6" name="Rectángulo 5">
            <a:extLst>
              <a:ext uri="{FF2B5EF4-FFF2-40B4-BE49-F238E27FC236}">
                <a16:creationId xmlns:a16="http://schemas.microsoft.com/office/drawing/2014/main" id="{C0158A5C-2EA6-4E96-BA3F-1E9F84E80BB3}"/>
              </a:ext>
            </a:extLst>
          </p:cNvPr>
          <p:cNvSpPr>
            <a:spLocks noGrp="1"/>
          </p:cNvSpPr>
          <p:nvPr/>
        </p:nvSpPr>
        <p:spPr>
          <a:xfrm>
            <a:off x="7924800" y="3362325"/>
            <a:ext cx="34099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Pedidos, tarifas, usuarios y visitas se consultan desde el panel.</a:t>
            </a:r>
          </a:p>
        </p:txBody>
      </p:sp>
      <p:sp>
        <p:nvSpPr>
          <p:cNvPr id="7" name="Rectángulo 6">
            <a:extLst>
              <a:ext uri="{FF2B5EF4-FFF2-40B4-BE49-F238E27FC236}">
                <a16:creationId xmlns:a16="http://schemas.microsoft.com/office/drawing/2014/main" id="{D110DF61-C1C5-4A2E-B911-7FE35541E84C}"/>
              </a:ext>
            </a:extLst>
          </p:cNvPr>
          <p:cNvSpPr>
            <a:spLocks noGrp="1"/>
          </p:cNvSpPr>
          <p:nvPr/>
        </p:nvSpPr>
        <p:spPr>
          <a:xfrm>
            <a:off x="7696200" y="4343400"/>
            <a:ext cx="386715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8" name="Rectángulo 7">
            <a:extLst>
              <a:ext uri="{FF2B5EF4-FFF2-40B4-BE49-F238E27FC236}">
                <a16:creationId xmlns:a16="http://schemas.microsoft.com/office/drawing/2014/main" id="{67CA3929-BDA4-470F-8117-56F41C8DEB35}"/>
              </a:ext>
            </a:extLst>
          </p:cNvPr>
          <p:cNvSpPr>
            <a:spLocks noGrp="1"/>
          </p:cNvSpPr>
          <p:nvPr/>
        </p:nvSpPr>
        <p:spPr>
          <a:xfrm>
            <a:off x="7924800" y="5133975"/>
            <a:ext cx="340995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Los estados y los indicadores apoyan la revisión de solicitudes y atenciones.</a:t>
            </a:r>
          </a:p>
        </p:txBody>
      </p:sp>
      <p:sp>
        <p:nvSpPr>
          <p:cNvPr id="12" name="Elemento 01">
            <a:extLst>
              <a:ext uri="{FF2B5EF4-FFF2-40B4-BE49-F238E27FC236}">
                <a16:creationId xmlns:a16="http://schemas.microsoft.com/office/drawing/2014/main" id="{7993E397-CE87-442C-84A2-82718C9F4DC1}"/>
              </a:ext>
            </a:extLst>
          </p:cNvPr>
          <p:cNvSpPr>
            <a:spLocks noGrp="1"/>
          </p:cNvSpPr>
          <p:nvPr/>
        </p:nvSpPr>
        <p:spPr>
          <a:xfrm>
            <a:off x="7924800" y="279082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01</a:t>
            </a:r>
          </a:p>
        </p:txBody>
      </p:sp>
      <p:sp>
        <p:nvSpPr>
          <p:cNvPr id="13" name="Elemento Gestión centralizada">
            <a:extLst>
              <a:ext uri="{FF2B5EF4-FFF2-40B4-BE49-F238E27FC236}">
                <a16:creationId xmlns:a16="http://schemas.microsoft.com/office/drawing/2014/main" id="{01F772F2-0436-43BB-95BC-23E6164E5B9A}"/>
              </a:ext>
            </a:extLst>
          </p:cNvPr>
          <p:cNvSpPr>
            <a:spLocks noGrp="1"/>
          </p:cNvSpPr>
          <p:nvPr/>
        </p:nvSpPr>
        <p:spPr>
          <a:xfrm>
            <a:off x="8420100" y="2790825"/>
            <a:ext cx="29146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Gestión centralizada</a:t>
            </a:r>
          </a:p>
        </p:txBody>
      </p:sp>
      <p:sp>
        <p:nvSpPr>
          <p:cNvPr id="14" name="Detalle del ítem">
            <a:extLst>
              <a:ext uri="{FF2B5EF4-FFF2-40B4-BE49-F238E27FC236}">
                <a16:creationId xmlns:a16="http://schemas.microsoft.com/office/drawing/2014/main" id="{2F56C9F6-14A2-4268-A084-8AAE0FA7843E}"/>
              </a:ext>
            </a:extLst>
          </p:cNvPr>
          <p:cNvSpPr>
            <a:spLocks noGrp="1"/>
          </p:cNvSpPr>
          <p:nvPr/>
        </p:nvSpPr>
        <p:spPr>
          <a:xfrm>
            <a:off x="7924800" y="3181350"/>
            <a:ext cx="3409950" cy="9525"/>
          </a:xfrm>
          <a:prstGeom prst="rect">
            <a:avLst/>
          </a:prstGeom>
          <a:solidFill>
            <a:srgbClr val="D8DDD2"/>
          </a:solidFill>
          <a:ln w="0">
            <a:noFill/>
          </a:ln>
        </p:spPr>
        <p:txBody>
          <a:bodyPr/>
          <a:lstStyle/>
          <a:p>
            <a:endParaRPr lang="es-419"/>
          </a:p>
        </p:txBody>
      </p:sp>
      <p:sp>
        <p:nvSpPr>
          <p:cNvPr id="15" name="Elemento 02">
            <a:extLst>
              <a:ext uri="{FF2B5EF4-FFF2-40B4-BE49-F238E27FC236}">
                <a16:creationId xmlns:a16="http://schemas.microsoft.com/office/drawing/2014/main" id="{C3629551-6B52-4682-8F7D-404201235AFF}"/>
              </a:ext>
            </a:extLst>
          </p:cNvPr>
          <p:cNvSpPr>
            <a:spLocks noGrp="1"/>
          </p:cNvSpPr>
          <p:nvPr/>
        </p:nvSpPr>
        <p:spPr>
          <a:xfrm>
            <a:off x="7924800" y="456247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02</a:t>
            </a:r>
          </a:p>
        </p:txBody>
      </p:sp>
      <p:sp>
        <p:nvSpPr>
          <p:cNvPr id="16" name="Elemento Seguimiento operativo">
            <a:extLst>
              <a:ext uri="{FF2B5EF4-FFF2-40B4-BE49-F238E27FC236}">
                <a16:creationId xmlns:a16="http://schemas.microsoft.com/office/drawing/2014/main" id="{7ECC8D57-86AD-42C9-99B1-B601AA765D25}"/>
              </a:ext>
            </a:extLst>
          </p:cNvPr>
          <p:cNvSpPr>
            <a:spLocks noGrp="1"/>
          </p:cNvSpPr>
          <p:nvPr/>
        </p:nvSpPr>
        <p:spPr>
          <a:xfrm>
            <a:off x="8420100" y="4562475"/>
            <a:ext cx="291465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Seguimiento operativo</a:t>
            </a:r>
          </a:p>
        </p:txBody>
      </p:sp>
      <p:sp>
        <p:nvSpPr>
          <p:cNvPr id="17" name="Detalle del ítem">
            <a:extLst>
              <a:ext uri="{FF2B5EF4-FFF2-40B4-BE49-F238E27FC236}">
                <a16:creationId xmlns:a16="http://schemas.microsoft.com/office/drawing/2014/main" id="{E44A68A5-2DC7-42F8-BA4D-D87948BFED1F}"/>
              </a:ext>
            </a:extLst>
          </p:cNvPr>
          <p:cNvSpPr>
            <a:spLocks noGrp="1"/>
          </p:cNvSpPr>
          <p:nvPr/>
        </p:nvSpPr>
        <p:spPr>
          <a:xfrm>
            <a:off x="7924800" y="4953000"/>
            <a:ext cx="3409950" cy="9525"/>
          </a:xfrm>
          <a:prstGeom prst="rect">
            <a:avLst/>
          </a:prstGeom>
          <a:solidFill>
            <a:srgbClr val="D8DDD2"/>
          </a:solidFill>
          <a:ln w="0">
            <a:noFill/>
          </a:ln>
        </p:spPr>
        <p:txBody>
          <a:bodyPr/>
          <a:lstStyle/>
          <a:p>
            <a:endParaRPr lang="es-419"/>
          </a:p>
        </p:txBody>
      </p:sp>
      <p:sp>
        <p:nvSpPr>
          <p:cNvPr id="18" name="Detalle del ítem">
            <a:extLst>
              <a:ext uri="{FF2B5EF4-FFF2-40B4-BE49-F238E27FC236}">
                <a16:creationId xmlns:a16="http://schemas.microsoft.com/office/drawing/2014/main" id="{BC5AE54B-9309-4B0B-A8F3-D5A50BCB8A3D}"/>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4" name="CuadroTexto 3">
            <a:extLst>
              <a:ext uri="{FF2B5EF4-FFF2-40B4-BE49-F238E27FC236}">
                <a16:creationId xmlns:a16="http://schemas.microsoft.com/office/drawing/2014/main" id="{82E56E58-E71E-7EEC-B37B-4B382F7A064D}"/>
              </a:ext>
            </a:extLst>
          </p:cNvPr>
          <p:cNvSpPr txBox="1"/>
          <p:nvPr/>
        </p:nvSpPr>
        <p:spPr>
          <a:xfrm>
            <a:off x="628650" y="1409700"/>
            <a:ext cx="9528048" cy="646331"/>
          </a:xfrm>
          <a:prstGeom prst="rect">
            <a:avLst/>
          </a:prstGeom>
          <a:noFill/>
        </p:spPr>
        <p:txBody>
          <a:bodyPr wrap="square" rtlCol="0">
            <a:spAutoFit/>
          </a:bodyPr>
          <a:lstStyle/>
          <a:p>
            <a:r>
              <a:rPr lang="es-ES" dirty="0">
                <a:solidFill>
                  <a:srgbClr val="414B45"/>
                </a:solidFill>
                <a:latin typeface="Arial"/>
                <a:cs typeface="Arial"/>
              </a:rPr>
              <a:t>El panel reúne las funciones de gestión necesarias para supervisar el proceso comercial. La administración puede consultar estados y organizar el trabajo desde una misma interfaz</a:t>
            </a:r>
          </a:p>
        </p:txBody>
      </p:sp>
    </p:spTree>
    <p:extLst>
      <p:ext uri="{BB962C8B-B14F-4D97-AF65-F5344CB8AC3E}">
        <p14:creationId xmlns:p14="http://schemas.microsoft.com/office/powerpoint/2010/main" val="1847610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260F8C55-48E6-471A-AB64-A51A6E54A832}"/>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Aplicación móvil para clientes y técnicos</a:t>
            </a:r>
          </a:p>
        </p:txBody>
      </p:sp>
      <p:sp>
        <p:nvSpPr>
          <p:cNvPr id="3" name="Rectángulo 2">
            <a:extLst>
              <a:ext uri="{FF2B5EF4-FFF2-40B4-BE49-F238E27FC236}">
                <a16:creationId xmlns:a16="http://schemas.microsoft.com/office/drawing/2014/main" id="{4D75C74F-377A-4C63-9B4C-7913554AD9C0}"/>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12</a:t>
            </a:r>
          </a:p>
        </p:txBody>
      </p:sp>
      <p:pic>
        <p:nvPicPr>
          <p:cNvPr id="28" name="Imagen 18"/>
          <p:cNvPicPr>
            <a:picLocks noChangeAspect="1"/>
          </p:cNvPicPr>
          <p:nvPr/>
        </p:nvPicPr>
        <p:blipFill>
          <a:blip r:embed="rId3"/>
          <a:stretch/>
        </p:blipFill>
        <p:spPr>
          <a:xfrm>
            <a:off x="628650" y="2691425"/>
            <a:ext cx="2362200" cy="2818174"/>
          </a:xfrm>
          <a:prstGeom prst="rect">
            <a:avLst/>
          </a:prstGeom>
          <a:ln w="11430">
            <a:solidFill>
              <a:srgbClr val="B9C5B8"/>
            </a:solidFill>
            <a:prstDash val="solid"/>
          </a:ln>
        </p:spPr>
      </p:pic>
      <p:pic>
        <p:nvPicPr>
          <p:cNvPr id="29" name="Imagen 19"/>
          <p:cNvPicPr>
            <a:picLocks noChangeAspect="1"/>
          </p:cNvPicPr>
          <p:nvPr/>
        </p:nvPicPr>
        <p:blipFill>
          <a:blip r:embed="rId4"/>
          <a:stretch/>
        </p:blipFill>
        <p:spPr>
          <a:xfrm>
            <a:off x="3181350" y="3029064"/>
            <a:ext cx="2362200" cy="2142898"/>
          </a:xfrm>
          <a:prstGeom prst="rect">
            <a:avLst/>
          </a:prstGeom>
          <a:ln w="11430">
            <a:solidFill>
              <a:srgbClr val="B9C5B8"/>
            </a:solidFill>
            <a:prstDash val="solid"/>
          </a:ln>
        </p:spPr>
      </p:pic>
      <p:sp>
        <p:nvSpPr>
          <p:cNvPr id="6" name="Rectángulo 5">
            <a:extLst>
              <a:ext uri="{FF2B5EF4-FFF2-40B4-BE49-F238E27FC236}">
                <a16:creationId xmlns:a16="http://schemas.microsoft.com/office/drawing/2014/main" id="{D335CF90-3300-4030-AB22-2C915124444E}"/>
              </a:ext>
            </a:extLst>
          </p:cNvPr>
          <p:cNvSpPr>
            <a:spLocks noGrp="1"/>
          </p:cNvSpPr>
          <p:nvPr/>
        </p:nvSpPr>
        <p:spPr>
          <a:xfrm>
            <a:off x="6000750" y="2571750"/>
            <a:ext cx="556260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2247774C-BCC9-4D57-B078-FD86910CCE7D}"/>
              </a:ext>
            </a:extLst>
          </p:cNvPr>
          <p:cNvSpPr>
            <a:spLocks noGrp="1"/>
          </p:cNvSpPr>
          <p:nvPr/>
        </p:nvSpPr>
        <p:spPr>
          <a:xfrm>
            <a:off x="6229350" y="3362325"/>
            <a:ext cx="510540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Consulta productos, cotiza y revisa el avance de sus solicitudes.</a:t>
            </a:r>
          </a:p>
        </p:txBody>
      </p:sp>
      <p:sp>
        <p:nvSpPr>
          <p:cNvPr id="8" name="Rectángulo 7">
            <a:extLst>
              <a:ext uri="{FF2B5EF4-FFF2-40B4-BE49-F238E27FC236}">
                <a16:creationId xmlns:a16="http://schemas.microsoft.com/office/drawing/2014/main" id="{6BB76A72-B200-4F20-B7C6-67E68A890C6B}"/>
              </a:ext>
            </a:extLst>
          </p:cNvPr>
          <p:cNvSpPr>
            <a:spLocks noGrp="1"/>
          </p:cNvSpPr>
          <p:nvPr/>
        </p:nvSpPr>
        <p:spPr>
          <a:xfrm>
            <a:off x="6000750" y="4343400"/>
            <a:ext cx="5562600" cy="1695450"/>
          </a:xfrm>
          <a:prstGeom prst="roundRect">
            <a:avLst>
              <a:gd name="adj" fmla="val 7865"/>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1950" b="1">
                <a:solidFill>
                  <a:srgbClr val="293B35"/>
                </a:solidFill>
                <a:latin typeface="Arial"/>
                <a:ea typeface="Arial"/>
                <a:cs typeface="Arial"/>
              </a:defRPr>
            </a:pPr>
            <a:endParaRPr/>
          </a:p>
        </p:txBody>
      </p:sp>
      <p:sp>
        <p:nvSpPr>
          <p:cNvPr id="9" name="Rectángulo 8">
            <a:extLst>
              <a:ext uri="{FF2B5EF4-FFF2-40B4-BE49-F238E27FC236}">
                <a16:creationId xmlns:a16="http://schemas.microsoft.com/office/drawing/2014/main" id="{D917F12F-BF93-4E04-B1B9-06659E8F7833}"/>
              </a:ext>
            </a:extLst>
          </p:cNvPr>
          <p:cNvSpPr>
            <a:spLocks noGrp="1"/>
          </p:cNvSpPr>
          <p:nvPr/>
        </p:nvSpPr>
        <p:spPr>
          <a:xfrm>
            <a:off x="6229350" y="5133975"/>
            <a:ext cx="5105400" cy="790575"/>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Accede a las visitas asignadas y registra información de la atención.</a:t>
            </a:r>
          </a:p>
        </p:txBody>
      </p:sp>
      <p:sp>
        <p:nvSpPr>
          <p:cNvPr id="10" name="Rectángulo 9">
            <a:extLst>
              <a:ext uri="{FF2B5EF4-FFF2-40B4-BE49-F238E27FC236}">
                <a16:creationId xmlns:a16="http://schemas.microsoft.com/office/drawing/2014/main" id="{5F77867D-4E31-4589-84BD-34637FC81314}"/>
              </a:ext>
            </a:extLst>
          </p:cNvPr>
          <p:cNvSpPr>
            <a:spLocks noGrp="1"/>
          </p:cNvSpPr>
          <p:nvPr/>
        </p:nvSpPr>
        <p:spPr>
          <a:xfrm>
            <a:off x="628650" y="5781675"/>
            <a:ext cx="2257425" cy="238125"/>
          </a:xfrm>
          <a:prstGeom prst="rect">
            <a:avLst/>
          </a:prstGeom>
          <a:noFill/>
          <a:ln w="0">
            <a:noFill/>
          </a:ln>
        </p:spPr>
        <p:txBody>
          <a:bodyPr lIns="0" tIns="0" rIns="0" bIns="0">
            <a:noAutofit/>
          </a:bodyPr>
          <a:lstStyle/>
          <a:p>
            <a:pPr algn="l">
              <a:buNone/>
              <a:defRPr sz="1350" b="0">
                <a:solidFill>
                  <a:srgbClr val="414B45"/>
                </a:solidFill>
                <a:latin typeface="Arial"/>
                <a:ea typeface="Arial"/>
                <a:cs typeface="Arial"/>
              </a:defRPr>
            </a:pPr>
            <a:r>
              <a:rPr sz="1350" b="0">
                <a:solidFill>
                  <a:srgbClr val="414B45"/>
                </a:solidFill>
                <a:latin typeface="Arial"/>
                <a:ea typeface="Arial"/>
                <a:cs typeface="Arial"/>
              </a:rPr>
              <a:t>Vista del producto</a:t>
            </a:r>
          </a:p>
        </p:txBody>
      </p:sp>
      <p:sp>
        <p:nvSpPr>
          <p:cNvPr id="11" name="Rectángulo 10">
            <a:extLst>
              <a:ext uri="{FF2B5EF4-FFF2-40B4-BE49-F238E27FC236}">
                <a16:creationId xmlns:a16="http://schemas.microsoft.com/office/drawing/2014/main" id="{44C212DA-283E-42D7-9EF8-8380C28805B3}"/>
              </a:ext>
            </a:extLst>
          </p:cNvPr>
          <p:cNvSpPr>
            <a:spLocks noGrp="1"/>
          </p:cNvSpPr>
          <p:nvPr/>
        </p:nvSpPr>
        <p:spPr>
          <a:xfrm>
            <a:off x="3181350" y="5781675"/>
            <a:ext cx="2257425" cy="238125"/>
          </a:xfrm>
          <a:prstGeom prst="rect">
            <a:avLst/>
          </a:prstGeom>
          <a:noFill/>
          <a:ln w="0">
            <a:noFill/>
          </a:ln>
        </p:spPr>
        <p:txBody>
          <a:bodyPr lIns="0" tIns="0" rIns="0" bIns="0">
            <a:noAutofit/>
          </a:bodyPr>
          <a:lstStyle/>
          <a:p>
            <a:pPr algn="l">
              <a:buNone/>
              <a:defRPr sz="1350" b="0">
                <a:solidFill>
                  <a:srgbClr val="414B45"/>
                </a:solidFill>
                <a:latin typeface="Arial"/>
                <a:ea typeface="Arial"/>
                <a:cs typeface="Arial"/>
              </a:defRPr>
            </a:pPr>
            <a:r>
              <a:rPr sz="1350" b="0">
                <a:solidFill>
                  <a:srgbClr val="414B45"/>
                </a:solidFill>
                <a:latin typeface="Arial"/>
                <a:ea typeface="Arial"/>
                <a:cs typeface="Arial"/>
              </a:rPr>
              <a:t>Visitas del técnico</a:t>
            </a:r>
          </a:p>
        </p:txBody>
      </p:sp>
      <p:sp>
        <p:nvSpPr>
          <p:cNvPr id="16" name="Elemento 01">
            <a:extLst>
              <a:ext uri="{FF2B5EF4-FFF2-40B4-BE49-F238E27FC236}">
                <a16:creationId xmlns:a16="http://schemas.microsoft.com/office/drawing/2014/main" id="{EBC4ACE5-32E9-43AD-A40A-3157A7819386}"/>
              </a:ext>
            </a:extLst>
          </p:cNvPr>
          <p:cNvSpPr>
            <a:spLocks noGrp="1"/>
          </p:cNvSpPr>
          <p:nvPr/>
        </p:nvSpPr>
        <p:spPr>
          <a:xfrm>
            <a:off x="6229350" y="279082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01</a:t>
            </a:r>
          </a:p>
        </p:txBody>
      </p:sp>
      <p:sp>
        <p:nvSpPr>
          <p:cNvPr id="17" name="Elemento Cliente">
            <a:extLst>
              <a:ext uri="{FF2B5EF4-FFF2-40B4-BE49-F238E27FC236}">
                <a16:creationId xmlns:a16="http://schemas.microsoft.com/office/drawing/2014/main" id="{966E2D65-303E-4328-80FF-6E269D142D07}"/>
              </a:ext>
            </a:extLst>
          </p:cNvPr>
          <p:cNvSpPr>
            <a:spLocks noGrp="1"/>
          </p:cNvSpPr>
          <p:nvPr/>
        </p:nvSpPr>
        <p:spPr>
          <a:xfrm>
            <a:off x="6724650" y="2790825"/>
            <a:ext cx="461010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Cliente</a:t>
            </a:r>
          </a:p>
        </p:txBody>
      </p:sp>
      <p:sp>
        <p:nvSpPr>
          <p:cNvPr id="18" name="Detalle del ítem">
            <a:extLst>
              <a:ext uri="{FF2B5EF4-FFF2-40B4-BE49-F238E27FC236}">
                <a16:creationId xmlns:a16="http://schemas.microsoft.com/office/drawing/2014/main" id="{B19F3AA8-7794-4617-AEB5-08E24C31F44E}"/>
              </a:ext>
            </a:extLst>
          </p:cNvPr>
          <p:cNvSpPr>
            <a:spLocks noGrp="1"/>
          </p:cNvSpPr>
          <p:nvPr/>
        </p:nvSpPr>
        <p:spPr>
          <a:xfrm>
            <a:off x="6229350" y="3181350"/>
            <a:ext cx="5105400" cy="9525"/>
          </a:xfrm>
          <a:prstGeom prst="rect">
            <a:avLst/>
          </a:prstGeom>
          <a:solidFill>
            <a:srgbClr val="D8DDD2"/>
          </a:solidFill>
          <a:ln w="0">
            <a:noFill/>
          </a:ln>
        </p:spPr>
        <p:txBody>
          <a:bodyPr/>
          <a:lstStyle/>
          <a:p>
            <a:endParaRPr lang="es-419"/>
          </a:p>
        </p:txBody>
      </p:sp>
      <p:sp>
        <p:nvSpPr>
          <p:cNvPr id="19" name="Elemento 02">
            <a:extLst>
              <a:ext uri="{FF2B5EF4-FFF2-40B4-BE49-F238E27FC236}">
                <a16:creationId xmlns:a16="http://schemas.microsoft.com/office/drawing/2014/main" id="{972972E6-375A-45C4-8C0C-E6472DC58CFE}"/>
              </a:ext>
            </a:extLst>
          </p:cNvPr>
          <p:cNvSpPr>
            <a:spLocks noGrp="1"/>
          </p:cNvSpPr>
          <p:nvPr/>
        </p:nvSpPr>
        <p:spPr>
          <a:xfrm>
            <a:off x="6229350" y="4562475"/>
            <a:ext cx="361950" cy="285750"/>
          </a:xfrm>
          <a:prstGeom prst="rect">
            <a:avLst/>
          </a:prstGeom>
          <a:noFill/>
          <a:ln w="0">
            <a:noFill/>
          </a:ln>
        </p:spPr>
        <p:txBody>
          <a:bodyPr wrap="square" lIns="0" tIns="0" rIns="0" bIns="0" anchor="t">
            <a:noAutofit/>
          </a:bodyPr>
          <a:lstStyle/>
          <a:p>
            <a:pPr algn="l">
              <a:buNone/>
              <a:defRPr sz="1725" b="1">
                <a:solidFill>
                  <a:srgbClr val="B2966D"/>
                </a:solidFill>
                <a:latin typeface="Arial"/>
                <a:ea typeface="Arial"/>
                <a:cs typeface="Arial"/>
              </a:defRPr>
            </a:pPr>
            <a:r>
              <a:rPr sz="1725" b="1">
                <a:solidFill>
                  <a:srgbClr val="B2966D"/>
                </a:solidFill>
                <a:latin typeface="Arial"/>
                <a:ea typeface="Arial"/>
                <a:cs typeface="Arial"/>
              </a:rPr>
              <a:t>02</a:t>
            </a:r>
          </a:p>
        </p:txBody>
      </p:sp>
      <p:sp>
        <p:nvSpPr>
          <p:cNvPr id="20" name="Elemento Técnico">
            <a:extLst>
              <a:ext uri="{FF2B5EF4-FFF2-40B4-BE49-F238E27FC236}">
                <a16:creationId xmlns:a16="http://schemas.microsoft.com/office/drawing/2014/main" id="{13D4F63F-0318-424C-A426-4394E8D00B86}"/>
              </a:ext>
            </a:extLst>
          </p:cNvPr>
          <p:cNvSpPr>
            <a:spLocks noGrp="1"/>
          </p:cNvSpPr>
          <p:nvPr/>
        </p:nvSpPr>
        <p:spPr>
          <a:xfrm>
            <a:off x="6724650" y="4562475"/>
            <a:ext cx="4610100" cy="381000"/>
          </a:xfrm>
          <a:prstGeom prst="rect">
            <a:avLst/>
          </a:prstGeom>
          <a:noFill/>
          <a:ln w="0">
            <a:noFill/>
          </a:ln>
        </p:spPr>
        <p:txBody>
          <a:bodyPr wrap="square" lIns="0" tIns="0" rIns="0" bIns="0" anchor="t">
            <a:noAutofit/>
          </a:bodyPr>
          <a:lstStyle/>
          <a:p>
            <a:pPr algn="l">
              <a:buNone/>
              <a:defRPr sz="1875" b="1">
                <a:solidFill>
                  <a:srgbClr val="293B35"/>
                </a:solidFill>
                <a:latin typeface="Arial"/>
                <a:ea typeface="Arial"/>
                <a:cs typeface="Arial"/>
              </a:defRPr>
            </a:pPr>
            <a:r>
              <a:rPr sz="1875" b="1">
                <a:solidFill>
                  <a:srgbClr val="293B35"/>
                </a:solidFill>
                <a:latin typeface="Arial"/>
                <a:ea typeface="Arial"/>
                <a:cs typeface="Arial"/>
              </a:rPr>
              <a:t>Técnico</a:t>
            </a:r>
          </a:p>
        </p:txBody>
      </p:sp>
      <p:sp>
        <p:nvSpPr>
          <p:cNvPr id="21" name="Detalle del ítem">
            <a:extLst>
              <a:ext uri="{FF2B5EF4-FFF2-40B4-BE49-F238E27FC236}">
                <a16:creationId xmlns:a16="http://schemas.microsoft.com/office/drawing/2014/main" id="{91D595C4-C81B-4FAA-8792-F2549CDE0F35}"/>
              </a:ext>
            </a:extLst>
          </p:cNvPr>
          <p:cNvSpPr>
            <a:spLocks noGrp="1"/>
          </p:cNvSpPr>
          <p:nvPr/>
        </p:nvSpPr>
        <p:spPr>
          <a:xfrm>
            <a:off x="6229350" y="4953000"/>
            <a:ext cx="5105400" cy="9525"/>
          </a:xfrm>
          <a:prstGeom prst="rect">
            <a:avLst/>
          </a:prstGeom>
          <a:solidFill>
            <a:srgbClr val="D8DDD2"/>
          </a:solidFill>
          <a:ln w="0">
            <a:noFill/>
          </a:ln>
        </p:spPr>
        <p:txBody>
          <a:bodyPr/>
          <a:lstStyle/>
          <a:p>
            <a:endParaRPr lang="es-419"/>
          </a:p>
        </p:txBody>
      </p:sp>
      <p:sp>
        <p:nvSpPr>
          <p:cNvPr id="22" name="Detalle del ítem">
            <a:extLst>
              <a:ext uri="{FF2B5EF4-FFF2-40B4-BE49-F238E27FC236}">
                <a16:creationId xmlns:a16="http://schemas.microsoft.com/office/drawing/2014/main" id="{E5BDA539-4D80-4634-9FCE-8473B342B04B}"/>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4" name="CuadroTexto 3">
            <a:extLst>
              <a:ext uri="{FF2B5EF4-FFF2-40B4-BE49-F238E27FC236}">
                <a16:creationId xmlns:a16="http://schemas.microsoft.com/office/drawing/2014/main" id="{EBEA33D7-C0B8-32B7-FD34-06C1227B4339}"/>
              </a:ext>
            </a:extLst>
          </p:cNvPr>
          <p:cNvSpPr txBox="1"/>
          <p:nvPr/>
        </p:nvSpPr>
        <p:spPr>
          <a:xfrm>
            <a:off x="628650" y="1449040"/>
            <a:ext cx="10149840" cy="646331"/>
          </a:xfrm>
          <a:prstGeom prst="rect">
            <a:avLst/>
          </a:prstGeom>
          <a:noFill/>
        </p:spPr>
        <p:txBody>
          <a:bodyPr wrap="square" rtlCol="0">
            <a:spAutoFit/>
          </a:bodyPr>
          <a:lstStyle/>
          <a:p>
            <a:r>
              <a:rPr lang="es-ES" dirty="0">
                <a:solidFill>
                  <a:srgbClr val="414B45"/>
                </a:solidFill>
                <a:latin typeface="Arial"/>
                <a:ea typeface="Arial"/>
                <a:cs typeface="Arial"/>
              </a:rPr>
              <a:t>La aplicación extiende el acceso al sistema a dispositivos móviles. Sus recorridos diferencian las necesidades del cliente y del técnico, manteniendo la conexión con la API centralizada</a:t>
            </a:r>
          </a:p>
        </p:txBody>
      </p:sp>
    </p:spTree>
    <p:extLst>
      <p:ext uri="{BB962C8B-B14F-4D97-AF65-F5344CB8AC3E}">
        <p14:creationId xmlns:p14="http://schemas.microsoft.com/office/powerpoint/2010/main" val="1343751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BAD2B9F3-291F-4503-82CF-8B12A8C3CEEB}"/>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Funciones complementarias del sistema</a:t>
            </a:r>
          </a:p>
        </p:txBody>
      </p:sp>
      <p:sp>
        <p:nvSpPr>
          <p:cNvPr id="3" name="Rectángulo 2">
            <a:extLst>
              <a:ext uri="{FF2B5EF4-FFF2-40B4-BE49-F238E27FC236}">
                <a16:creationId xmlns:a16="http://schemas.microsoft.com/office/drawing/2014/main" id="{BB5A3DC1-5DCB-4C7A-A936-C9527F7F8FA5}"/>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13</a:t>
            </a:r>
          </a:p>
        </p:txBody>
      </p:sp>
      <p:sp>
        <p:nvSpPr>
          <p:cNvPr id="4" name="Rectángulo 3">
            <a:extLst>
              <a:ext uri="{FF2B5EF4-FFF2-40B4-BE49-F238E27FC236}">
                <a16:creationId xmlns:a16="http://schemas.microsoft.com/office/drawing/2014/main" id="{BAF2F85D-01E2-43DF-813B-B33308AE790D}"/>
              </a:ext>
            </a:extLst>
          </p:cNvPr>
          <p:cNvSpPr>
            <a:spLocks noGrp="1"/>
          </p:cNvSpPr>
          <p:nvPr/>
        </p:nvSpPr>
        <p:spPr>
          <a:xfrm>
            <a:off x="6286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5" name="Rectángulo 4">
            <a:extLst>
              <a:ext uri="{FF2B5EF4-FFF2-40B4-BE49-F238E27FC236}">
                <a16:creationId xmlns:a16="http://schemas.microsoft.com/office/drawing/2014/main" id="{C714A03C-2105-4405-875B-861E2B826080}"/>
              </a:ext>
            </a:extLst>
          </p:cNvPr>
          <p:cNvSpPr>
            <a:spLocks noGrp="1"/>
          </p:cNvSpPr>
          <p:nvPr/>
        </p:nvSpPr>
        <p:spPr>
          <a:xfrm>
            <a:off x="8953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El vendedor aplica un porcentaje sobre productos. El técnico recibe montos por servicios según el cierre del pedido y la visita.</a:t>
            </a:r>
          </a:p>
        </p:txBody>
      </p:sp>
      <p:sp>
        <p:nvSpPr>
          <p:cNvPr id="6" name="Rectángulo 5">
            <a:extLst>
              <a:ext uri="{FF2B5EF4-FFF2-40B4-BE49-F238E27FC236}">
                <a16:creationId xmlns:a16="http://schemas.microsoft.com/office/drawing/2014/main" id="{CD7807C0-FEB6-424E-A40F-7D1DD1979084}"/>
              </a:ext>
            </a:extLst>
          </p:cNvPr>
          <p:cNvSpPr>
            <a:spLocks noGrp="1"/>
          </p:cNvSpPr>
          <p:nvPr/>
        </p:nvSpPr>
        <p:spPr>
          <a:xfrm>
            <a:off x="434340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5A05E332-8706-443D-8DE3-445AA24BB984}"/>
              </a:ext>
            </a:extLst>
          </p:cNvPr>
          <p:cNvSpPr>
            <a:spLocks noGrp="1"/>
          </p:cNvSpPr>
          <p:nvPr/>
        </p:nvSpPr>
        <p:spPr>
          <a:xfrm>
            <a:off x="461010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El cliente registra solicitudes posteriores a la compra y opiniones sobre su experiencia.</a:t>
            </a:r>
          </a:p>
        </p:txBody>
      </p:sp>
      <p:sp>
        <p:nvSpPr>
          <p:cNvPr id="8" name="Rectángulo 7">
            <a:extLst>
              <a:ext uri="{FF2B5EF4-FFF2-40B4-BE49-F238E27FC236}">
                <a16:creationId xmlns:a16="http://schemas.microsoft.com/office/drawing/2014/main" id="{20CBE482-5A3A-4275-A61B-9304B7DAE918}"/>
              </a:ext>
            </a:extLst>
          </p:cNvPr>
          <p:cNvSpPr>
            <a:spLocks noGrp="1"/>
          </p:cNvSpPr>
          <p:nvPr/>
        </p:nvSpPr>
        <p:spPr>
          <a:xfrm>
            <a:off x="80581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9" name="Rectángulo 8">
            <a:extLst>
              <a:ext uri="{FF2B5EF4-FFF2-40B4-BE49-F238E27FC236}">
                <a16:creationId xmlns:a16="http://schemas.microsoft.com/office/drawing/2014/main" id="{B01E3EE8-F97F-4DA1-8390-1C500BF941AE}"/>
              </a:ext>
            </a:extLst>
          </p:cNvPr>
          <p:cNvSpPr>
            <a:spLocks noGrp="1"/>
          </p:cNvSpPr>
          <p:nvPr/>
        </p:nvSpPr>
        <p:spPr>
          <a:xfrm>
            <a:off x="83248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Los registros administrativos y la cola de correos apoyan el seguimiento de las operaciones.</a:t>
            </a:r>
          </a:p>
        </p:txBody>
      </p:sp>
      <p:sp>
        <p:nvSpPr>
          <p:cNvPr id="12" name="Elemento 01">
            <a:extLst>
              <a:ext uri="{FF2B5EF4-FFF2-40B4-BE49-F238E27FC236}">
                <a16:creationId xmlns:a16="http://schemas.microsoft.com/office/drawing/2014/main" id="{D1B95931-EA60-42BB-8D0E-44794413B5AE}"/>
              </a:ext>
            </a:extLst>
          </p:cNvPr>
          <p:cNvSpPr>
            <a:spLocks noGrp="1"/>
          </p:cNvSpPr>
          <p:nvPr/>
        </p:nvSpPr>
        <p:spPr>
          <a:xfrm>
            <a:off x="8953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3" name="Detalle del ítem">
            <a:extLst>
              <a:ext uri="{FF2B5EF4-FFF2-40B4-BE49-F238E27FC236}">
                <a16:creationId xmlns:a16="http://schemas.microsoft.com/office/drawing/2014/main" id="{9DAC3BFD-B481-4C09-9246-F87357F996E3}"/>
              </a:ext>
            </a:extLst>
          </p:cNvPr>
          <p:cNvSpPr>
            <a:spLocks noGrp="1"/>
          </p:cNvSpPr>
          <p:nvPr/>
        </p:nvSpPr>
        <p:spPr>
          <a:xfrm>
            <a:off x="895350" y="3267075"/>
            <a:ext cx="2952750" cy="9525"/>
          </a:xfrm>
          <a:prstGeom prst="rect">
            <a:avLst/>
          </a:prstGeom>
          <a:solidFill>
            <a:srgbClr val="D8DDD2"/>
          </a:solidFill>
          <a:ln w="0">
            <a:noFill/>
          </a:ln>
        </p:spPr>
        <p:txBody>
          <a:bodyPr/>
          <a:lstStyle/>
          <a:p>
            <a:endParaRPr lang="es-419"/>
          </a:p>
        </p:txBody>
      </p:sp>
      <p:sp>
        <p:nvSpPr>
          <p:cNvPr id="14" name="Elemento Comisiones">
            <a:extLst>
              <a:ext uri="{FF2B5EF4-FFF2-40B4-BE49-F238E27FC236}">
                <a16:creationId xmlns:a16="http://schemas.microsoft.com/office/drawing/2014/main" id="{9D20EB2E-CB26-4B94-8CB2-D18AF772BB2A}"/>
              </a:ext>
            </a:extLst>
          </p:cNvPr>
          <p:cNvSpPr>
            <a:spLocks noGrp="1"/>
          </p:cNvSpPr>
          <p:nvPr/>
        </p:nvSpPr>
        <p:spPr>
          <a:xfrm>
            <a:off x="8953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Comisiones</a:t>
            </a:r>
          </a:p>
        </p:txBody>
      </p:sp>
      <p:sp>
        <p:nvSpPr>
          <p:cNvPr id="15" name="Elemento 02">
            <a:extLst>
              <a:ext uri="{FF2B5EF4-FFF2-40B4-BE49-F238E27FC236}">
                <a16:creationId xmlns:a16="http://schemas.microsoft.com/office/drawing/2014/main" id="{B553C4C9-BD45-450D-805D-1FE7F73FCD4F}"/>
              </a:ext>
            </a:extLst>
          </p:cNvPr>
          <p:cNvSpPr>
            <a:spLocks noGrp="1"/>
          </p:cNvSpPr>
          <p:nvPr/>
        </p:nvSpPr>
        <p:spPr>
          <a:xfrm>
            <a:off x="461010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6" name="Detalle del ítem">
            <a:extLst>
              <a:ext uri="{FF2B5EF4-FFF2-40B4-BE49-F238E27FC236}">
                <a16:creationId xmlns:a16="http://schemas.microsoft.com/office/drawing/2014/main" id="{0F7697F7-A15D-4E9D-BB3C-2CDA6B579A1D}"/>
              </a:ext>
            </a:extLst>
          </p:cNvPr>
          <p:cNvSpPr>
            <a:spLocks noGrp="1"/>
          </p:cNvSpPr>
          <p:nvPr/>
        </p:nvSpPr>
        <p:spPr>
          <a:xfrm>
            <a:off x="4610100" y="3267075"/>
            <a:ext cx="2952750" cy="9525"/>
          </a:xfrm>
          <a:prstGeom prst="rect">
            <a:avLst/>
          </a:prstGeom>
          <a:solidFill>
            <a:srgbClr val="D8DDD2"/>
          </a:solidFill>
          <a:ln w="0">
            <a:noFill/>
          </a:ln>
        </p:spPr>
        <p:txBody>
          <a:bodyPr/>
          <a:lstStyle/>
          <a:p>
            <a:endParaRPr lang="es-419"/>
          </a:p>
        </p:txBody>
      </p:sp>
      <p:sp>
        <p:nvSpPr>
          <p:cNvPr id="17" name="Elemento Postventa y reseñas">
            <a:extLst>
              <a:ext uri="{FF2B5EF4-FFF2-40B4-BE49-F238E27FC236}">
                <a16:creationId xmlns:a16="http://schemas.microsoft.com/office/drawing/2014/main" id="{43E0B677-8081-4B0A-868A-F04E5E0E912D}"/>
              </a:ext>
            </a:extLst>
          </p:cNvPr>
          <p:cNvSpPr>
            <a:spLocks noGrp="1"/>
          </p:cNvSpPr>
          <p:nvPr/>
        </p:nvSpPr>
        <p:spPr>
          <a:xfrm>
            <a:off x="461010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Postventa y reseñas</a:t>
            </a:r>
          </a:p>
        </p:txBody>
      </p:sp>
      <p:sp>
        <p:nvSpPr>
          <p:cNvPr id="18" name="Elemento 03">
            <a:extLst>
              <a:ext uri="{FF2B5EF4-FFF2-40B4-BE49-F238E27FC236}">
                <a16:creationId xmlns:a16="http://schemas.microsoft.com/office/drawing/2014/main" id="{CC6AC43C-C7F6-4B0F-8ED9-D26EB2A9C3AB}"/>
              </a:ext>
            </a:extLst>
          </p:cNvPr>
          <p:cNvSpPr>
            <a:spLocks noGrp="1"/>
          </p:cNvSpPr>
          <p:nvPr/>
        </p:nvSpPr>
        <p:spPr>
          <a:xfrm>
            <a:off x="83248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19" name="Detalle del ítem">
            <a:extLst>
              <a:ext uri="{FF2B5EF4-FFF2-40B4-BE49-F238E27FC236}">
                <a16:creationId xmlns:a16="http://schemas.microsoft.com/office/drawing/2014/main" id="{74F3D1F6-A543-40B7-8AD6-EDB4920F858A}"/>
              </a:ext>
            </a:extLst>
          </p:cNvPr>
          <p:cNvSpPr>
            <a:spLocks noGrp="1"/>
          </p:cNvSpPr>
          <p:nvPr/>
        </p:nvSpPr>
        <p:spPr>
          <a:xfrm>
            <a:off x="8324850" y="3267075"/>
            <a:ext cx="2952750" cy="9525"/>
          </a:xfrm>
          <a:prstGeom prst="rect">
            <a:avLst/>
          </a:prstGeom>
          <a:solidFill>
            <a:srgbClr val="D8DDD2"/>
          </a:solidFill>
          <a:ln w="0">
            <a:noFill/>
          </a:ln>
        </p:spPr>
        <p:txBody>
          <a:bodyPr/>
          <a:lstStyle/>
          <a:p>
            <a:endParaRPr lang="es-419"/>
          </a:p>
        </p:txBody>
      </p:sp>
      <p:sp>
        <p:nvSpPr>
          <p:cNvPr id="20" name="Elemento Auditoría y notificaciones">
            <a:extLst>
              <a:ext uri="{FF2B5EF4-FFF2-40B4-BE49-F238E27FC236}">
                <a16:creationId xmlns:a16="http://schemas.microsoft.com/office/drawing/2014/main" id="{2643E7FC-3992-4AF9-8EB0-A0822514CA3E}"/>
              </a:ext>
            </a:extLst>
          </p:cNvPr>
          <p:cNvSpPr>
            <a:spLocks noGrp="1"/>
          </p:cNvSpPr>
          <p:nvPr/>
        </p:nvSpPr>
        <p:spPr>
          <a:xfrm>
            <a:off x="83248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Auditoría y notificaciones</a:t>
            </a:r>
          </a:p>
        </p:txBody>
      </p:sp>
      <p:sp>
        <p:nvSpPr>
          <p:cNvPr id="21" name="Detalle del ítem">
            <a:extLst>
              <a:ext uri="{FF2B5EF4-FFF2-40B4-BE49-F238E27FC236}">
                <a16:creationId xmlns:a16="http://schemas.microsoft.com/office/drawing/2014/main" id="{1D58B1F9-6316-419A-9F48-1427B3E19666}"/>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10" name="CuadroTexto 9">
            <a:extLst>
              <a:ext uri="{FF2B5EF4-FFF2-40B4-BE49-F238E27FC236}">
                <a16:creationId xmlns:a16="http://schemas.microsoft.com/office/drawing/2014/main" id="{5D2705D6-DFA6-D5C7-F443-CDF7BAFFA0A9}"/>
              </a:ext>
            </a:extLst>
          </p:cNvPr>
          <p:cNvSpPr txBox="1"/>
          <p:nvPr/>
        </p:nvSpPr>
        <p:spPr>
          <a:xfrm>
            <a:off x="628650" y="1496020"/>
            <a:ext cx="8979408" cy="923330"/>
          </a:xfrm>
          <a:prstGeom prst="rect">
            <a:avLst/>
          </a:prstGeom>
          <a:noFill/>
        </p:spPr>
        <p:txBody>
          <a:bodyPr wrap="square" rtlCol="0">
            <a:spAutoFit/>
          </a:bodyPr>
          <a:lstStyle/>
          <a:p>
            <a:r>
              <a:rPr lang="es-ES" dirty="0">
                <a:solidFill>
                  <a:srgbClr val="414B45"/>
                </a:solidFill>
                <a:latin typeface="Arial"/>
                <a:ea typeface="Arial"/>
                <a:cs typeface="Arial"/>
              </a:rPr>
              <a:t>El desarrollo también incorpora funciones posteriores a la compra y registros de seguimiento. Estas capacidades amplían la trazabilidad del pedido y de la atención realizada</a:t>
            </a:r>
          </a:p>
        </p:txBody>
      </p:sp>
    </p:spTree>
    <p:extLst>
      <p:ext uri="{BB962C8B-B14F-4D97-AF65-F5344CB8AC3E}">
        <p14:creationId xmlns:p14="http://schemas.microsoft.com/office/powerpoint/2010/main" val="1774534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D3B186D5-7B44-41B4-B4BF-77F8C11E5519}"/>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Webpay Plus: integración en curso</a:t>
            </a:r>
          </a:p>
        </p:txBody>
      </p:sp>
      <p:sp>
        <p:nvSpPr>
          <p:cNvPr id="3" name="Rectángulo 2">
            <a:extLst>
              <a:ext uri="{FF2B5EF4-FFF2-40B4-BE49-F238E27FC236}">
                <a16:creationId xmlns:a16="http://schemas.microsoft.com/office/drawing/2014/main" id="{FE61F03B-EC7D-423A-BDD6-D0BBA8AD8D86}"/>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14</a:t>
            </a:r>
          </a:p>
        </p:txBody>
      </p:sp>
      <p:sp>
        <p:nvSpPr>
          <p:cNvPr id="4" name="Rectángulo 3">
            <a:extLst>
              <a:ext uri="{FF2B5EF4-FFF2-40B4-BE49-F238E27FC236}">
                <a16:creationId xmlns:a16="http://schemas.microsoft.com/office/drawing/2014/main" id="{1E141944-8403-40FC-90C5-79CE45259070}"/>
              </a:ext>
            </a:extLst>
          </p:cNvPr>
          <p:cNvSpPr>
            <a:spLocks noGrp="1"/>
          </p:cNvSpPr>
          <p:nvPr/>
        </p:nvSpPr>
        <p:spPr>
          <a:xfrm>
            <a:off x="6286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5" name="Rectángulo 4">
            <a:extLst>
              <a:ext uri="{FF2B5EF4-FFF2-40B4-BE49-F238E27FC236}">
                <a16:creationId xmlns:a16="http://schemas.microsoft.com/office/drawing/2014/main" id="{9C5155D1-BEF8-4C33-BEF7-696119E88D34}"/>
              </a:ext>
            </a:extLst>
          </p:cNvPr>
          <p:cNvSpPr>
            <a:spLocks noGrp="1"/>
          </p:cNvSpPr>
          <p:nvPr/>
        </p:nvSpPr>
        <p:spPr>
          <a:xfrm>
            <a:off x="8953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Servicio de integración y procesamiento del retorno de la transacción en el backend.</a:t>
            </a:r>
          </a:p>
        </p:txBody>
      </p:sp>
      <p:sp>
        <p:nvSpPr>
          <p:cNvPr id="6" name="Rectángulo 5">
            <a:extLst>
              <a:ext uri="{FF2B5EF4-FFF2-40B4-BE49-F238E27FC236}">
                <a16:creationId xmlns:a16="http://schemas.microsoft.com/office/drawing/2014/main" id="{999B37CB-F580-4FDB-BC05-13D258C8BC5A}"/>
              </a:ext>
            </a:extLst>
          </p:cNvPr>
          <p:cNvSpPr>
            <a:spLocks noGrp="1"/>
          </p:cNvSpPr>
          <p:nvPr/>
        </p:nvSpPr>
        <p:spPr>
          <a:xfrm>
            <a:off x="434340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3D971215-F072-4C1C-A1A3-1FF626069B34}"/>
              </a:ext>
            </a:extLst>
          </p:cNvPr>
          <p:cNvSpPr>
            <a:spLocks noGrp="1"/>
          </p:cNvSpPr>
          <p:nvPr/>
        </p:nvSpPr>
        <p:spPr>
          <a:xfrm>
            <a:off x="461010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Validar autorización, rechazo, anulación y expiración, junto con el estado del pedido.</a:t>
            </a:r>
          </a:p>
        </p:txBody>
      </p:sp>
      <p:sp>
        <p:nvSpPr>
          <p:cNvPr id="8" name="Rectángulo 7">
            <a:extLst>
              <a:ext uri="{FF2B5EF4-FFF2-40B4-BE49-F238E27FC236}">
                <a16:creationId xmlns:a16="http://schemas.microsoft.com/office/drawing/2014/main" id="{04D5C97F-4784-4EBD-8261-7BE04B0B0F19}"/>
              </a:ext>
            </a:extLst>
          </p:cNvPr>
          <p:cNvSpPr>
            <a:spLocks noGrp="1"/>
          </p:cNvSpPr>
          <p:nvPr/>
        </p:nvSpPr>
        <p:spPr>
          <a:xfrm>
            <a:off x="80581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9" name="Rectángulo 8">
            <a:extLst>
              <a:ext uri="{FF2B5EF4-FFF2-40B4-BE49-F238E27FC236}">
                <a16:creationId xmlns:a16="http://schemas.microsoft.com/office/drawing/2014/main" id="{4AC46BB2-D1CA-49FA-9575-C74EB56179B2}"/>
              </a:ext>
            </a:extLst>
          </p:cNvPr>
          <p:cNvSpPr>
            <a:spLocks noGrp="1"/>
          </p:cNvSpPr>
          <p:nvPr/>
        </p:nvSpPr>
        <p:spPr>
          <a:xfrm>
            <a:off x="83248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Registrar el resultado de cada caso y comprobar su persistencia en la base de datos.</a:t>
            </a:r>
          </a:p>
        </p:txBody>
      </p:sp>
      <p:sp>
        <p:nvSpPr>
          <p:cNvPr id="12" name="Elemento 01">
            <a:extLst>
              <a:ext uri="{FF2B5EF4-FFF2-40B4-BE49-F238E27FC236}">
                <a16:creationId xmlns:a16="http://schemas.microsoft.com/office/drawing/2014/main" id="{DF1FB422-F036-49DD-9EBF-96F58CBAEA6C}"/>
              </a:ext>
            </a:extLst>
          </p:cNvPr>
          <p:cNvSpPr>
            <a:spLocks noGrp="1"/>
          </p:cNvSpPr>
          <p:nvPr/>
        </p:nvSpPr>
        <p:spPr>
          <a:xfrm>
            <a:off x="8953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3" name="Detalle del ítem">
            <a:extLst>
              <a:ext uri="{FF2B5EF4-FFF2-40B4-BE49-F238E27FC236}">
                <a16:creationId xmlns:a16="http://schemas.microsoft.com/office/drawing/2014/main" id="{300F2B40-A88D-4B3C-9D94-17F3230CFFEF}"/>
              </a:ext>
            </a:extLst>
          </p:cNvPr>
          <p:cNvSpPr>
            <a:spLocks noGrp="1"/>
          </p:cNvSpPr>
          <p:nvPr/>
        </p:nvSpPr>
        <p:spPr>
          <a:xfrm>
            <a:off x="895350" y="3267075"/>
            <a:ext cx="2952750" cy="9525"/>
          </a:xfrm>
          <a:prstGeom prst="rect">
            <a:avLst/>
          </a:prstGeom>
          <a:solidFill>
            <a:srgbClr val="D8DDD2"/>
          </a:solidFill>
          <a:ln w="0">
            <a:noFill/>
          </a:ln>
        </p:spPr>
        <p:txBody>
          <a:bodyPr/>
          <a:lstStyle/>
          <a:p>
            <a:endParaRPr lang="es-419"/>
          </a:p>
        </p:txBody>
      </p:sp>
      <p:sp>
        <p:nvSpPr>
          <p:cNvPr id="14" name="Elemento Trabajo implementado">
            <a:extLst>
              <a:ext uri="{FF2B5EF4-FFF2-40B4-BE49-F238E27FC236}">
                <a16:creationId xmlns:a16="http://schemas.microsoft.com/office/drawing/2014/main" id="{44FCD418-4A9F-464D-8CA9-4DE436FA35D8}"/>
              </a:ext>
            </a:extLst>
          </p:cNvPr>
          <p:cNvSpPr>
            <a:spLocks noGrp="1"/>
          </p:cNvSpPr>
          <p:nvPr/>
        </p:nvSpPr>
        <p:spPr>
          <a:xfrm>
            <a:off x="8953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Trabajo implementado</a:t>
            </a:r>
          </a:p>
        </p:txBody>
      </p:sp>
      <p:sp>
        <p:nvSpPr>
          <p:cNvPr id="15" name="Elemento 02">
            <a:extLst>
              <a:ext uri="{FF2B5EF4-FFF2-40B4-BE49-F238E27FC236}">
                <a16:creationId xmlns:a16="http://schemas.microsoft.com/office/drawing/2014/main" id="{6B3EC2F7-1482-49A4-803B-D29C6C943F99}"/>
              </a:ext>
            </a:extLst>
          </p:cNvPr>
          <p:cNvSpPr>
            <a:spLocks noGrp="1"/>
          </p:cNvSpPr>
          <p:nvPr/>
        </p:nvSpPr>
        <p:spPr>
          <a:xfrm>
            <a:off x="461010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6" name="Detalle del ítem">
            <a:extLst>
              <a:ext uri="{FF2B5EF4-FFF2-40B4-BE49-F238E27FC236}">
                <a16:creationId xmlns:a16="http://schemas.microsoft.com/office/drawing/2014/main" id="{5C6FE490-B56E-493D-80C1-08E3769700E3}"/>
              </a:ext>
            </a:extLst>
          </p:cNvPr>
          <p:cNvSpPr>
            <a:spLocks noGrp="1"/>
          </p:cNvSpPr>
          <p:nvPr/>
        </p:nvSpPr>
        <p:spPr>
          <a:xfrm>
            <a:off x="4610100" y="3267075"/>
            <a:ext cx="2952750" cy="9525"/>
          </a:xfrm>
          <a:prstGeom prst="rect">
            <a:avLst/>
          </a:prstGeom>
          <a:solidFill>
            <a:srgbClr val="D8DDD2"/>
          </a:solidFill>
          <a:ln w="0">
            <a:noFill/>
          </a:ln>
        </p:spPr>
        <p:txBody>
          <a:bodyPr/>
          <a:lstStyle/>
          <a:p>
            <a:endParaRPr lang="es-419"/>
          </a:p>
        </p:txBody>
      </p:sp>
      <p:sp>
        <p:nvSpPr>
          <p:cNvPr id="17" name="Elemento Comprobación pendiente">
            <a:extLst>
              <a:ext uri="{FF2B5EF4-FFF2-40B4-BE49-F238E27FC236}">
                <a16:creationId xmlns:a16="http://schemas.microsoft.com/office/drawing/2014/main" id="{ABCFA0B3-6033-435B-ADC9-621799969DD8}"/>
              </a:ext>
            </a:extLst>
          </p:cNvPr>
          <p:cNvSpPr>
            <a:spLocks noGrp="1"/>
          </p:cNvSpPr>
          <p:nvPr/>
        </p:nvSpPr>
        <p:spPr>
          <a:xfrm>
            <a:off x="461010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Comprobación pendiente</a:t>
            </a:r>
          </a:p>
        </p:txBody>
      </p:sp>
      <p:sp>
        <p:nvSpPr>
          <p:cNvPr id="18" name="Elemento 03">
            <a:extLst>
              <a:ext uri="{FF2B5EF4-FFF2-40B4-BE49-F238E27FC236}">
                <a16:creationId xmlns:a16="http://schemas.microsoft.com/office/drawing/2014/main" id="{4256B5C3-27DD-40C1-B467-93027DE7D0DD}"/>
              </a:ext>
            </a:extLst>
          </p:cNvPr>
          <p:cNvSpPr>
            <a:spLocks noGrp="1"/>
          </p:cNvSpPr>
          <p:nvPr/>
        </p:nvSpPr>
        <p:spPr>
          <a:xfrm>
            <a:off x="83248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19" name="Detalle del ítem">
            <a:extLst>
              <a:ext uri="{FF2B5EF4-FFF2-40B4-BE49-F238E27FC236}">
                <a16:creationId xmlns:a16="http://schemas.microsoft.com/office/drawing/2014/main" id="{C4061D20-AE8C-491D-A89E-D5ED4199633C}"/>
              </a:ext>
            </a:extLst>
          </p:cNvPr>
          <p:cNvSpPr>
            <a:spLocks noGrp="1"/>
          </p:cNvSpPr>
          <p:nvPr/>
        </p:nvSpPr>
        <p:spPr>
          <a:xfrm>
            <a:off x="8324850" y="3267075"/>
            <a:ext cx="2952750" cy="9525"/>
          </a:xfrm>
          <a:prstGeom prst="rect">
            <a:avLst/>
          </a:prstGeom>
          <a:solidFill>
            <a:srgbClr val="D8DDD2"/>
          </a:solidFill>
          <a:ln w="0">
            <a:noFill/>
          </a:ln>
        </p:spPr>
        <p:txBody>
          <a:bodyPr/>
          <a:lstStyle/>
          <a:p>
            <a:endParaRPr lang="es-419"/>
          </a:p>
        </p:txBody>
      </p:sp>
      <p:sp>
        <p:nvSpPr>
          <p:cNvPr id="20" name="Elemento Evidencia de cierre">
            <a:extLst>
              <a:ext uri="{FF2B5EF4-FFF2-40B4-BE49-F238E27FC236}">
                <a16:creationId xmlns:a16="http://schemas.microsoft.com/office/drawing/2014/main" id="{A66986C0-D273-4759-87DD-AB51AB49BF15}"/>
              </a:ext>
            </a:extLst>
          </p:cNvPr>
          <p:cNvSpPr>
            <a:spLocks noGrp="1"/>
          </p:cNvSpPr>
          <p:nvPr/>
        </p:nvSpPr>
        <p:spPr>
          <a:xfrm>
            <a:off x="83248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Evidencia de cierre</a:t>
            </a:r>
          </a:p>
        </p:txBody>
      </p:sp>
      <p:sp>
        <p:nvSpPr>
          <p:cNvPr id="21" name="Detalle del ítem">
            <a:extLst>
              <a:ext uri="{FF2B5EF4-FFF2-40B4-BE49-F238E27FC236}">
                <a16:creationId xmlns:a16="http://schemas.microsoft.com/office/drawing/2014/main" id="{0A107553-B9A0-49FC-A7E6-167B0AB27C79}"/>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10" name="CuadroTexto 9">
            <a:extLst>
              <a:ext uri="{FF2B5EF4-FFF2-40B4-BE49-F238E27FC236}">
                <a16:creationId xmlns:a16="http://schemas.microsoft.com/office/drawing/2014/main" id="{5B2958FF-7BCF-AECF-7F76-5EF5BE15E242}"/>
              </a:ext>
            </a:extLst>
          </p:cNvPr>
          <p:cNvSpPr txBox="1"/>
          <p:nvPr/>
        </p:nvSpPr>
        <p:spPr>
          <a:xfrm>
            <a:off x="628650" y="1496020"/>
            <a:ext cx="9628632" cy="923330"/>
          </a:xfrm>
          <a:prstGeom prst="rect">
            <a:avLst/>
          </a:prstGeom>
          <a:noFill/>
        </p:spPr>
        <p:txBody>
          <a:bodyPr wrap="square" rtlCol="0">
            <a:spAutoFit/>
          </a:bodyPr>
          <a:lstStyle/>
          <a:p>
            <a:r>
              <a:rPr lang="es-ES" dirty="0">
                <a:solidFill>
                  <a:srgbClr val="414B45"/>
                </a:solidFill>
                <a:latin typeface="Arial"/>
                <a:ea typeface="Arial"/>
                <a:cs typeface="Arial"/>
              </a:rPr>
              <a:t>La integración de Webpay Plus busca asociar el resultado del pago con el pedido. El código contempla iniciar, consultar y confirmar transacciones, con su comprobación final prevista para la semana 17</a:t>
            </a:r>
          </a:p>
        </p:txBody>
      </p:sp>
    </p:spTree>
    <p:extLst>
      <p:ext uri="{BB962C8B-B14F-4D97-AF65-F5344CB8AC3E}">
        <p14:creationId xmlns:p14="http://schemas.microsoft.com/office/powerpoint/2010/main" val="2068056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C7309D84-E6FA-42A2-ADEF-3AC5F2859696}"/>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Validación del producto y del proceso</a:t>
            </a:r>
          </a:p>
        </p:txBody>
      </p:sp>
      <p:sp>
        <p:nvSpPr>
          <p:cNvPr id="3" name="Rectángulo 2">
            <a:extLst>
              <a:ext uri="{FF2B5EF4-FFF2-40B4-BE49-F238E27FC236}">
                <a16:creationId xmlns:a16="http://schemas.microsoft.com/office/drawing/2014/main" id="{980EC6E1-3FA8-48A7-A62C-9DA5D02FDB17}"/>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15</a:t>
            </a:r>
          </a:p>
        </p:txBody>
      </p:sp>
      <p:sp>
        <p:nvSpPr>
          <p:cNvPr id="4" name="Rectángulo 3">
            <a:extLst>
              <a:ext uri="{FF2B5EF4-FFF2-40B4-BE49-F238E27FC236}">
                <a16:creationId xmlns:a16="http://schemas.microsoft.com/office/drawing/2014/main" id="{EAB1DF66-3EFF-4D94-90A7-B6AEE8DE6069}"/>
              </a:ext>
            </a:extLst>
          </p:cNvPr>
          <p:cNvSpPr>
            <a:spLocks noGrp="1"/>
          </p:cNvSpPr>
          <p:nvPr/>
        </p:nvSpPr>
        <p:spPr>
          <a:xfrm>
            <a:off x="6286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5" name="Rectángulo 4">
            <a:extLst>
              <a:ext uri="{FF2B5EF4-FFF2-40B4-BE49-F238E27FC236}">
                <a16:creationId xmlns:a16="http://schemas.microsoft.com/office/drawing/2014/main" id="{3169686B-8A47-46CC-9EC6-E1F9AB8F9AB9}"/>
              </a:ext>
            </a:extLst>
          </p:cNvPr>
          <p:cNvSpPr>
            <a:spLocks noGrp="1"/>
          </p:cNvSpPr>
          <p:nvPr/>
        </p:nvSpPr>
        <p:spPr>
          <a:xfrm>
            <a:off x="8953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Comprobar cotización, roles, agenda y pagos, además de seguridad y compatibilidad.</a:t>
            </a:r>
          </a:p>
        </p:txBody>
      </p:sp>
      <p:sp>
        <p:nvSpPr>
          <p:cNvPr id="6" name="Rectángulo 5">
            <a:extLst>
              <a:ext uri="{FF2B5EF4-FFF2-40B4-BE49-F238E27FC236}">
                <a16:creationId xmlns:a16="http://schemas.microsoft.com/office/drawing/2014/main" id="{0B4F72AA-ED5F-423A-9ACA-F6E26CB61134}"/>
              </a:ext>
            </a:extLst>
          </p:cNvPr>
          <p:cNvSpPr>
            <a:spLocks noGrp="1"/>
          </p:cNvSpPr>
          <p:nvPr/>
        </p:nvSpPr>
        <p:spPr>
          <a:xfrm>
            <a:off x="434340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7" name="Rectángulo 6">
            <a:extLst>
              <a:ext uri="{FF2B5EF4-FFF2-40B4-BE49-F238E27FC236}">
                <a16:creationId xmlns:a16="http://schemas.microsoft.com/office/drawing/2014/main" id="{7E82763A-E479-43D1-9D7A-289AE7840228}"/>
              </a:ext>
            </a:extLst>
          </p:cNvPr>
          <p:cNvSpPr>
            <a:spLocks noGrp="1"/>
          </p:cNvSpPr>
          <p:nvPr/>
        </p:nvSpPr>
        <p:spPr>
          <a:xfrm>
            <a:off x="461010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Relacionar requisito, caso de prueba, resultado y evidencia de ejecución.</a:t>
            </a:r>
          </a:p>
        </p:txBody>
      </p:sp>
      <p:sp>
        <p:nvSpPr>
          <p:cNvPr id="8" name="Rectángulo 7">
            <a:extLst>
              <a:ext uri="{FF2B5EF4-FFF2-40B4-BE49-F238E27FC236}">
                <a16:creationId xmlns:a16="http://schemas.microsoft.com/office/drawing/2014/main" id="{577E3CB8-DB1C-400C-947F-3E8A25B72AB8}"/>
              </a:ext>
            </a:extLst>
          </p:cNvPr>
          <p:cNvSpPr>
            <a:spLocks noGrp="1"/>
          </p:cNvSpPr>
          <p:nvPr/>
        </p:nvSpPr>
        <p:spPr>
          <a:xfrm>
            <a:off x="8058150" y="2647950"/>
            <a:ext cx="3486150" cy="3390900"/>
          </a:xfrm>
          <a:prstGeom prst="roundRect">
            <a:avLst>
              <a:gd name="adj" fmla="val 3933"/>
            </a:avLst>
          </a:prstGeom>
          <a:solidFill>
            <a:srgbClr val="FFFDFC"/>
          </a:solidFill>
          <a:ln w="11430">
            <a:solidFill>
              <a:srgbClr val="C8D1C7"/>
            </a:solidFill>
            <a:prstDash val="solid"/>
          </a:ln>
        </p:spPr>
        <p:style>
          <a:lnRef idx="0">
            <a:scrgbClr r="0" g="0" b="0"/>
          </a:lnRef>
          <a:fillRef idx="0">
            <a:scrgbClr r="0" g="0" b="0"/>
          </a:fillRef>
          <a:effectRef idx="10">
            <a:scrgbClr r="0" g="0" b="0"/>
          </a:effectRef>
          <a:fontRef idx="major"/>
        </p:style>
        <p:txBody>
          <a:bodyPr lIns="228600" tIns="228600" rIns="228600" bIns="228600" anchor="t">
            <a:noAutofit/>
          </a:bodyPr>
          <a:lstStyle/>
          <a:p>
            <a:pPr algn="l">
              <a:buNone/>
              <a:defRPr sz="2175" b="1">
                <a:solidFill>
                  <a:srgbClr val="293B35"/>
                </a:solidFill>
                <a:latin typeface="Arial"/>
                <a:ea typeface="Arial"/>
                <a:cs typeface="Arial"/>
              </a:defRPr>
            </a:pPr>
            <a:endParaRPr/>
          </a:p>
        </p:txBody>
      </p:sp>
      <p:sp>
        <p:nvSpPr>
          <p:cNvPr id="9" name="Rectángulo 8">
            <a:extLst>
              <a:ext uri="{FF2B5EF4-FFF2-40B4-BE49-F238E27FC236}">
                <a16:creationId xmlns:a16="http://schemas.microsoft.com/office/drawing/2014/main" id="{C81C8E01-64FC-407A-977E-7B4ABE0246D9}"/>
              </a:ext>
            </a:extLst>
          </p:cNvPr>
          <p:cNvSpPr>
            <a:spLocks noGrp="1"/>
          </p:cNvSpPr>
          <p:nvPr/>
        </p:nvSpPr>
        <p:spPr>
          <a:xfrm>
            <a:off x="8324850" y="4210050"/>
            <a:ext cx="2952750" cy="1600200"/>
          </a:xfrm>
          <a:prstGeom prst="rect">
            <a:avLst/>
          </a:prstGeom>
          <a:noFill/>
          <a:ln w="0">
            <a:noFill/>
          </a:ln>
        </p:spPr>
        <p:txBody>
          <a:bodyPr wrap="square" lIns="0" tIns="0" rIns="0" bIns="0" anchor="t">
            <a:noAutofit/>
          </a:bodyPr>
          <a:lstStyle/>
          <a:p>
            <a:pPr algn="l">
              <a:buNone/>
              <a:defRPr sz="1725" b="0">
                <a:solidFill>
                  <a:srgbClr val="4C5750"/>
                </a:solidFill>
                <a:latin typeface="Arial"/>
                <a:ea typeface="Arial"/>
                <a:cs typeface="Arial"/>
              </a:defRPr>
            </a:pPr>
            <a:r>
              <a:rPr sz="1725" b="0">
                <a:solidFill>
                  <a:srgbClr val="4C5750"/>
                </a:solidFill>
                <a:latin typeface="Arial"/>
                <a:ea typeface="Arial"/>
                <a:cs typeface="Arial"/>
              </a:rPr>
              <a:t>Registrar el defecto, aplicar la mejora y repetir el caso antes de aprobar su cierre.</a:t>
            </a:r>
          </a:p>
        </p:txBody>
      </p:sp>
      <p:sp>
        <p:nvSpPr>
          <p:cNvPr id="12" name="Elemento 01">
            <a:extLst>
              <a:ext uri="{FF2B5EF4-FFF2-40B4-BE49-F238E27FC236}">
                <a16:creationId xmlns:a16="http://schemas.microsoft.com/office/drawing/2014/main" id="{F970B737-38E9-4CC6-9C90-D0FF4C1ABA36}"/>
              </a:ext>
            </a:extLst>
          </p:cNvPr>
          <p:cNvSpPr>
            <a:spLocks noGrp="1"/>
          </p:cNvSpPr>
          <p:nvPr/>
        </p:nvSpPr>
        <p:spPr>
          <a:xfrm>
            <a:off x="8953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01</a:t>
            </a:r>
          </a:p>
        </p:txBody>
      </p:sp>
      <p:sp>
        <p:nvSpPr>
          <p:cNvPr id="13" name="Detalle del ítem">
            <a:extLst>
              <a:ext uri="{FF2B5EF4-FFF2-40B4-BE49-F238E27FC236}">
                <a16:creationId xmlns:a16="http://schemas.microsoft.com/office/drawing/2014/main" id="{A04555BC-440D-4A9C-B3DA-A268085E1960}"/>
              </a:ext>
            </a:extLst>
          </p:cNvPr>
          <p:cNvSpPr>
            <a:spLocks noGrp="1"/>
          </p:cNvSpPr>
          <p:nvPr/>
        </p:nvSpPr>
        <p:spPr>
          <a:xfrm>
            <a:off x="895350" y="3267075"/>
            <a:ext cx="2952750" cy="9525"/>
          </a:xfrm>
          <a:prstGeom prst="rect">
            <a:avLst/>
          </a:prstGeom>
          <a:solidFill>
            <a:srgbClr val="D8DDD2"/>
          </a:solidFill>
          <a:ln w="0">
            <a:noFill/>
          </a:ln>
        </p:spPr>
        <p:txBody>
          <a:bodyPr/>
          <a:lstStyle/>
          <a:p>
            <a:endParaRPr lang="es-419"/>
          </a:p>
        </p:txBody>
      </p:sp>
      <p:sp>
        <p:nvSpPr>
          <p:cNvPr id="14" name="Elemento Pruebas del producto">
            <a:extLst>
              <a:ext uri="{FF2B5EF4-FFF2-40B4-BE49-F238E27FC236}">
                <a16:creationId xmlns:a16="http://schemas.microsoft.com/office/drawing/2014/main" id="{211D7433-5665-454B-8426-CFB4FDDD7314}"/>
              </a:ext>
            </a:extLst>
          </p:cNvPr>
          <p:cNvSpPr>
            <a:spLocks noGrp="1"/>
          </p:cNvSpPr>
          <p:nvPr/>
        </p:nvSpPr>
        <p:spPr>
          <a:xfrm>
            <a:off x="8953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Pruebas del producto</a:t>
            </a:r>
          </a:p>
        </p:txBody>
      </p:sp>
      <p:sp>
        <p:nvSpPr>
          <p:cNvPr id="15" name="Elemento 02">
            <a:extLst>
              <a:ext uri="{FF2B5EF4-FFF2-40B4-BE49-F238E27FC236}">
                <a16:creationId xmlns:a16="http://schemas.microsoft.com/office/drawing/2014/main" id="{20A9ED76-08A4-415D-AE58-FA455953603A}"/>
              </a:ext>
            </a:extLst>
          </p:cNvPr>
          <p:cNvSpPr>
            <a:spLocks noGrp="1"/>
          </p:cNvSpPr>
          <p:nvPr/>
        </p:nvSpPr>
        <p:spPr>
          <a:xfrm>
            <a:off x="461010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02</a:t>
            </a:r>
          </a:p>
        </p:txBody>
      </p:sp>
      <p:sp>
        <p:nvSpPr>
          <p:cNvPr id="16" name="Detalle del ítem">
            <a:extLst>
              <a:ext uri="{FF2B5EF4-FFF2-40B4-BE49-F238E27FC236}">
                <a16:creationId xmlns:a16="http://schemas.microsoft.com/office/drawing/2014/main" id="{9F90ABF3-8872-4172-BA79-02849A397DEB}"/>
              </a:ext>
            </a:extLst>
          </p:cNvPr>
          <p:cNvSpPr>
            <a:spLocks noGrp="1"/>
          </p:cNvSpPr>
          <p:nvPr/>
        </p:nvSpPr>
        <p:spPr>
          <a:xfrm>
            <a:off x="4610100" y="3267075"/>
            <a:ext cx="2952750" cy="9525"/>
          </a:xfrm>
          <a:prstGeom prst="rect">
            <a:avLst/>
          </a:prstGeom>
          <a:solidFill>
            <a:srgbClr val="D8DDD2"/>
          </a:solidFill>
          <a:ln w="0">
            <a:noFill/>
          </a:ln>
        </p:spPr>
        <p:txBody>
          <a:bodyPr/>
          <a:lstStyle/>
          <a:p>
            <a:endParaRPr lang="es-419"/>
          </a:p>
        </p:txBody>
      </p:sp>
      <p:sp>
        <p:nvSpPr>
          <p:cNvPr id="17" name="Elemento Trazabilidad del proceso">
            <a:extLst>
              <a:ext uri="{FF2B5EF4-FFF2-40B4-BE49-F238E27FC236}">
                <a16:creationId xmlns:a16="http://schemas.microsoft.com/office/drawing/2014/main" id="{09828A04-50DB-46EA-82E9-18C2846610F7}"/>
              </a:ext>
            </a:extLst>
          </p:cNvPr>
          <p:cNvSpPr>
            <a:spLocks noGrp="1"/>
          </p:cNvSpPr>
          <p:nvPr/>
        </p:nvSpPr>
        <p:spPr>
          <a:xfrm>
            <a:off x="461010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Trazabilidad del proceso</a:t>
            </a:r>
          </a:p>
        </p:txBody>
      </p:sp>
      <p:sp>
        <p:nvSpPr>
          <p:cNvPr id="18" name="Elemento 03">
            <a:extLst>
              <a:ext uri="{FF2B5EF4-FFF2-40B4-BE49-F238E27FC236}">
                <a16:creationId xmlns:a16="http://schemas.microsoft.com/office/drawing/2014/main" id="{7A7E37D3-B85A-49F9-BA39-0A73A63B10F4}"/>
              </a:ext>
            </a:extLst>
          </p:cNvPr>
          <p:cNvSpPr>
            <a:spLocks noGrp="1"/>
          </p:cNvSpPr>
          <p:nvPr/>
        </p:nvSpPr>
        <p:spPr>
          <a:xfrm>
            <a:off x="8324850" y="2857500"/>
            <a:ext cx="590550" cy="361950"/>
          </a:xfrm>
          <a:prstGeom prst="rect">
            <a:avLst/>
          </a:prstGeom>
          <a:noFill/>
          <a:ln w="0">
            <a:noFill/>
          </a:ln>
        </p:spPr>
        <p:txBody>
          <a:bodyPr wrap="square" lIns="0" tIns="0" rIns="0" bIns="0" anchor="t">
            <a:noAutofit/>
          </a:bodyPr>
          <a:lstStyle/>
          <a:p>
            <a:pPr algn="l">
              <a:buNone/>
              <a:defRPr sz="2100" b="1">
                <a:solidFill>
                  <a:srgbClr val="B2966D"/>
                </a:solidFill>
                <a:latin typeface="Arial"/>
                <a:ea typeface="Arial"/>
                <a:cs typeface="Arial"/>
              </a:defRPr>
            </a:pPr>
            <a:r>
              <a:rPr sz="2100" b="1">
                <a:solidFill>
                  <a:srgbClr val="B2966D"/>
                </a:solidFill>
                <a:latin typeface="Arial"/>
                <a:ea typeface="Arial"/>
                <a:cs typeface="Arial"/>
              </a:rPr>
              <a:t>03</a:t>
            </a:r>
          </a:p>
        </p:txBody>
      </p:sp>
      <p:sp>
        <p:nvSpPr>
          <p:cNvPr id="19" name="Detalle del ítem">
            <a:extLst>
              <a:ext uri="{FF2B5EF4-FFF2-40B4-BE49-F238E27FC236}">
                <a16:creationId xmlns:a16="http://schemas.microsoft.com/office/drawing/2014/main" id="{04E423AF-EDCB-46E0-ABF2-379806A75A68}"/>
              </a:ext>
            </a:extLst>
          </p:cNvPr>
          <p:cNvSpPr>
            <a:spLocks noGrp="1"/>
          </p:cNvSpPr>
          <p:nvPr/>
        </p:nvSpPr>
        <p:spPr>
          <a:xfrm>
            <a:off x="8324850" y="3267075"/>
            <a:ext cx="2952750" cy="9525"/>
          </a:xfrm>
          <a:prstGeom prst="rect">
            <a:avLst/>
          </a:prstGeom>
          <a:solidFill>
            <a:srgbClr val="D8DDD2"/>
          </a:solidFill>
          <a:ln w="0">
            <a:noFill/>
          </a:ln>
        </p:spPr>
        <p:txBody>
          <a:bodyPr/>
          <a:lstStyle/>
          <a:p>
            <a:endParaRPr lang="es-419"/>
          </a:p>
        </p:txBody>
      </p:sp>
      <p:sp>
        <p:nvSpPr>
          <p:cNvPr id="20" name="Elemento Corrección y reprueba">
            <a:extLst>
              <a:ext uri="{FF2B5EF4-FFF2-40B4-BE49-F238E27FC236}">
                <a16:creationId xmlns:a16="http://schemas.microsoft.com/office/drawing/2014/main" id="{74EF0C3A-901D-4203-90FB-29795B513A05}"/>
              </a:ext>
            </a:extLst>
          </p:cNvPr>
          <p:cNvSpPr>
            <a:spLocks noGrp="1"/>
          </p:cNvSpPr>
          <p:nvPr/>
        </p:nvSpPr>
        <p:spPr>
          <a:xfrm>
            <a:off x="8324850" y="3467100"/>
            <a:ext cx="2952750" cy="6096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a:solidFill>
                  <a:srgbClr val="293B35"/>
                </a:solidFill>
                <a:latin typeface="Arial"/>
                <a:ea typeface="Arial"/>
                <a:cs typeface="Arial"/>
              </a:rPr>
              <a:t>Corrección y reprueba</a:t>
            </a:r>
          </a:p>
        </p:txBody>
      </p:sp>
      <p:sp>
        <p:nvSpPr>
          <p:cNvPr id="21" name="Detalle del ítem">
            <a:extLst>
              <a:ext uri="{FF2B5EF4-FFF2-40B4-BE49-F238E27FC236}">
                <a16:creationId xmlns:a16="http://schemas.microsoft.com/office/drawing/2014/main" id="{5850ED86-542B-4D7F-B3C0-D385DAB9A4D4}"/>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10" name="CuadroTexto 9">
            <a:extLst>
              <a:ext uri="{FF2B5EF4-FFF2-40B4-BE49-F238E27FC236}">
                <a16:creationId xmlns:a16="http://schemas.microsoft.com/office/drawing/2014/main" id="{754BEFD1-BAEB-D6CD-FB95-6F69DB1BF79C}"/>
              </a:ext>
            </a:extLst>
          </p:cNvPr>
          <p:cNvSpPr txBox="1"/>
          <p:nvPr/>
        </p:nvSpPr>
        <p:spPr>
          <a:xfrm>
            <a:off x="612648" y="1618488"/>
            <a:ext cx="9784080" cy="923330"/>
          </a:xfrm>
          <a:prstGeom prst="rect">
            <a:avLst/>
          </a:prstGeom>
          <a:noFill/>
        </p:spPr>
        <p:txBody>
          <a:bodyPr wrap="square" rtlCol="0">
            <a:spAutoFit/>
          </a:bodyPr>
          <a:lstStyle/>
          <a:p>
            <a:r>
              <a:rPr lang="es-ES" dirty="0">
                <a:solidFill>
                  <a:srgbClr val="414B45"/>
                </a:solidFill>
                <a:latin typeface="Arial"/>
                <a:ea typeface="Arial"/>
                <a:cs typeface="Arial"/>
              </a:rPr>
              <a:t>La calidad requiere comprobar el comportamiento del sistema y la forma en que registramos los resultados. La Fase 3 contempla las pruebas integrales y la corrección de los defectos detectados</a:t>
            </a:r>
          </a:p>
        </p:txBody>
      </p:sp>
    </p:spTree>
    <p:extLst>
      <p:ext uri="{BB962C8B-B14F-4D97-AF65-F5344CB8AC3E}">
        <p14:creationId xmlns:p14="http://schemas.microsoft.com/office/powerpoint/2010/main" val="1538333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AC743E5A-9D12-4845-A3B5-792B7F8A2A3D}"/>
              </a:ext>
            </a:extLst>
          </p:cNvPr>
          <p:cNvSpPr>
            <a:spLocks noGrp="1"/>
          </p:cNvSpPr>
          <p:nvPr/>
        </p:nvSpPr>
        <p:spPr>
          <a:xfrm>
            <a:off x="628650" y="428625"/>
            <a:ext cx="10934700" cy="762000"/>
          </a:xfrm>
          <a:prstGeom prst="rect">
            <a:avLst/>
          </a:prstGeom>
          <a:noFill/>
          <a:ln w="0">
            <a:noFill/>
          </a:ln>
        </p:spPr>
        <p:txBody>
          <a:bodyPr lIns="0" tIns="0" rIns="0" bIns="0">
            <a:noAutofit/>
          </a:bodyPr>
          <a:lstStyle/>
          <a:p>
            <a:pPr algn="l">
              <a:buNone/>
              <a:defRPr sz="3300" b="1">
                <a:solidFill>
                  <a:srgbClr val="293B35"/>
                </a:solidFill>
                <a:latin typeface="Arial"/>
                <a:ea typeface="Arial"/>
                <a:cs typeface="Arial"/>
              </a:defRPr>
            </a:pPr>
            <a:r>
              <a:rPr sz="3300" b="1">
                <a:solidFill>
                  <a:srgbClr val="293B35"/>
                </a:solidFill>
                <a:latin typeface="Arial"/>
                <a:ea typeface="Arial"/>
                <a:cs typeface="Arial"/>
              </a:rPr>
              <a:t>Plan de cierre para Fase 3</a:t>
            </a:r>
          </a:p>
        </p:txBody>
      </p:sp>
      <p:sp>
        <p:nvSpPr>
          <p:cNvPr id="3" name="Rectángulo 2">
            <a:extLst>
              <a:ext uri="{FF2B5EF4-FFF2-40B4-BE49-F238E27FC236}">
                <a16:creationId xmlns:a16="http://schemas.microsoft.com/office/drawing/2014/main" id="{8FF6200D-813E-4C6C-84E1-DEF57063F916}"/>
              </a:ext>
            </a:extLst>
          </p:cNvPr>
          <p:cNvSpPr>
            <a:spLocks noGrp="1"/>
          </p:cNvSpPr>
          <p:nvPr/>
        </p:nvSpPr>
        <p:spPr>
          <a:xfrm>
            <a:off x="11210925" y="6419850"/>
            <a:ext cx="381000" cy="238125"/>
          </a:xfrm>
          <a:prstGeom prst="rect">
            <a:avLst/>
          </a:prstGeom>
          <a:noFill/>
          <a:ln w="0">
            <a:noFill/>
          </a:ln>
        </p:spPr>
        <p:txBody>
          <a:bodyPr lIns="0" tIns="0" rIns="0" bIns="0">
            <a:noAutofit/>
          </a:bodyPr>
          <a:lstStyle/>
          <a:p>
            <a:pPr algn="l">
              <a:buNone/>
              <a:defRPr sz="1275" b="0">
                <a:solidFill>
                  <a:srgbClr val="7E8780"/>
                </a:solidFill>
                <a:latin typeface="Arial"/>
                <a:ea typeface="Arial"/>
                <a:cs typeface="Arial"/>
              </a:defRPr>
            </a:pPr>
            <a:r>
              <a:rPr sz="1275" b="0">
                <a:solidFill>
                  <a:srgbClr val="7E8780"/>
                </a:solidFill>
                <a:latin typeface="Arial"/>
                <a:ea typeface="Arial"/>
                <a:cs typeface="Arial"/>
              </a:rPr>
              <a:t>16</a:t>
            </a:r>
          </a:p>
        </p:txBody>
      </p:sp>
      <p:graphicFrame>
        <p:nvGraphicFramePr>
          <p:cNvPr id="13" name="Tabla 10"/>
          <p:cNvGraphicFramePr/>
          <p:nvPr/>
        </p:nvGraphicFramePr>
        <p:xfrm>
          <a:off x="628650" y="2619375"/>
          <a:ext cx="10934700" cy="3105150"/>
        </p:xfrm>
        <a:graphic>
          <a:graphicData uri="http://schemas.openxmlformats.org/drawingml/2006/table">
            <a:tbl>
              <a:tblPr/>
              <a:tblGrid>
                <a:gridCol w="157162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5219700">
                  <a:extLst>
                    <a:ext uri="{9D8B030D-6E8A-4147-A177-3AD203B41FA5}">
                      <a16:colId xmlns:a16="http://schemas.microsoft.com/office/drawing/2014/main" val="20002"/>
                    </a:ext>
                  </a:extLst>
                </a:gridCol>
              </a:tblGrid>
              <a:tr h="621030">
                <a:tc>
                  <a:txBody>
                    <a:bodyPr/>
                    <a:lstStyle/>
                    <a:p>
                      <a:r>
                        <a:rPr sz="1800" b="1">
                          <a:solidFill>
                            <a:srgbClr val="F7F6F2"/>
                          </a:solidFill>
                          <a:latin typeface="Arial"/>
                          <a:ea typeface="Arial"/>
                          <a:cs typeface="Arial"/>
                        </a:rPr>
                        <a:t>Periodo</a:t>
                      </a:r>
                    </a:p>
                  </a:txBody>
                  <a:tcPr>
                    <a:solidFill>
                      <a:srgbClr val="293B35"/>
                    </a:solidFill>
                  </a:tcPr>
                </a:tc>
                <a:tc>
                  <a:txBody>
                    <a:bodyPr/>
                    <a:lstStyle/>
                    <a:p>
                      <a:r>
                        <a:rPr sz="1800" b="1">
                          <a:solidFill>
                            <a:srgbClr val="F7F6F2"/>
                          </a:solidFill>
                          <a:latin typeface="Arial"/>
                          <a:ea typeface="Arial"/>
                          <a:cs typeface="Arial"/>
                        </a:rPr>
                        <a:t>Actividad</a:t>
                      </a:r>
                    </a:p>
                  </a:txBody>
                  <a:tcPr>
                    <a:solidFill>
                      <a:srgbClr val="293B35"/>
                    </a:solidFill>
                  </a:tcPr>
                </a:tc>
                <a:tc>
                  <a:txBody>
                    <a:bodyPr/>
                    <a:lstStyle/>
                    <a:p>
                      <a:r>
                        <a:rPr sz="1800" b="1">
                          <a:solidFill>
                            <a:srgbClr val="F7F6F2"/>
                          </a:solidFill>
                          <a:latin typeface="Arial"/>
                          <a:ea typeface="Arial"/>
                          <a:cs typeface="Arial"/>
                        </a:rPr>
                        <a:t>Evidencia de cierre</a:t>
                      </a:r>
                    </a:p>
                  </a:txBody>
                  <a:tcPr>
                    <a:solidFill>
                      <a:srgbClr val="293B35"/>
                    </a:solidFill>
                  </a:tcPr>
                </a:tc>
                <a:extLst>
                  <a:ext uri="{0D108BD9-81ED-4DB2-BD59-A6C34878D82A}">
                    <a16:rowId xmlns:a16="http://schemas.microsoft.com/office/drawing/2014/main" val="10000"/>
                  </a:ext>
                </a:extLst>
              </a:tr>
              <a:tr h="621030">
                <a:tc>
                  <a:txBody>
                    <a:bodyPr/>
                    <a:lstStyle/>
                    <a:p>
                      <a:r>
                        <a:rPr sz="1725" b="0">
                          <a:solidFill>
                            <a:srgbClr val="414B45"/>
                          </a:solidFill>
                          <a:latin typeface="Arial"/>
                          <a:ea typeface="Arial"/>
                          <a:cs typeface="Arial"/>
                        </a:rPr>
                        <a:t>S17</a:t>
                      </a:r>
                    </a:p>
                  </a:txBody>
                  <a:tcPr>
                    <a:solidFill>
                      <a:srgbClr val="F0EEE7"/>
                    </a:solidFill>
                  </a:tcPr>
                </a:tc>
                <a:tc>
                  <a:txBody>
                    <a:bodyPr/>
                    <a:lstStyle/>
                    <a:p>
                      <a:r>
                        <a:rPr sz="1725" b="0">
                          <a:solidFill>
                            <a:srgbClr val="414B45"/>
                          </a:solidFill>
                          <a:latin typeface="Arial"/>
                          <a:ea typeface="Arial"/>
                          <a:cs typeface="Arial"/>
                        </a:rPr>
                        <a:t>Completar comprobación de Webpay</a:t>
                      </a:r>
                    </a:p>
                  </a:txBody>
                  <a:tcPr>
                    <a:solidFill>
                      <a:srgbClr val="F0EEE7"/>
                    </a:solidFill>
                  </a:tcPr>
                </a:tc>
                <a:tc>
                  <a:txBody>
                    <a:bodyPr/>
                    <a:lstStyle/>
                    <a:p>
                      <a:r>
                        <a:rPr sz="1725" b="0">
                          <a:solidFill>
                            <a:srgbClr val="414B45"/>
                          </a:solidFill>
                          <a:latin typeface="Arial"/>
                          <a:ea typeface="Arial"/>
                          <a:cs typeface="Arial"/>
                        </a:rPr>
                        <a:t>Retornos y estados del pago y del pedido</a:t>
                      </a:r>
                    </a:p>
                  </a:txBody>
                  <a:tcPr>
                    <a:solidFill>
                      <a:srgbClr val="F0EEE7"/>
                    </a:solidFill>
                  </a:tcPr>
                </a:tc>
                <a:extLst>
                  <a:ext uri="{0D108BD9-81ED-4DB2-BD59-A6C34878D82A}">
                    <a16:rowId xmlns:a16="http://schemas.microsoft.com/office/drawing/2014/main" val="10001"/>
                  </a:ext>
                </a:extLst>
              </a:tr>
              <a:tr h="621030">
                <a:tc>
                  <a:txBody>
                    <a:bodyPr/>
                    <a:lstStyle/>
                    <a:p>
                      <a:r>
                        <a:rPr sz="1725" b="0">
                          <a:solidFill>
                            <a:srgbClr val="414B45"/>
                          </a:solidFill>
                          <a:latin typeface="Arial"/>
                          <a:ea typeface="Arial"/>
                          <a:cs typeface="Arial"/>
                        </a:rPr>
                        <a:t>S17–S18</a:t>
                      </a:r>
                    </a:p>
                  </a:txBody>
                  <a:tcPr>
                    <a:solidFill>
                      <a:srgbClr val="E6E8DF"/>
                    </a:solidFill>
                  </a:tcPr>
                </a:tc>
                <a:tc>
                  <a:txBody>
                    <a:bodyPr/>
                    <a:lstStyle/>
                    <a:p>
                      <a:r>
                        <a:rPr sz="1725" b="0">
                          <a:solidFill>
                            <a:srgbClr val="414B45"/>
                          </a:solidFill>
                          <a:latin typeface="Arial"/>
                          <a:ea typeface="Arial"/>
                          <a:cs typeface="Arial"/>
                        </a:rPr>
                        <a:t>Ejecutar QA y corregir defectos</a:t>
                      </a:r>
                    </a:p>
                  </a:txBody>
                  <a:tcPr>
                    <a:solidFill>
                      <a:srgbClr val="E6E8DF"/>
                    </a:solidFill>
                  </a:tcPr>
                </a:tc>
                <a:tc>
                  <a:txBody>
                    <a:bodyPr/>
                    <a:lstStyle/>
                    <a:p>
                      <a:r>
                        <a:rPr sz="1725" b="0">
                          <a:solidFill>
                            <a:srgbClr val="414B45"/>
                          </a:solidFill>
                          <a:latin typeface="Arial"/>
                          <a:ea typeface="Arial"/>
                          <a:cs typeface="Arial"/>
                        </a:rPr>
                        <a:t>Casos críticos aprobados y repruebas registradas</a:t>
                      </a:r>
                    </a:p>
                  </a:txBody>
                  <a:tcPr>
                    <a:solidFill>
                      <a:srgbClr val="E6E8DF"/>
                    </a:solidFill>
                  </a:tcPr>
                </a:tc>
                <a:extLst>
                  <a:ext uri="{0D108BD9-81ED-4DB2-BD59-A6C34878D82A}">
                    <a16:rowId xmlns:a16="http://schemas.microsoft.com/office/drawing/2014/main" val="10002"/>
                  </a:ext>
                </a:extLst>
              </a:tr>
              <a:tr h="621030">
                <a:tc>
                  <a:txBody>
                    <a:bodyPr/>
                    <a:lstStyle/>
                    <a:p>
                      <a:r>
                        <a:rPr sz="1725" b="0">
                          <a:solidFill>
                            <a:srgbClr val="414B45"/>
                          </a:solidFill>
                          <a:latin typeface="Arial"/>
                          <a:ea typeface="Arial"/>
                          <a:cs typeface="Arial"/>
                        </a:rPr>
                        <a:t>S18–S19</a:t>
                      </a:r>
                    </a:p>
                  </a:txBody>
                  <a:tcPr>
                    <a:solidFill>
                      <a:srgbClr val="F0EEE7"/>
                    </a:solidFill>
                  </a:tcPr>
                </a:tc>
                <a:tc>
                  <a:txBody>
                    <a:bodyPr/>
                    <a:lstStyle/>
                    <a:p>
                      <a:r>
                        <a:rPr sz="1725" b="0">
                          <a:solidFill>
                            <a:srgbClr val="414B45"/>
                          </a:solidFill>
                          <a:latin typeface="Arial"/>
                          <a:ea typeface="Arial"/>
                          <a:cs typeface="Arial"/>
                        </a:rPr>
                        <a:t>Verificar ambiente y generar APK</a:t>
                      </a:r>
                    </a:p>
                  </a:txBody>
                  <a:tcPr>
                    <a:solidFill>
                      <a:srgbClr val="F0EEE7"/>
                    </a:solidFill>
                  </a:tcPr>
                </a:tc>
                <a:tc>
                  <a:txBody>
                    <a:bodyPr/>
                    <a:lstStyle/>
                    <a:p>
                      <a:r>
                        <a:rPr sz="1725" b="0">
                          <a:solidFill>
                            <a:srgbClr val="414B45"/>
                          </a:solidFill>
                          <a:latin typeface="Arial"/>
                          <a:ea typeface="Arial"/>
                          <a:cs typeface="Arial"/>
                        </a:rPr>
                        <a:t>Conexión de componentes e instalación comprobadas</a:t>
                      </a:r>
                    </a:p>
                  </a:txBody>
                  <a:tcPr>
                    <a:solidFill>
                      <a:srgbClr val="F0EEE7"/>
                    </a:solidFill>
                  </a:tcPr>
                </a:tc>
                <a:extLst>
                  <a:ext uri="{0D108BD9-81ED-4DB2-BD59-A6C34878D82A}">
                    <a16:rowId xmlns:a16="http://schemas.microsoft.com/office/drawing/2014/main" val="10003"/>
                  </a:ext>
                </a:extLst>
              </a:tr>
              <a:tr h="621030">
                <a:tc>
                  <a:txBody>
                    <a:bodyPr/>
                    <a:lstStyle/>
                    <a:p>
                      <a:r>
                        <a:rPr sz="1725" b="0">
                          <a:solidFill>
                            <a:srgbClr val="414B45"/>
                          </a:solidFill>
                          <a:latin typeface="Arial"/>
                          <a:ea typeface="Arial"/>
                          <a:cs typeface="Arial"/>
                        </a:rPr>
                        <a:t>S18–S19</a:t>
                      </a:r>
                    </a:p>
                  </a:txBody>
                  <a:tcPr>
                    <a:solidFill>
                      <a:srgbClr val="E6E8DF"/>
                    </a:solidFill>
                  </a:tcPr>
                </a:tc>
                <a:tc>
                  <a:txBody>
                    <a:bodyPr/>
                    <a:lstStyle/>
                    <a:p>
                      <a:r>
                        <a:rPr sz="1725" b="0">
                          <a:solidFill>
                            <a:srgbClr val="414B45"/>
                          </a:solidFill>
                          <a:latin typeface="Arial"/>
                          <a:ea typeface="Arial"/>
                          <a:cs typeface="Arial"/>
                        </a:rPr>
                        <a:t>Cerrar manuales e informe</a:t>
                      </a:r>
                    </a:p>
                  </a:txBody>
                  <a:tcPr>
                    <a:solidFill>
                      <a:srgbClr val="E6E8DF"/>
                    </a:solidFill>
                  </a:tcPr>
                </a:tc>
                <a:tc>
                  <a:txBody>
                    <a:bodyPr/>
                    <a:lstStyle/>
                    <a:p>
                      <a:r>
                        <a:rPr sz="1725" b="0">
                          <a:solidFill>
                            <a:srgbClr val="414B45"/>
                          </a:solidFill>
                          <a:latin typeface="Arial"/>
                          <a:ea typeface="Arial"/>
                          <a:cs typeface="Arial"/>
                        </a:rPr>
                        <a:t>Documentación coherente con la versión validada</a:t>
                      </a:r>
                    </a:p>
                  </a:txBody>
                  <a:tcPr>
                    <a:solidFill>
                      <a:srgbClr val="E6E8DF"/>
                    </a:solidFill>
                  </a:tcPr>
                </a:tc>
                <a:extLst>
                  <a:ext uri="{0D108BD9-81ED-4DB2-BD59-A6C34878D82A}">
                    <a16:rowId xmlns:a16="http://schemas.microsoft.com/office/drawing/2014/main" val="10004"/>
                  </a:ext>
                </a:extLst>
              </a:tr>
            </a:tbl>
          </a:graphicData>
        </a:graphic>
      </p:graphicFrame>
      <p:sp>
        <p:nvSpPr>
          <p:cNvPr id="8" name="Detalle del ítem">
            <a:extLst>
              <a:ext uri="{FF2B5EF4-FFF2-40B4-BE49-F238E27FC236}">
                <a16:creationId xmlns:a16="http://schemas.microsoft.com/office/drawing/2014/main" id="{1DA04E08-0C0F-4747-B7A4-1066F28E1D08}"/>
              </a:ext>
            </a:extLst>
          </p:cNvPr>
          <p:cNvSpPr>
            <a:spLocks noGrp="1"/>
          </p:cNvSpPr>
          <p:nvPr/>
        </p:nvSpPr>
        <p:spPr>
          <a:xfrm>
            <a:off x="628650" y="1209675"/>
            <a:ext cx="609600" cy="28575"/>
          </a:xfrm>
          <a:prstGeom prst="rect">
            <a:avLst/>
          </a:prstGeom>
          <a:solidFill>
            <a:srgbClr val="B2966D"/>
          </a:solidFill>
          <a:ln w="0">
            <a:noFill/>
          </a:ln>
        </p:spPr>
        <p:txBody>
          <a:bodyPr/>
          <a:lstStyle/>
          <a:p>
            <a:endParaRPr lang="es-419"/>
          </a:p>
        </p:txBody>
      </p:sp>
      <p:sp>
        <p:nvSpPr>
          <p:cNvPr id="4" name="CuadroTexto 3">
            <a:extLst>
              <a:ext uri="{FF2B5EF4-FFF2-40B4-BE49-F238E27FC236}">
                <a16:creationId xmlns:a16="http://schemas.microsoft.com/office/drawing/2014/main" id="{EA45E609-FD5E-B8A7-56A4-80AD335BDEAD}"/>
              </a:ext>
            </a:extLst>
          </p:cNvPr>
          <p:cNvSpPr txBox="1"/>
          <p:nvPr/>
        </p:nvSpPr>
        <p:spPr>
          <a:xfrm>
            <a:off x="628650" y="1625381"/>
            <a:ext cx="10951845" cy="646331"/>
          </a:xfrm>
          <a:prstGeom prst="rect">
            <a:avLst/>
          </a:prstGeom>
          <a:noFill/>
        </p:spPr>
        <p:txBody>
          <a:bodyPr wrap="square" rtlCol="0">
            <a:spAutoFit/>
          </a:bodyPr>
          <a:lstStyle/>
          <a:p>
            <a:r>
              <a:rPr lang="es-ES" dirty="0">
                <a:solidFill>
                  <a:srgbClr val="414B45"/>
                </a:solidFill>
                <a:latin typeface="Arial"/>
                <a:ea typeface="Arial"/>
                <a:cs typeface="Arial"/>
              </a:rPr>
              <a:t>El avance funcional constituye la base para la validación final. Durante las semanas 17 a 19 completaremos pagos, pruebas y entregables, priorizando los bloqueos del recorrido principal</a:t>
            </a:r>
          </a:p>
        </p:txBody>
      </p:sp>
    </p:spTree>
    <p:extLst>
      <p:ext uri="{BB962C8B-B14F-4D97-AF65-F5344CB8AC3E}">
        <p14:creationId xmlns:p14="http://schemas.microsoft.com/office/powerpoint/2010/main" val="1264148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93B35"/>
        </a:solidFill>
        <a:effectLst/>
      </p:bgPr>
    </p:bg>
    <p:spTree>
      <p:nvGrpSpPr>
        <p:cNvPr id="1" name=""/>
        <p:cNvGrpSpPr/>
        <p:nvPr/>
      </p:nvGrpSpPr>
      <p:grpSpPr>
        <a:xfrm>
          <a:off x="0" y="0"/>
          <a:ext cx="0" cy="0"/>
          <a:chOff x="0" y="0"/>
          <a:chExt cx="0" cy="0"/>
        </a:xfrm>
      </p:grpSpPr>
      <p:sp>
        <p:nvSpPr>
          <p:cNvPr id="14" name="Marco de cierre">
            <a:extLst>
              <a:ext uri="{FF2B5EF4-FFF2-40B4-BE49-F238E27FC236}">
                <a16:creationId xmlns:a16="http://schemas.microsoft.com/office/drawing/2014/main" id="{30D03B1E-F890-4BEC-AC48-D2121A04B959}"/>
              </a:ext>
            </a:extLst>
          </p:cNvPr>
          <p:cNvSpPr>
            <a:spLocks noGrp="1"/>
          </p:cNvSpPr>
          <p:nvPr/>
        </p:nvSpPr>
        <p:spPr>
          <a:xfrm>
            <a:off x="381000" y="381000"/>
            <a:ext cx="11430000" cy="6096000"/>
          </a:xfrm>
          <a:prstGeom prst="rect">
            <a:avLst/>
          </a:prstGeom>
          <a:noFill/>
          <a:ln w="11430">
            <a:solidFill>
              <a:srgbClr val="BBA582"/>
            </a:solidFill>
          </a:ln>
        </p:spPr>
        <p:txBody>
          <a:bodyPr/>
          <a:lstStyle/>
          <a:p>
            <a:endParaRPr lang="es-419"/>
          </a:p>
        </p:txBody>
      </p:sp>
      <p:sp>
        <p:nvSpPr>
          <p:cNvPr id="2" name="Marca">
            <a:extLst>
              <a:ext uri="{FF2B5EF4-FFF2-40B4-BE49-F238E27FC236}">
                <a16:creationId xmlns:a16="http://schemas.microsoft.com/office/drawing/2014/main" id="{14BDB74B-2DF0-4A8C-84F0-4265AEC8F47A}"/>
              </a:ext>
            </a:extLst>
          </p:cNvPr>
          <p:cNvSpPr>
            <a:spLocks noGrp="1"/>
          </p:cNvSpPr>
          <p:nvPr/>
        </p:nvSpPr>
        <p:spPr>
          <a:xfrm>
            <a:off x="723900" y="809625"/>
            <a:ext cx="5238750" cy="476250"/>
          </a:xfrm>
          <a:prstGeom prst="rect">
            <a:avLst/>
          </a:prstGeom>
          <a:noFill/>
          <a:ln w="0">
            <a:noFill/>
          </a:ln>
        </p:spPr>
        <p:txBody>
          <a:bodyPr wrap="square" lIns="0" tIns="0" rIns="0" bIns="0" anchor="t">
            <a:noAutofit/>
          </a:bodyPr>
          <a:lstStyle/>
          <a:p>
            <a:pPr algn="l">
              <a:buNone/>
              <a:defRPr sz="2100" b="1">
                <a:solidFill>
                  <a:srgbClr val="D1B58A"/>
                </a:solidFill>
                <a:latin typeface="Arial"/>
                <a:ea typeface="Arial"/>
                <a:cs typeface="Arial"/>
              </a:defRPr>
            </a:pPr>
            <a:r>
              <a:rPr sz="2100" b="1">
                <a:solidFill>
                  <a:srgbClr val="D1B58A"/>
                </a:solidFill>
                <a:latin typeface="Arial"/>
                <a:ea typeface="Arial"/>
                <a:cs typeface="Arial"/>
              </a:rPr>
              <a:t>RollerApp</a:t>
            </a:r>
          </a:p>
        </p:txBody>
      </p:sp>
      <p:sp>
        <p:nvSpPr>
          <p:cNvPr id="3" name="Acento de marca">
            <a:extLst>
              <a:ext uri="{FF2B5EF4-FFF2-40B4-BE49-F238E27FC236}">
                <a16:creationId xmlns:a16="http://schemas.microsoft.com/office/drawing/2014/main" id="{2DEE53ED-8FAE-45A0-98BB-50056F63A510}"/>
              </a:ext>
            </a:extLst>
          </p:cNvPr>
          <p:cNvSpPr>
            <a:spLocks noGrp="1"/>
          </p:cNvSpPr>
          <p:nvPr/>
        </p:nvSpPr>
        <p:spPr>
          <a:xfrm>
            <a:off x="723900" y="1343025"/>
            <a:ext cx="552450" cy="28575"/>
          </a:xfrm>
          <a:prstGeom prst="rect">
            <a:avLst/>
          </a:prstGeom>
          <a:solidFill>
            <a:srgbClr val="BBA582"/>
          </a:solidFill>
          <a:ln w="0">
            <a:noFill/>
          </a:ln>
        </p:spPr>
        <p:txBody>
          <a:bodyPr/>
          <a:lstStyle/>
          <a:p>
            <a:endParaRPr lang="es-419"/>
          </a:p>
        </p:txBody>
      </p:sp>
      <p:sp>
        <p:nvSpPr>
          <p:cNvPr id="4" name="Agradecimiento">
            <a:extLst>
              <a:ext uri="{FF2B5EF4-FFF2-40B4-BE49-F238E27FC236}">
                <a16:creationId xmlns:a16="http://schemas.microsoft.com/office/drawing/2014/main" id="{52292934-C388-4293-B592-AC3796A9DB2C}"/>
              </a:ext>
            </a:extLst>
          </p:cNvPr>
          <p:cNvSpPr>
            <a:spLocks noGrp="1"/>
          </p:cNvSpPr>
          <p:nvPr/>
        </p:nvSpPr>
        <p:spPr>
          <a:xfrm>
            <a:off x="723900" y="1743075"/>
            <a:ext cx="5334000" cy="1809750"/>
          </a:xfrm>
          <a:prstGeom prst="rect">
            <a:avLst/>
          </a:prstGeom>
          <a:noFill/>
          <a:ln w="0">
            <a:noFill/>
          </a:ln>
        </p:spPr>
        <p:txBody>
          <a:bodyPr wrap="square" lIns="0" tIns="0" rIns="0" bIns="0" anchor="t">
            <a:noAutofit/>
          </a:bodyPr>
          <a:lstStyle/>
          <a:p>
            <a:pPr algn="l">
              <a:buNone/>
              <a:defRPr sz="5850" b="1">
                <a:solidFill>
                  <a:srgbClr val="F7F6F2"/>
                </a:solidFill>
                <a:latin typeface="Arial"/>
                <a:ea typeface="Arial"/>
                <a:cs typeface="Arial"/>
              </a:defRPr>
            </a:pPr>
            <a:r>
              <a:rPr sz="5850" b="1">
                <a:solidFill>
                  <a:srgbClr val="F7F6F2"/>
                </a:solidFill>
                <a:latin typeface="Arial"/>
                <a:ea typeface="Arial"/>
                <a:cs typeface="Arial"/>
              </a:rPr>
              <a:t>Muchas</a:t>
            </a:r>
          </a:p>
          <a:p>
            <a:pPr algn="l">
              <a:buNone/>
              <a:defRPr sz="5850" b="1">
                <a:solidFill>
                  <a:srgbClr val="F7F6F2"/>
                </a:solidFill>
                <a:latin typeface="Arial"/>
                <a:ea typeface="Arial"/>
                <a:cs typeface="Arial"/>
              </a:defRPr>
            </a:pPr>
            <a:r>
              <a:rPr sz="5850" b="1">
                <a:solidFill>
                  <a:srgbClr val="F7F6F2"/>
                </a:solidFill>
                <a:latin typeface="Arial"/>
                <a:ea typeface="Arial"/>
                <a:cs typeface="Arial"/>
              </a:rPr>
              <a:t>gracias</a:t>
            </a:r>
          </a:p>
        </p:txBody>
      </p:sp>
      <p:sp>
        <p:nvSpPr>
          <p:cNvPr id="5" name="Descripción de la demostración">
            <a:extLst>
              <a:ext uri="{FF2B5EF4-FFF2-40B4-BE49-F238E27FC236}">
                <a16:creationId xmlns:a16="http://schemas.microsoft.com/office/drawing/2014/main" id="{38EEFCF6-F17F-43ED-B93A-919222C8FE3B}"/>
              </a:ext>
            </a:extLst>
          </p:cNvPr>
          <p:cNvSpPr>
            <a:spLocks noGrp="1"/>
          </p:cNvSpPr>
          <p:nvPr/>
        </p:nvSpPr>
        <p:spPr>
          <a:xfrm>
            <a:off x="723900" y="3914775"/>
            <a:ext cx="5334000" cy="1057275"/>
          </a:xfrm>
          <a:prstGeom prst="rect">
            <a:avLst/>
          </a:prstGeom>
          <a:noFill/>
          <a:ln w="0">
            <a:noFill/>
          </a:ln>
        </p:spPr>
        <p:txBody>
          <a:bodyPr wrap="square" lIns="0" tIns="0" rIns="0" bIns="0" anchor="t">
            <a:noAutofit/>
          </a:bodyPr>
          <a:lstStyle/>
          <a:p>
            <a:pPr algn="l">
              <a:buNone/>
              <a:defRPr sz="1725" b="0">
                <a:solidFill>
                  <a:srgbClr val="E7E9E2"/>
                </a:solidFill>
                <a:latin typeface="Arial"/>
                <a:ea typeface="Arial"/>
                <a:cs typeface="Arial"/>
              </a:defRPr>
            </a:pPr>
            <a:r>
              <a:rPr lang="es-CL" sz="1725" b="0" dirty="0">
                <a:solidFill>
                  <a:srgbClr val="E7E9E2"/>
                </a:solidFill>
                <a:latin typeface="Arial"/>
                <a:ea typeface="Arial"/>
                <a:cs typeface="Arial"/>
              </a:rPr>
              <a:t>Permite r</a:t>
            </a:r>
            <a:r>
              <a:rPr sz="1725" b="0" dirty="0" err="1">
                <a:solidFill>
                  <a:srgbClr val="E7E9E2"/>
                </a:solidFill>
                <a:latin typeface="Arial"/>
                <a:ea typeface="Arial"/>
                <a:cs typeface="Arial"/>
              </a:rPr>
              <a:t>ecorrer</a:t>
            </a:r>
            <a:r>
              <a:rPr sz="1725" b="0" dirty="0">
                <a:solidFill>
                  <a:srgbClr val="E7E9E2"/>
                </a:solidFill>
                <a:latin typeface="Arial"/>
                <a:ea typeface="Arial"/>
                <a:cs typeface="Arial"/>
              </a:rPr>
              <a:t> el </a:t>
            </a:r>
            <a:r>
              <a:rPr sz="1725" b="0" dirty="0" err="1">
                <a:solidFill>
                  <a:srgbClr val="E7E9E2"/>
                </a:solidFill>
                <a:latin typeface="Arial"/>
                <a:ea typeface="Arial"/>
                <a:cs typeface="Arial"/>
              </a:rPr>
              <a:t>catálogo</a:t>
            </a:r>
            <a:r>
              <a:rPr lang="es-CL" sz="1725" dirty="0">
                <a:solidFill>
                  <a:srgbClr val="E7E9E2"/>
                </a:solidFill>
                <a:latin typeface="Arial"/>
                <a:ea typeface="Arial"/>
                <a:cs typeface="Arial"/>
              </a:rPr>
              <a:t> y </a:t>
            </a:r>
            <a:r>
              <a:rPr lang="es-ES" sz="1725" dirty="0">
                <a:solidFill>
                  <a:srgbClr val="E7E9E2"/>
                </a:solidFill>
                <a:latin typeface="Arial"/>
                <a:ea typeface="Arial"/>
                <a:cs typeface="Arial"/>
              </a:rPr>
              <a:t>o</a:t>
            </a:r>
            <a:r>
              <a:rPr sz="1725" b="0" dirty="0" err="1">
                <a:solidFill>
                  <a:srgbClr val="E7E9E2"/>
                </a:solidFill>
                <a:latin typeface="Arial"/>
                <a:ea typeface="Arial"/>
                <a:cs typeface="Arial"/>
              </a:rPr>
              <a:t>bservar</a:t>
            </a:r>
            <a:r>
              <a:rPr sz="1725" b="0" dirty="0">
                <a:solidFill>
                  <a:srgbClr val="E7E9E2"/>
                </a:solidFill>
                <a:latin typeface="Arial"/>
                <a:ea typeface="Arial"/>
                <a:cs typeface="Arial"/>
              </a:rPr>
              <a:t> </a:t>
            </a:r>
            <a:r>
              <a:rPr sz="1725" b="0" dirty="0" err="1">
                <a:solidFill>
                  <a:srgbClr val="E7E9E2"/>
                </a:solidFill>
                <a:latin typeface="Arial"/>
                <a:ea typeface="Arial"/>
                <a:cs typeface="Arial"/>
              </a:rPr>
              <a:t>cómo</a:t>
            </a:r>
            <a:r>
              <a:rPr sz="1725" b="0" dirty="0">
                <a:solidFill>
                  <a:srgbClr val="E7E9E2"/>
                </a:solidFill>
                <a:latin typeface="Arial"/>
                <a:ea typeface="Arial"/>
                <a:cs typeface="Arial"/>
              </a:rPr>
              <a:t> el </a:t>
            </a:r>
            <a:r>
              <a:rPr sz="1725" b="0" dirty="0" err="1">
                <a:solidFill>
                  <a:srgbClr val="E7E9E2"/>
                </a:solidFill>
                <a:latin typeface="Arial"/>
                <a:ea typeface="Arial"/>
                <a:cs typeface="Arial"/>
              </a:rPr>
              <a:t>sistema</a:t>
            </a:r>
            <a:r>
              <a:rPr sz="1725" b="0" dirty="0">
                <a:solidFill>
                  <a:srgbClr val="E7E9E2"/>
                </a:solidFill>
                <a:latin typeface="Arial"/>
                <a:ea typeface="Arial"/>
                <a:cs typeface="Arial"/>
              </a:rPr>
              <a:t> </a:t>
            </a:r>
            <a:r>
              <a:rPr sz="1725" b="0" dirty="0" err="1">
                <a:solidFill>
                  <a:srgbClr val="E7E9E2"/>
                </a:solidFill>
                <a:latin typeface="Arial"/>
                <a:ea typeface="Arial"/>
                <a:cs typeface="Arial"/>
              </a:rPr>
              <a:t>transforma</a:t>
            </a:r>
            <a:r>
              <a:rPr sz="1725" b="0" dirty="0">
                <a:solidFill>
                  <a:srgbClr val="E7E9E2"/>
                </a:solidFill>
                <a:latin typeface="Arial"/>
                <a:ea typeface="Arial"/>
                <a:cs typeface="Arial"/>
              </a:rPr>
              <a:t> la </a:t>
            </a:r>
            <a:r>
              <a:rPr sz="1725" b="0" dirty="0" err="1">
                <a:solidFill>
                  <a:srgbClr val="E7E9E2"/>
                </a:solidFill>
                <a:latin typeface="Arial"/>
                <a:ea typeface="Arial"/>
                <a:cs typeface="Arial"/>
              </a:rPr>
              <a:t>selección</a:t>
            </a:r>
            <a:r>
              <a:rPr sz="1725" b="0" dirty="0">
                <a:solidFill>
                  <a:srgbClr val="E7E9E2"/>
                </a:solidFill>
                <a:latin typeface="Arial"/>
                <a:ea typeface="Arial"/>
                <a:cs typeface="Arial"/>
              </a:rPr>
              <a:t> de un </a:t>
            </a:r>
            <a:r>
              <a:rPr sz="1725" b="0" dirty="0" err="1">
                <a:solidFill>
                  <a:srgbClr val="E7E9E2"/>
                </a:solidFill>
                <a:latin typeface="Arial"/>
                <a:ea typeface="Arial"/>
                <a:cs typeface="Arial"/>
              </a:rPr>
              <a:t>producto</a:t>
            </a:r>
            <a:r>
              <a:rPr sz="1725" b="0" dirty="0">
                <a:solidFill>
                  <a:srgbClr val="E7E9E2"/>
                </a:solidFill>
                <a:latin typeface="Arial"/>
                <a:ea typeface="Arial"/>
                <a:cs typeface="Arial"/>
              </a:rPr>
              <a:t> </a:t>
            </a:r>
            <a:r>
              <a:rPr sz="1725" b="0" dirty="0" err="1">
                <a:solidFill>
                  <a:srgbClr val="E7E9E2"/>
                </a:solidFill>
                <a:latin typeface="Arial"/>
                <a:ea typeface="Arial"/>
                <a:cs typeface="Arial"/>
              </a:rPr>
              <a:t>en</a:t>
            </a:r>
            <a:r>
              <a:rPr sz="1725" b="0" dirty="0">
                <a:solidFill>
                  <a:srgbClr val="E7E9E2"/>
                </a:solidFill>
                <a:latin typeface="Arial"/>
                <a:ea typeface="Arial"/>
                <a:cs typeface="Arial"/>
              </a:rPr>
              <a:t> </a:t>
            </a:r>
            <a:r>
              <a:rPr sz="1725" b="0" dirty="0" err="1">
                <a:solidFill>
                  <a:srgbClr val="E7E9E2"/>
                </a:solidFill>
                <a:latin typeface="Arial"/>
                <a:ea typeface="Arial"/>
                <a:cs typeface="Arial"/>
              </a:rPr>
              <a:t>una</a:t>
            </a:r>
            <a:r>
              <a:rPr sz="1725" b="0" dirty="0">
                <a:solidFill>
                  <a:srgbClr val="E7E9E2"/>
                </a:solidFill>
                <a:latin typeface="Arial"/>
                <a:ea typeface="Arial"/>
                <a:cs typeface="Arial"/>
              </a:rPr>
              <a:t> </a:t>
            </a:r>
            <a:r>
              <a:rPr sz="1725" b="0" dirty="0" err="1">
                <a:solidFill>
                  <a:srgbClr val="E7E9E2"/>
                </a:solidFill>
                <a:latin typeface="Arial"/>
                <a:ea typeface="Arial"/>
                <a:cs typeface="Arial"/>
              </a:rPr>
              <a:t>cotización</a:t>
            </a:r>
            <a:r>
              <a:rPr sz="1725" b="0" dirty="0">
                <a:solidFill>
                  <a:srgbClr val="E7E9E2"/>
                </a:solidFill>
                <a:latin typeface="Arial"/>
                <a:ea typeface="Arial"/>
                <a:cs typeface="Arial"/>
              </a:rPr>
              <a:t> a </a:t>
            </a:r>
            <a:r>
              <a:rPr sz="1725" b="0" dirty="0" err="1">
                <a:solidFill>
                  <a:srgbClr val="E7E9E2"/>
                </a:solidFill>
                <a:latin typeface="Arial"/>
                <a:ea typeface="Arial"/>
                <a:cs typeface="Arial"/>
              </a:rPr>
              <a:t>medida</a:t>
            </a:r>
            <a:endParaRPr sz="1725" b="0" dirty="0">
              <a:solidFill>
                <a:srgbClr val="E7E9E2"/>
              </a:solidFill>
              <a:latin typeface="Arial"/>
              <a:ea typeface="Arial"/>
              <a:cs typeface="Arial"/>
            </a:endParaRPr>
          </a:p>
        </p:txBody>
      </p:sp>
      <p:sp>
        <p:nvSpPr>
          <p:cNvPr id="7" name="Acceso a demostración">
            <a:extLst>
              <a:ext uri="{FF2B5EF4-FFF2-40B4-BE49-F238E27FC236}">
                <a16:creationId xmlns:a16="http://schemas.microsoft.com/office/drawing/2014/main" id="{D7137DA8-9407-4A10-B4CA-7CA79DB3E7DF}"/>
              </a:ext>
            </a:extLst>
          </p:cNvPr>
          <p:cNvSpPr>
            <a:spLocks noGrp="1"/>
          </p:cNvSpPr>
          <p:nvPr/>
        </p:nvSpPr>
        <p:spPr>
          <a:xfrm>
            <a:off x="6819900" y="1257300"/>
            <a:ext cx="4629150" cy="4381500"/>
          </a:xfrm>
          <a:prstGeom prst="roundRect">
            <a:avLst>
              <a:gd name="adj" fmla="val 3913"/>
            </a:avLst>
          </a:prstGeom>
          <a:solidFill>
            <a:srgbClr val="F7F6F2"/>
          </a:solidFill>
          <a:ln w="11430">
            <a:solidFill>
              <a:srgbClr val="C4AF8C"/>
            </a:solidFill>
          </a:ln>
        </p:spPr>
        <p:style>
          <a:lnRef idx="0">
            <a:scrgbClr r="0" g="0" b="0"/>
          </a:lnRef>
          <a:fillRef idx="0">
            <a:scrgbClr r="0" g="0" b="0"/>
          </a:fillRef>
          <a:effectRef idx="11">
            <a:scrgbClr r="0" g="0" b="0"/>
          </a:effectRef>
          <a:fontRef idx="major"/>
        </p:style>
        <p:txBody>
          <a:bodyPr/>
          <a:lstStyle/>
          <a:p>
            <a:endParaRPr lang="es-419"/>
          </a:p>
        </p:txBody>
      </p:sp>
      <p:sp>
        <p:nvSpPr>
          <p:cNvPr id="8" name="Título de la demostración">
            <a:extLst>
              <a:ext uri="{FF2B5EF4-FFF2-40B4-BE49-F238E27FC236}">
                <a16:creationId xmlns:a16="http://schemas.microsoft.com/office/drawing/2014/main" id="{38DC27D2-497B-4C6B-A41C-6609F2BC5089}"/>
              </a:ext>
            </a:extLst>
          </p:cNvPr>
          <p:cNvSpPr>
            <a:spLocks noGrp="1"/>
          </p:cNvSpPr>
          <p:nvPr/>
        </p:nvSpPr>
        <p:spPr>
          <a:xfrm>
            <a:off x="7067550" y="1543050"/>
            <a:ext cx="4133850" cy="457200"/>
          </a:xfrm>
          <a:prstGeom prst="rect">
            <a:avLst/>
          </a:prstGeom>
          <a:noFill/>
          <a:ln w="0">
            <a:noFill/>
          </a:ln>
        </p:spPr>
        <p:txBody>
          <a:bodyPr wrap="square" lIns="0" tIns="0" rIns="0" bIns="0" anchor="t">
            <a:noAutofit/>
          </a:bodyPr>
          <a:lstStyle/>
          <a:p>
            <a:pPr algn="l">
              <a:buNone/>
              <a:defRPr sz="1950" b="1">
                <a:solidFill>
                  <a:srgbClr val="293B35"/>
                </a:solidFill>
                <a:latin typeface="Arial"/>
                <a:ea typeface="Arial"/>
                <a:cs typeface="Arial"/>
              </a:defRPr>
            </a:pPr>
            <a:r>
              <a:rPr sz="1950" b="1" dirty="0" err="1">
                <a:solidFill>
                  <a:srgbClr val="293B35"/>
                </a:solidFill>
                <a:latin typeface="Arial"/>
                <a:ea typeface="Arial"/>
                <a:cs typeface="Arial"/>
              </a:rPr>
              <a:t>Demostración</a:t>
            </a:r>
            <a:r>
              <a:rPr sz="1950" b="1" dirty="0">
                <a:solidFill>
                  <a:srgbClr val="293B35"/>
                </a:solidFill>
                <a:latin typeface="Arial"/>
                <a:ea typeface="Arial"/>
                <a:cs typeface="Arial"/>
              </a:rPr>
              <a:t> de </a:t>
            </a:r>
            <a:r>
              <a:rPr sz="1950" b="1" dirty="0" err="1">
                <a:solidFill>
                  <a:srgbClr val="293B35"/>
                </a:solidFill>
                <a:latin typeface="Arial"/>
                <a:ea typeface="Arial"/>
                <a:cs typeface="Arial"/>
              </a:rPr>
              <a:t>RollerApp</a:t>
            </a:r>
            <a:endParaRPr sz="1950" b="1" dirty="0">
              <a:solidFill>
                <a:srgbClr val="293B35"/>
              </a:solidFill>
              <a:latin typeface="Arial"/>
              <a:ea typeface="Arial"/>
              <a:cs typeface="Arial"/>
            </a:endParaRPr>
          </a:p>
        </p:txBody>
      </p:sp>
      <p:sp>
        <p:nvSpPr>
          <p:cNvPr id="12" name="Dirección web">
            <a:extLst>
              <a:ext uri="{FF2B5EF4-FFF2-40B4-BE49-F238E27FC236}">
                <a16:creationId xmlns:a16="http://schemas.microsoft.com/office/drawing/2014/main" id="{A0362F6C-52E8-4BD0-8A6A-DD307E8ECB41}"/>
              </a:ext>
            </a:extLst>
          </p:cNvPr>
          <p:cNvSpPr>
            <a:spLocks noGrp="1"/>
          </p:cNvSpPr>
          <p:nvPr/>
        </p:nvSpPr>
        <p:spPr>
          <a:xfrm>
            <a:off x="7283577" y="3143250"/>
            <a:ext cx="3701796" cy="285750"/>
          </a:xfrm>
          <a:prstGeom prst="rect">
            <a:avLst/>
          </a:prstGeom>
          <a:noFill/>
          <a:ln w="0">
            <a:noFill/>
          </a:ln>
        </p:spPr>
        <p:txBody>
          <a:bodyPr wrap="square" lIns="0" tIns="0" rIns="0" bIns="0" anchor="t">
            <a:noAutofit/>
          </a:bodyPr>
          <a:lstStyle/>
          <a:p>
            <a:pPr algn="l">
              <a:buNone/>
              <a:defRPr sz="1425" b="0">
                <a:solidFill>
                  <a:srgbClr val="D1B58A"/>
                </a:solidFill>
                <a:latin typeface="Arial"/>
                <a:ea typeface="Arial"/>
                <a:cs typeface="Arial"/>
              </a:defRPr>
            </a:pPr>
            <a:r>
              <a:rPr sz="1425" dirty="0">
                <a:solidFill>
                  <a:srgbClr val="D1B58A"/>
                </a:solidFill>
                <a:latin typeface="Arial"/>
                <a:ea typeface="Arial"/>
                <a:cs typeface="Arial"/>
                <a:hlinkClick r:id="rId3"/>
              </a:rPr>
              <a:t>https://roller-app-gamma.vercel.app/catalogo</a:t>
            </a:r>
          </a:p>
        </p:txBody>
      </p:sp>
      <p:sp>
        <p:nvSpPr>
          <p:cNvPr id="13" name="Número de diapositiva">
            <a:extLst>
              <a:ext uri="{FF2B5EF4-FFF2-40B4-BE49-F238E27FC236}">
                <a16:creationId xmlns:a16="http://schemas.microsoft.com/office/drawing/2014/main" id="{C7DA8F08-7A76-4780-B05B-F205E077D25C}"/>
              </a:ext>
            </a:extLst>
          </p:cNvPr>
          <p:cNvSpPr>
            <a:spLocks noGrp="1"/>
          </p:cNvSpPr>
          <p:nvPr/>
        </p:nvSpPr>
        <p:spPr>
          <a:xfrm>
            <a:off x="11210925" y="6191250"/>
            <a:ext cx="381000" cy="238125"/>
          </a:xfrm>
          <a:prstGeom prst="rect">
            <a:avLst/>
          </a:prstGeom>
          <a:noFill/>
          <a:ln w="0">
            <a:noFill/>
          </a:ln>
        </p:spPr>
        <p:txBody>
          <a:bodyPr wrap="square" lIns="0" tIns="0" rIns="0" bIns="0" anchor="t">
            <a:noAutofit/>
          </a:bodyPr>
          <a:lstStyle/>
          <a:p>
            <a:pPr algn="l">
              <a:buNone/>
              <a:defRPr sz="1275" b="0">
                <a:solidFill>
                  <a:srgbClr val="B6C1BA"/>
                </a:solidFill>
                <a:latin typeface="Arial"/>
                <a:ea typeface="Arial"/>
                <a:cs typeface="Arial"/>
              </a:defRPr>
            </a:pPr>
            <a:r>
              <a:rPr sz="1275" b="0">
                <a:solidFill>
                  <a:srgbClr val="B6C1BA"/>
                </a:solidFill>
                <a:latin typeface="Arial"/>
                <a:ea typeface="Arial"/>
                <a:cs typeface="Arial"/>
              </a:rPr>
              <a:t>17</a:t>
            </a:r>
          </a:p>
        </p:txBody>
      </p:sp>
    </p:spTree>
    <p:extLst>
      <p:ext uri="{BB962C8B-B14F-4D97-AF65-F5344CB8AC3E}">
        <p14:creationId xmlns:p14="http://schemas.microsoft.com/office/powerpoint/2010/main" val="2488046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85725" dist="28575" dir="5400000">
              <a:srgbClr val="293B35">
                <a:alpha val="7000"/>
              </a:srgbClr>
            </a:outerShdw>
          </a:effectLst>
        </a:effectStyle>
        <a:effectStyle>
          <a:effectLst>
            <a:outerShdw blurRad="114300" dist="38100" dir="5400000">
              <a:srgbClr val="182923">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3320</Words>
  <Application>Microsoft Office PowerPoint</Application>
  <DocSecurity>0</DocSecurity>
  <PresentationFormat>Panorámica</PresentationFormat>
  <Paragraphs>250</Paragraphs>
  <Slides>17</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Aptos</vt:lpstr>
      <vt:lpstr>Arial</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LUCAS ALONSO OLEA CORNEJO</cp:lastModifiedBy>
  <cp:revision>1</cp:revision>
  <dcterms:created xsi:type="dcterms:W3CDTF">2026-10-05T23:21:35Z</dcterms:created>
  <dcterms:modified xsi:type="dcterms:W3CDTF">2026-10-05T23:33:42Z</dcterms:modified>
</cp:coreProperties>
</file>